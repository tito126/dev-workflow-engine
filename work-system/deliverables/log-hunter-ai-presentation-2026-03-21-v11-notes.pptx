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slideLayouts/slideLayout15.xml" ContentType="application/vnd.openxmlformats-officedocument.presentationml.slideLayout+xml"/>
  <Override PartName="/ppt/theme/theme5.xml" ContentType="application/vnd.openxmlformats-officedocument.theme+xml"/>
  <Override PartName="/ppt/slideLayouts/slideLayout16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3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7.xml" ContentType="application/vnd.openxmlformats-officedocument.presentationml.notesSlid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2"/>
    <p:sldMasterId id="2147483662" r:id="rId3"/>
    <p:sldMasterId id="2147483664" r:id="rId4"/>
    <p:sldMasterId id="2147483666" r:id="rId5"/>
    <p:sldMasterId id="2147483668" r:id="rId6"/>
  </p:sldMasterIdLst>
  <p:notesMasterIdLst>
    <p:notesMasterId r:id="rId19"/>
  </p:notesMasterIdLst>
  <p:sldIdLst>
    <p:sldId id="305" r:id="rId7"/>
    <p:sldId id="323" r:id="rId8"/>
    <p:sldId id="306" r:id="rId9"/>
    <p:sldId id="307" r:id="rId10"/>
    <p:sldId id="308" r:id="rId11"/>
    <p:sldId id="309" r:id="rId12"/>
    <p:sldId id="310" r:id="rId13"/>
    <p:sldId id="311" r:id="rId14"/>
    <p:sldId id="320" r:id="rId15"/>
    <p:sldId id="321" r:id="rId16"/>
    <p:sldId id="322" r:id="rId17"/>
    <p:sldId id="312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00" userDrawn="1">
          <p15:clr>
            <a:srgbClr val="747775"/>
          </p15:clr>
        </p15:guide>
        <p15:guide id="2" pos="2942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00"/>
        <p:guide pos="2942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tableStyles" Target="tableStyles.xml"/><Relationship Id="rId10" Type="http://schemas.openxmlformats.org/officeDocument/2006/relationships/slide" Target="slides/slide4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20.03.2026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大家好，我是第别，今天由我代表日志猎人团队做这次汇报。接下来我会用大约 15 分钟，向大家介绍我们在日志巡检和分析方向上的一些实践与思考。</a:t>
            </a: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先介绍一下团队情况。
我本人，也就是姚云，主要负责整个项目的统筹、方案设计、能力实现、联调验证以及本次答辩材料整理。
徐晓飞、李荣军、郭兴尚、黄钢几位老师，更多从业务指导、方案评审、场景梳理、落地推进和应用优化等方面给了持续支持。
另外，运维部也提供了关键协同支持，主要包括连接能力和日志文件下载能力，这为项目联调和落地验证提供了必要条件。</a:t>
            </a: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下面我正式开始介绍这个项目。</a:t>
            </a: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做日志猎人的出发点，并不是单纯想做一个查日志的小工具，而是希望解决一个更实际的问题：系统运行中的很多问题发现仍偏事后响应，很多时候要等到用户反馈、接口报错或者现场排查时，团队才被动介入。</a:t>
            </a: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所以我们希望把日志从一种事后排障材料，逐步变成主动发现问题、支撑持续优化和治理闭环的抓手。接下来我会从项目背景、技术思路、成果价值和后续规划四个部分展开。</a:t>
            </a: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这一页我想先把项目背景和目标讲清楚。</a:t>
            </a: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我们在实际工作里观察到，系统运行中的很多问题发现仍偏事后响应。也就是说，日志虽然一直在产生，但很多时候并没有真正转化成可以提前发现风险、持续推动优化的抓手。</a:t>
            </a: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所以我们做这个项目，不只是为了把日志拉出来看，而是希望建立一套可复用的日志巡检能力，把问题发现、问题分析、优化建议和后续验证串起来，真正服务于健壮性提升、性能优化和日志质量改进。</a:t>
            </a: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这一页我不想把重点放在炫技术上，而是想讲清楚我们的整体思路。</a:t>
            </a: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我们把这件事拆成四步：先稳定获取日志，再做结构化分析，再把结果输出成可复盘的内容，最后再把这些结果反过来用于系统优化。</a:t>
            </a: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也就是说，技术路径本身不是最终目的，真正重要的是让日志从原始文本变成可以持续创造价值的输入。无论是 K8s 还是传统服务器，最终都要服务同一个目标，就是让日志不仅能看问题，还能推动问题改进。</a:t>
            </a: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如果说上一页讲的是主线，这一页讲的就是能力边界。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在持续优化这条主线之外，我们也在逐步补齐更完整的智能分析能力。比如，现在已经支持自然语言发起巡检需求，可以降低使用门槛；在传统服务器场景下，也可以扩展到 GC 日志分析，让能力边界从业务异常继续延展到 JVM 运行状态诊断。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另外，通过代表 trace、完整链路和结构化聚合，我们不仅能把结果说明白，也为后续更智能的分析和自动处理预留了空间。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这一页我想重点讲我理解的验证闭环。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我们希望这个项目后续不只是停留在发现问题、提出建议、再次验证，而是进一步做到：基于报告结果，由 AI 辅助生成修复方向、整改建议，甚至帮助形成更可执行的修复方案，然后再回到日志和结果层面验证效果。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如果这个闭环能够逐步建立起来，那日志巡检就不只是一个分析工具，而会变成连接发现、分析、修复和验证的一套工作机制。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这里我做一个阶段性总结。</a:t>
            </a: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到当前阶段，我们已经形成了一套可落地的日志巡检能力；但更重要的是，这个项目推动的其实是一种工作方式的变化，也就是从过去更偏被动排查，逐步走向持续优化和治理闭环。</a:t>
            </a: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后续我们会继续增强健壮性、性能和日志质量分析能力，同时把建议落地后的验证环节补得更完整。</a:t>
            </a: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这一页展示的是报告首页。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我想强调的重点不是界面本身，而是它能够让使用者在很短时间内建立对本次巡检结果的整体判断。比如时间范围、日志量、数据质量、影响级别分布，这些信息都会直接影响后续的异常分析和优化判断。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所以这页的作用，是帮助我们先快速看清整体问题画像。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这一页我建议把它理解成行动层结果页。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报告并不是只停留在统计层面，而是进一步给出异常明细、代表 trace、完整链路线索，以及慢接口分析等更贴近定位和优化的内容。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也就是说，这一页想证明的是：报告结果已经不只是展示材料，而是可以继续拿去做问题定位和后续优化的输入。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最后讲一下未来规划。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后续我们会继续围绕三个方向推进：第一，继续增强健壮性、性能提升和日志质量分析能力；第二，把日志反哺建议和整改动作更紧密地连接起来，逐步建立更清晰的验证闭环；第三，在更多环境和更多日志类型中复制这套能力，并继续拓展包括 GC 日志在内的更多分析场景。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我的汇报就到这里。
感谢各位老师的聆听，下面进入提问环节。大家如果对项目背景、技术方案、落地方式，或者后续规划有兴趣，我都可以继续展开。</a:t>
            </a: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notesSlide" Target="../notesSlides/notesSlide3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slideLayout" Target="../slideLayouts/slideLayout1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19.xml"/><Relationship Id="rId13" Type="http://schemas.openxmlformats.org/officeDocument/2006/relationships/tags" Target="../tags/tag24.xml"/><Relationship Id="rId3" Type="http://schemas.openxmlformats.org/officeDocument/2006/relationships/tags" Target="../tags/tag14.xml"/><Relationship Id="rId7" Type="http://schemas.openxmlformats.org/officeDocument/2006/relationships/tags" Target="../tags/tag18.xml"/><Relationship Id="rId12" Type="http://schemas.openxmlformats.org/officeDocument/2006/relationships/tags" Target="../tags/tag23.xml"/><Relationship Id="rId17" Type="http://schemas.openxmlformats.org/officeDocument/2006/relationships/image" Target="../media/image4.png"/><Relationship Id="rId2" Type="http://schemas.openxmlformats.org/officeDocument/2006/relationships/tags" Target="../tags/tag13.xml"/><Relationship Id="rId16" Type="http://schemas.openxmlformats.org/officeDocument/2006/relationships/image" Target="../media/image3.jpeg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11" Type="http://schemas.openxmlformats.org/officeDocument/2006/relationships/tags" Target="../tags/tag22.xml"/><Relationship Id="rId5" Type="http://schemas.openxmlformats.org/officeDocument/2006/relationships/tags" Target="../tags/tag16.xml"/><Relationship Id="rId15" Type="http://schemas.openxmlformats.org/officeDocument/2006/relationships/notesSlide" Target="../notesSlides/notesSlide4.xml"/><Relationship Id="rId10" Type="http://schemas.openxmlformats.org/officeDocument/2006/relationships/tags" Target="../tags/tag21.xml"/><Relationship Id="rId4" Type="http://schemas.openxmlformats.org/officeDocument/2006/relationships/tags" Target="../tags/tag15.xml"/><Relationship Id="rId9" Type="http://schemas.openxmlformats.org/officeDocument/2006/relationships/tags" Target="../tags/tag20.xml"/><Relationship Id="rId14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32.xml"/><Relationship Id="rId13" Type="http://schemas.openxmlformats.org/officeDocument/2006/relationships/tags" Target="../tags/tag37.xml"/><Relationship Id="rId18" Type="http://schemas.openxmlformats.org/officeDocument/2006/relationships/notesSlide" Target="../notesSlides/notesSlide7.xml"/><Relationship Id="rId26" Type="http://schemas.openxmlformats.org/officeDocument/2006/relationships/image" Target="../media/image18.svg"/><Relationship Id="rId3" Type="http://schemas.openxmlformats.org/officeDocument/2006/relationships/tags" Target="../tags/tag27.xml"/><Relationship Id="rId21" Type="http://schemas.openxmlformats.org/officeDocument/2006/relationships/image" Target="../media/image13.png"/><Relationship Id="rId7" Type="http://schemas.openxmlformats.org/officeDocument/2006/relationships/tags" Target="../tags/tag31.xml"/><Relationship Id="rId12" Type="http://schemas.openxmlformats.org/officeDocument/2006/relationships/tags" Target="../tags/tag36.xml"/><Relationship Id="rId17" Type="http://schemas.openxmlformats.org/officeDocument/2006/relationships/slideLayout" Target="../slideLayouts/slideLayout12.xml"/><Relationship Id="rId25" Type="http://schemas.openxmlformats.org/officeDocument/2006/relationships/image" Target="../media/image17.png"/><Relationship Id="rId2" Type="http://schemas.openxmlformats.org/officeDocument/2006/relationships/tags" Target="../tags/tag26.xml"/><Relationship Id="rId16" Type="http://schemas.openxmlformats.org/officeDocument/2006/relationships/tags" Target="../tags/tag40.xml"/><Relationship Id="rId20" Type="http://schemas.openxmlformats.org/officeDocument/2006/relationships/image" Target="../media/image4.png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11" Type="http://schemas.openxmlformats.org/officeDocument/2006/relationships/tags" Target="../tags/tag35.xml"/><Relationship Id="rId24" Type="http://schemas.openxmlformats.org/officeDocument/2006/relationships/image" Target="../media/image16.svg"/><Relationship Id="rId5" Type="http://schemas.openxmlformats.org/officeDocument/2006/relationships/tags" Target="../tags/tag29.xml"/><Relationship Id="rId15" Type="http://schemas.openxmlformats.org/officeDocument/2006/relationships/tags" Target="../tags/tag39.xml"/><Relationship Id="rId23" Type="http://schemas.openxmlformats.org/officeDocument/2006/relationships/image" Target="../media/image15.png"/><Relationship Id="rId28" Type="http://schemas.openxmlformats.org/officeDocument/2006/relationships/image" Target="../media/image20.svg"/><Relationship Id="rId10" Type="http://schemas.openxmlformats.org/officeDocument/2006/relationships/tags" Target="../tags/tag34.xml"/><Relationship Id="rId19" Type="http://schemas.openxmlformats.org/officeDocument/2006/relationships/image" Target="../media/image3.jpeg"/><Relationship Id="rId4" Type="http://schemas.openxmlformats.org/officeDocument/2006/relationships/tags" Target="../tags/tag28.xml"/><Relationship Id="rId9" Type="http://schemas.openxmlformats.org/officeDocument/2006/relationships/tags" Target="../tags/tag33.xml"/><Relationship Id="rId14" Type="http://schemas.openxmlformats.org/officeDocument/2006/relationships/tags" Target="../tags/tag38.xml"/><Relationship Id="rId22" Type="http://schemas.openxmlformats.org/officeDocument/2006/relationships/image" Target="../media/image14.svg"/><Relationship Id="rId27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48.xml"/><Relationship Id="rId3" Type="http://schemas.openxmlformats.org/officeDocument/2006/relationships/tags" Target="../tags/tag43.xml"/><Relationship Id="rId7" Type="http://schemas.openxmlformats.org/officeDocument/2006/relationships/tags" Target="../tags/tag47.xml"/><Relationship Id="rId12" Type="http://schemas.openxmlformats.org/officeDocument/2006/relationships/image" Target="../media/image3.jpeg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tags" Target="../tags/tag46.xml"/><Relationship Id="rId11" Type="http://schemas.openxmlformats.org/officeDocument/2006/relationships/notesSlide" Target="../notesSlides/notesSlide8.xml"/><Relationship Id="rId5" Type="http://schemas.openxmlformats.org/officeDocument/2006/relationships/tags" Target="../tags/tag45.xml"/><Relationship Id="rId10" Type="http://schemas.openxmlformats.org/officeDocument/2006/relationships/slideLayout" Target="../slideLayouts/slideLayout12.xml"/><Relationship Id="rId4" Type="http://schemas.openxmlformats.org/officeDocument/2006/relationships/tags" Target="../tags/tag44.xml"/><Relationship Id="rId9" Type="http://schemas.openxmlformats.org/officeDocument/2006/relationships/tags" Target="../tags/tag4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1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00100" y="609600"/>
            <a:ext cx="1333500" cy="393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49300" y="2159000"/>
            <a:ext cx="9512300" cy="1917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altLang="zh-CN" sz="5400" b="1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</a:t>
            </a:r>
            <a:r>
              <a:rPr lang="zh-CN" altLang="en-US" sz="5400" b="1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智能运维</a:t>
            </a:r>
            <a:r>
              <a:rPr lang="en-US" altLang="zh-CN" sz="5400" b="1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]
AI</a:t>
            </a:r>
            <a:r>
              <a:rPr lang="zh-CN" altLang="en-US" sz="5400" b="1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技术大赛汇报演示</a:t>
            </a:r>
            <a:endParaRPr lang="en-US" sz="24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800100" y="4559300"/>
            <a:ext cx="54356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zh-CN" altLang="en-US" sz="1400" b="0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队伍名称：日志猎人
汇报人：第别
日期：</a:t>
            </a:r>
            <a:r>
              <a:rPr lang="en-US" altLang="zh-CN" sz="1400" b="0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</a:t>
            </a:r>
            <a:r>
              <a:rPr lang="zh-CN" altLang="en-US" sz="1400" b="0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年</a:t>
            </a:r>
            <a:r>
              <a:rPr lang="en-US" altLang="zh-CN" sz="1400" b="0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</a:t>
            </a:r>
            <a:r>
              <a:rPr lang="zh-CN" altLang="en-US" sz="1400" b="0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731500" y="254000"/>
            <a:ext cx="11176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132715" y="143510"/>
            <a:ext cx="4000500" cy="914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zh-CN" altLang="en-US" sz="32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团队介绍</a:t>
            </a:r>
          </a:p>
        </p:txBody>
      </p:sp>
      <p:sp>
        <p:nvSpPr>
          <p:cNvPr id="22" name="AutoShape 21"/>
          <p:cNvSpPr/>
          <p:nvPr/>
        </p:nvSpPr>
        <p:spPr>
          <a:xfrm>
            <a:off x="202565" y="838200"/>
            <a:ext cx="115824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8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核心成员
姚云（队长）：负责项目统筹、方向把控、核心方案设计、能力实现、联调验证与答辩材料整理
徐晓飞：负责业务指导、方案评审与关键路径支持
李荣军：负责业务把关、场景梳理与推进支持
郭兴尚：负责业务协同、落地建议与推进支持
黄钢：负责业务协同、应用优化与推进支持
协同支持
运维部：提供连接能力，以及日志文件下载能力支持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4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609600" y="393700"/>
            <a:ext cx="7848600" cy="144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8800" b="1" i="0" u="none" strike="noStrike">
                <a:solidFill>
                  <a:srgbClr val="FEFFFF">
                    <a:alpha val="8235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汇报议程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09600" y="1206500"/>
            <a:ext cx="10922000" cy="927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zh-CN" altLang="en-US" sz="3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汇报议程 </a:t>
            </a:r>
            <a:r>
              <a:rPr lang="en-US" altLang="zh-CN" sz="3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 AGENDA </a:t>
            </a:r>
            <a:endParaRPr lang="en-US" sz="1100"/>
          </a:p>
        </p:txBody>
      </p:sp>
      <p:sp>
        <p:nvSpPr>
          <p:cNvPr id="5" name="AutoShape 5"/>
          <p:cNvSpPr/>
          <p:nvPr>
            <p:custDataLst>
              <p:tags r:id="rId1"/>
            </p:custDataLst>
          </p:nvPr>
        </p:nvSpPr>
        <p:spPr>
          <a:xfrm>
            <a:off x="1041400" y="2120900"/>
            <a:ext cx="2349500" cy="3898900"/>
          </a:xfrm>
          <a:prstGeom prst="roundRect">
            <a:avLst>
              <a:gd name="adj" fmla="val 3243"/>
            </a:avLst>
          </a:prstGeom>
          <a:gradFill rotWithShape="1">
            <a:gsLst>
              <a:gs pos="0">
                <a:srgbClr val="875DE6">
                  <a:alpha val="51000"/>
                </a:srgbClr>
              </a:gs>
              <a:gs pos="56999">
                <a:srgbClr val="0654FC">
                  <a:alpha val="34000"/>
                </a:srgbClr>
              </a:gs>
              <a:gs pos="100000">
                <a:srgbClr val="023EBF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25400" cap="flat" cmpd="sng">
            <a:noFill/>
            <a:prstDash val="solid"/>
            <a:round/>
          </a:ln>
          <a:effectLst>
            <a:reflection blurRad="6350" stA="50000" endA="300" endPos="39000" dist="50800" dir="5400000" sy="-100000" algn="bl" rotWithShape="0"/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1993900" y="4038600"/>
            <a:ext cx="1295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6000" b="0" i="1" u="none" strike="noStrike">
                <a:solidFill>
                  <a:srgbClr val="FEFFFF">
                    <a:alpha val="588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3"/>
            </p:custDataLst>
          </p:nvPr>
        </p:nvSpPr>
        <p:spPr>
          <a:xfrm>
            <a:off x="3657600" y="2120900"/>
            <a:ext cx="2349500" cy="3898900"/>
          </a:xfrm>
          <a:prstGeom prst="roundRect">
            <a:avLst>
              <a:gd name="adj" fmla="val 3243"/>
            </a:avLst>
          </a:prstGeom>
          <a:gradFill rotWithShape="1">
            <a:gsLst>
              <a:gs pos="0">
                <a:srgbClr val="875DE6">
                  <a:alpha val="51000"/>
                </a:srgbClr>
              </a:gs>
              <a:gs pos="56999">
                <a:srgbClr val="0654FC">
                  <a:alpha val="34000"/>
                </a:srgbClr>
              </a:gs>
              <a:gs pos="100000">
                <a:srgbClr val="023EBF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25400" cap="flat" cmpd="sng">
            <a:noFill/>
            <a:prstDash val="solid"/>
            <a:round/>
          </a:ln>
          <a:effectLst>
            <a:reflection blurRad="6350" stA="50000" endA="300" endPos="39000" dist="50800" dir="5400000" sy="-100000" algn="bl" rotWithShape="0"/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>
            <p:custDataLst>
              <p:tags r:id="rId4"/>
            </p:custDataLst>
          </p:nvPr>
        </p:nvSpPr>
        <p:spPr>
          <a:xfrm>
            <a:off x="4610100" y="4038600"/>
            <a:ext cx="1295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6000" b="0" i="1" u="none" strike="noStrike">
                <a:solidFill>
                  <a:srgbClr val="FEFFFF">
                    <a:alpha val="588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5"/>
            </p:custDataLst>
          </p:nvPr>
        </p:nvSpPr>
        <p:spPr>
          <a:xfrm>
            <a:off x="6261100" y="2120900"/>
            <a:ext cx="2349500" cy="3898900"/>
          </a:xfrm>
          <a:prstGeom prst="roundRect">
            <a:avLst>
              <a:gd name="adj" fmla="val 3243"/>
            </a:avLst>
          </a:prstGeom>
          <a:gradFill rotWithShape="1">
            <a:gsLst>
              <a:gs pos="0">
                <a:srgbClr val="875DE6">
                  <a:alpha val="64000"/>
                </a:srgbClr>
              </a:gs>
              <a:gs pos="56999">
                <a:srgbClr val="0654FC">
                  <a:alpha val="34000"/>
                </a:srgbClr>
              </a:gs>
              <a:gs pos="100000">
                <a:srgbClr val="023EBF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25400" cap="flat" cmpd="sng">
            <a:noFill/>
            <a:prstDash val="solid"/>
            <a:round/>
          </a:ln>
          <a:effectLst>
            <a:reflection blurRad="6350" stA="50000" endA="300" endPos="39000" dist="50800" dir="5400000" sy="-100000" algn="bl" rotWithShape="0"/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>
            <p:custDataLst>
              <p:tags r:id="rId6"/>
            </p:custDataLst>
          </p:nvPr>
        </p:nvSpPr>
        <p:spPr>
          <a:xfrm>
            <a:off x="7213600" y="4038600"/>
            <a:ext cx="1295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6000" b="0" i="1" u="none" strike="noStrike">
                <a:solidFill>
                  <a:srgbClr val="FEFFFF">
                    <a:alpha val="588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7"/>
            </p:custDataLst>
          </p:nvPr>
        </p:nvSpPr>
        <p:spPr>
          <a:xfrm>
            <a:off x="8864600" y="2120900"/>
            <a:ext cx="2349500" cy="3898900"/>
          </a:xfrm>
          <a:prstGeom prst="roundRect">
            <a:avLst>
              <a:gd name="adj" fmla="val 3243"/>
            </a:avLst>
          </a:prstGeom>
          <a:gradFill rotWithShape="1">
            <a:gsLst>
              <a:gs pos="0">
                <a:srgbClr val="FE5D83">
                  <a:alpha val="47000"/>
                </a:srgbClr>
              </a:gs>
              <a:gs pos="56999">
                <a:srgbClr val="0654FC">
                  <a:alpha val="34000"/>
                </a:srgbClr>
              </a:gs>
              <a:gs pos="100000">
                <a:srgbClr val="023EBF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25400" cap="flat" cmpd="sng">
            <a:noFill/>
            <a:prstDash val="solid"/>
            <a:round/>
          </a:ln>
          <a:effectLst>
            <a:reflection blurRad="6350" stA="50000" endA="300" endPos="39000" dist="50800" dir="5400000" sy="-100000" algn="bl" rotWithShape="0"/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>
            <p:custDataLst>
              <p:tags r:id="rId8"/>
            </p:custDataLst>
          </p:nvPr>
        </p:nvSpPr>
        <p:spPr>
          <a:xfrm>
            <a:off x="9817100" y="4038600"/>
            <a:ext cx="1295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6000" b="0" i="1" u="none" strike="noStrike">
                <a:solidFill>
                  <a:srgbClr val="FEFFFF">
                    <a:alpha val="588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9"/>
            </p:custDataLst>
          </p:nvPr>
        </p:nvSpPr>
        <p:spPr>
          <a:xfrm>
            <a:off x="1003300" y="2425700"/>
            <a:ext cx="2590800" cy="4991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项目背景与目标
为什么要做“日志猎人”，它要解决的核心问题是什么</a:t>
            </a:r>
            <a:endParaRPr lang="en-US" sz="18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3632200" y="2425700"/>
            <a:ext cx="2463800" cy="4673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技术方案与实现
这套日志巡检与分析能力是怎么搭起来的</a:t>
            </a:r>
            <a:endParaRPr lang="en-US" sz="18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10"/>
            </p:custDataLst>
          </p:nvPr>
        </p:nvSpPr>
        <p:spPr>
          <a:xfrm>
            <a:off x="6248400" y="2425700"/>
            <a:ext cx="2489200" cy="3594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成果展示与应用价值
现在已经做成了什么，能为实际工作带来什么价值</a:t>
            </a:r>
            <a:endParaRPr lang="en-US" sz="18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>
            <p:custDataLst>
              <p:tags r:id="rId11"/>
            </p:custDataLst>
          </p:nvPr>
        </p:nvSpPr>
        <p:spPr>
          <a:xfrm>
            <a:off x="8890000" y="2425700"/>
            <a:ext cx="2374900" cy="3911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总结与展望
这一阶段的收获是什么，后续如何走向治理闭环</a:t>
            </a:r>
            <a:endParaRPr lang="en-US" sz="18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ns2:embed="rId16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54000" y="254000"/>
            <a:ext cx="63500" cy="3302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0654FC">
                  <a:alpha val="100000"/>
                </a:srgbClr>
              </a:gs>
              <a:gs pos="100000">
                <a:srgbClr val="875DE6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ns2:embed="rId17"/>
          <a:srcRect/>
          <a:stretch>
            <a:fillRect/>
          </a:stretch>
        </p:blipFill>
        <p:spPr>
          <a:xfrm>
            <a:off x="10731500" y="254000"/>
            <a:ext cx="11176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342900" y="38100"/>
            <a:ext cx="4000500" cy="914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altLang="zh-CN" sz="3200" b="0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项目背景与目标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991610" y="254000"/>
            <a:ext cx="996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zh-CN" altLang="en-US" sz="20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从事后响应，走向更主动的日志巡检</a:t>
            </a:r>
            <a:endParaRPr lang="en-US" sz="1100"/>
          </a:p>
        </p:txBody>
      </p:sp>
      <p:sp>
        <p:nvSpPr>
          <p:cNvPr id="7" name="Freeform 7"/>
          <p:cNvSpPr/>
          <p:nvPr>
            <p:custDataLst>
              <p:tags ns2:id="rId1"/>
            </p:custDataLst>
          </p:nvPr>
        </p:nvSpPr>
        <p:spPr>
          <a:xfrm>
            <a:off x="283210" y="3454400"/>
            <a:ext cx="4752340" cy="1264285"/>
          </a:xfrm>
          <a:custGeom>
            <a:avLst/>
            <a:gdLst/>
            <a:ahLst/>
            <a:cxnLst/>
            <a:rect l="l" t="t" r="r" b="b"/>
            <a:pathLst>
              <a:path w="4752340" h="1264285">
                <a:moveTo>
                  <a:pt x="0" y="0"/>
                </a:moveTo>
                <a:lnTo>
                  <a:pt x="4551338" y="0"/>
                </a:lnTo>
                <a:cubicBezTo>
                  <a:pt x="4608031" y="213158"/>
                  <a:pt x="4695647" y="426190"/>
                  <a:pt x="4752340" y="639348"/>
                </a:cubicBezTo>
                <a:cubicBezTo>
                  <a:pt x="4695647" y="847703"/>
                  <a:pt x="4608031" y="1055931"/>
                  <a:pt x="4551338" y="1264285"/>
                </a:cubicBezTo>
                <a:lnTo>
                  <a:pt x="0" y="1264285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1000">
                <a:srgbClr val="02297F">
                  <a:alpha val="0"/>
                </a:srgbClr>
              </a:gs>
              <a:gs pos="100000">
                <a:srgbClr val="0654FC">
                  <a:alpha val="45000"/>
                </a:srgbClr>
              </a:gs>
            </a:gsLst>
            <a:lin ang="0"/>
          </a:gradFill>
          <a:ln w="12700" cap="flat" cmpd="sng">
            <a:gradFill rotWithShape="0">
              <a:gsLst>
                <a:gs pos="0">
                  <a:srgbClr val="0654FC">
                    <a:alpha val="0"/>
                  </a:srgbClr>
                </a:gs>
                <a:gs pos="59000">
                  <a:srgbClr val="0654FC">
                    <a:alpha val="100000"/>
                  </a:srgbClr>
                </a:gs>
                <a:gs pos="98000">
                  <a:srgbClr val="0654FC">
                    <a:alpha val="0"/>
                  </a:srgbClr>
                </a:gs>
              </a:gsLst>
              <a:lin ang="0"/>
            </a:gra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>
            <p:custDataLst>
              <p:tags ns2:id="rId2"/>
            </p:custDataLst>
          </p:nvPr>
        </p:nvSpPr>
        <p:spPr>
          <a:xfrm>
            <a:off x="979805" y="1873885"/>
            <a:ext cx="1803400" cy="1117600"/>
          </a:xfrm>
          <a:prstGeom prst="roundRect">
            <a:avLst>
              <a:gd name="adj" fmla="val 5681"/>
            </a:avLst>
          </a:prstGeom>
          <a:gradFill rotWithShape="0">
            <a:gsLst>
              <a:gs pos="0">
                <a:srgbClr val="0654FC">
                  <a:alpha val="36000"/>
                </a:srgbClr>
              </a:gs>
              <a:gs pos="100000">
                <a:srgbClr val="0654FC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>
            <p:custDataLst>
              <p:tags ns2:id="rId3"/>
            </p:custDataLst>
          </p:nvPr>
        </p:nvSpPr>
        <p:spPr>
          <a:xfrm>
            <a:off x="979805" y="1950085"/>
            <a:ext cx="1803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400" b="1" i="0" u="none" strike="noStrike">
                <a:solidFill>
                  <a:srgbClr val="FE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痛点背景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ns2:id="rId4"/>
            </p:custDataLst>
          </p:nvPr>
        </p:nvSpPr>
        <p:spPr>
          <a:xfrm>
            <a:off x="1056005" y="2267585"/>
            <a:ext cx="165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100" b="0" i="0" u="none" strike="noStrike">
                <a:solidFill>
                  <a:srgbClr val="6A98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系统运行中的很多问题发现仍偏事后响应，往往要到用户反馈、接口报错或现场排查时才被动介入。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ns2:id="rId5"/>
            </p:custDataLst>
          </p:nvPr>
        </p:nvSpPr>
        <p:spPr>
          <a:xfrm>
            <a:off x="5589270" y="1873250"/>
            <a:ext cx="1803400" cy="1117600"/>
          </a:xfrm>
          <a:prstGeom prst="roundRect">
            <a:avLst>
              <a:gd name="adj" fmla="val 5681"/>
            </a:avLst>
          </a:prstGeom>
          <a:gradFill rotWithShape="0">
            <a:gsLst>
              <a:gs pos="0">
                <a:srgbClr val="FF833B">
                  <a:alpha val="43000"/>
                </a:srgbClr>
              </a:gs>
              <a:gs pos="100000">
                <a:srgbClr val="FF833B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>
            <p:custDataLst>
              <p:tags ns2:id="rId6"/>
            </p:custDataLst>
          </p:nvPr>
        </p:nvSpPr>
        <p:spPr>
          <a:xfrm>
            <a:off x="5589270" y="1936750"/>
            <a:ext cx="1803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400" b="1" i="0" u="none" strike="noStrike">
                <a:solidFill>
                  <a:srgbClr val="FE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项目判断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ns2:id="rId7"/>
            </p:custDataLst>
          </p:nvPr>
        </p:nvSpPr>
        <p:spPr>
          <a:xfrm>
            <a:off x="5665470" y="2254250"/>
            <a:ext cx="165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100" b="0" i="0" u="none" strike="noStrike">
                <a:solidFill>
                  <a:srgbClr val="FFE6D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日志虽然很多，但多数时候还停留在“可查看”层面，没有稳定转化为异常定位、性能优化和系统改进的抓手。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ns2:id="rId8"/>
            </p:custDataLst>
          </p:nvPr>
        </p:nvSpPr>
        <p:spPr>
          <a:xfrm>
            <a:off x="2527300" y="5181600"/>
            <a:ext cx="1803400" cy="1117600"/>
          </a:xfrm>
          <a:prstGeom prst="roundRect">
            <a:avLst>
              <a:gd name="adj" fmla="val 5681"/>
            </a:avLst>
          </a:prstGeom>
          <a:gradFill rotWithShape="0">
            <a:gsLst>
              <a:gs pos="0">
                <a:srgbClr val="0654FC">
                  <a:alpha val="36000"/>
                </a:srgbClr>
              </a:gs>
              <a:gs pos="100000">
                <a:srgbClr val="0654FC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>
            <p:custDataLst>
              <p:tags ns2:id="rId9"/>
            </p:custDataLst>
          </p:nvPr>
        </p:nvSpPr>
        <p:spPr>
          <a:xfrm>
            <a:off x="2527300" y="5257800"/>
            <a:ext cx="1803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400" b="1" i="0" u="none" strike="noStrike">
                <a:solidFill>
                  <a:srgbClr val="FE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项目目标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ns2:id="rId10"/>
            </p:custDataLst>
          </p:nvPr>
        </p:nvSpPr>
        <p:spPr>
          <a:xfrm>
            <a:off x="2603500" y="5575300"/>
            <a:ext cx="165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100" b="0" i="0" u="none" strike="noStrike">
                <a:solidFill>
                  <a:srgbClr val="6A98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建立一套可复用的日志巡检能力，把问题发现、问题分析、优化建议和后续验证串成闭环。</a:t>
            </a:r>
            <a:endParaRPr lang="en-US" sz="1100"/>
          </a:p>
        </p:txBody>
      </p:sp>
      <p:sp>
        <p:nvSpPr>
          <p:cNvPr id="17" name="AutoShape 17"/>
          <p:cNvSpPr/>
          <p:nvPr>
            <p:custDataLst>
              <p:tags ns2:id="rId11"/>
            </p:custDataLst>
          </p:nvPr>
        </p:nvSpPr>
        <p:spPr>
          <a:xfrm>
            <a:off x="7653020" y="5181600"/>
            <a:ext cx="1803400" cy="1117600"/>
          </a:xfrm>
          <a:prstGeom prst="roundRect">
            <a:avLst>
              <a:gd name="adj" fmla="val 5681"/>
            </a:avLst>
          </a:prstGeom>
          <a:gradFill rotWithShape="0">
            <a:gsLst>
              <a:gs pos="0">
                <a:srgbClr val="FF833B">
                  <a:alpha val="43000"/>
                </a:srgbClr>
              </a:gs>
              <a:gs pos="100000">
                <a:srgbClr val="FF833B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>
            <p:custDataLst>
              <p:tags ns2:id="rId12"/>
            </p:custDataLst>
          </p:nvPr>
        </p:nvSpPr>
        <p:spPr>
          <a:xfrm>
            <a:off x="7653020" y="5257800"/>
            <a:ext cx="1803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400" b="1" i="0" u="none" strike="noStrike">
                <a:solidFill>
                  <a:srgbClr val="FE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价值导向</a:t>
            </a:r>
            <a:endParaRPr lang="en-US" sz="1100"/>
          </a:p>
        </p:txBody>
      </p:sp>
      <p:sp>
        <p:nvSpPr>
          <p:cNvPr id="19" name="AutoShape 19"/>
          <p:cNvSpPr/>
          <p:nvPr>
            <p:custDataLst>
              <p:tags ns2:id="rId13"/>
            </p:custDataLst>
          </p:nvPr>
        </p:nvSpPr>
        <p:spPr>
          <a:xfrm>
            <a:off x="7729220" y="5575300"/>
            <a:ext cx="165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100" b="0" i="0" u="none" strike="noStrike">
                <a:solidFill>
                  <a:srgbClr val="FFE6D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既支撑当前排障，也服务后续健壮性提升、性能优化、日志质量改进和经验沉淀。</a:t>
            </a:r>
            <a:endParaRPr lang="en-US" sz="1100"/>
          </a:p>
        </p:txBody>
      </p:sp>
      <p:sp>
        <p:nvSpPr>
          <p:cNvPr id="20" name="Freeform 20"/>
          <p:cNvSpPr/>
          <p:nvPr/>
        </p:nvSpPr>
        <p:spPr>
          <a:xfrm rot="5400000">
            <a:off x="7194550" y="520700"/>
            <a:ext cx="2042160" cy="7206615"/>
          </a:xfrm>
          <a:custGeom>
            <a:avLst/>
            <a:gdLst/>
            <a:ahLst/>
            <a:cxnLst/>
            <a:rect l="l" t="t" r="r" b="b"/>
            <a:pathLst>
              <a:path w="2042160" h="7206615">
                <a:moveTo>
                  <a:pt x="0" y="1486306"/>
                </a:moveTo>
                <a:lnTo>
                  <a:pt x="1021080" y="0"/>
                </a:lnTo>
                <a:lnTo>
                  <a:pt x="2042160" y="1486306"/>
                </a:lnTo>
                <a:lnTo>
                  <a:pt x="1610357" y="1486306"/>
                </a:lnTo>
                <a:lnTo>
                  <a:pt x="1610357" y="7206615"/>
                </a:lnTo>
                <a:lnTo>
                  <a:pt x="978306" y="6770607"/>
                </a:lnTo>
                <a:lnTo>
                  <a:pt x="346254" y="7206615"/>
                </a:lnTo>
                <a:lnTo>
                  <a:pt x="346254" y="1486306"/>
                </a:lnTo>
                <a:close/>
              </a:path>
            </a:pathLst>
          </a:custGeom>
          <a:gradFill rotWithShape="0">
            <a:gsLst>
              <a:gs pos="0">
                <a:srgbClr val="FF833B">
                  <a:alpha val="69000"/>
                </a:srgbClr>
              </a:gs>
              <a:gs pos="98000">
                <a:srgbClr val="EC5700">
                  <a:alpha val="14000"/>
                </a:srgbClr>
              </a:gs>
            </a:gsLst>
            <a:lin ang="5400000"/>
          </a:gradFill>
          <a:ln w="12700" cap="flat" cmpd="sng">
            <a:gradFill rotWithShape="0">
              <a:gsLst>
                <a:gs pos="0">
                  <a:srgbClr val="EC5700">
                    <a:alpha val="0"/>
                  </a:srgbClr>
                </a:gs>
                <a:gs pos="98000">
                  <a:srgbClr val="FF833B">
                    <a:alpha val="100000"/>
                  </a:srgbClr>
                </a:gs>
              </a:gsLst>
              <a:lin ang="16200000"/>
            </a:gra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292100" y="838200"/>
            <a:ext cx="115824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8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这个项目关注的不是单次排查效率，而是把日志从被动排查材料，逐步变成支撑持续优化和验证闭环的工程能力。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ns2="http://schemas.openxmlformats.org/officeDocument/2006/relationships" xmlns:ns3="http://schemas.microsoft.com/office/drawing/2010/main" xmlns:ns4="http://schemas.microsoft.com/office/drawing/2016/SVG/main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ns2:embed="rId3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54000" y="254000"/>
            <a:ext cx="63500" cy="3302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0654FC">
                  <a:alpha val="100000"/>
                </a:srgbClr>
              </a:gs>
              <a:gs pos="100000">
                <a:srgbClr val="875DE6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ns2:embed="rId4"/>
          <a:srcRect/>
          <a:stretch>
            <a:fillRect/>
          </a:stretch>
        </p:blipFill>
        <p:spPr>
          <a:xfrm>
            <a:off x="10731500" y="254000"/>
            <a:ext cx="11176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342900" y="241300"/>
            <a:ext cx="29083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altLang="zh-CN" sz="2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技术思路与实现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08000" y="698500"/>
            <a:ext cx="10769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8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先把日志用起来，再把日志用得更好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47700" y="1498600"/>
            <a:ext cx="5334000" cy="2120900"/>
          </a:xfrm>
          <a:prstGeom prst="roundRect">
            <a:avLst>
              <a:gd name="adj" fmla="val 8383"/>
            </a:avLst>
          </a:prstGeom>
          <a:gradFill rotWithShape="1">
            <a:gsLst>
              <a:gs pos="0">
                <a:srgbClr val="0654FC">
                  <a:alpha val="21000"/>
                </a:srgbClr>
              </a:gs>
              <a:gs pos="96000">
                <a:srgbClr val="0654FC">
                  <a:alpha val="0"/>
                </a:srgbClr>
              </a:gs>
            </a:gsLst>
            <a:path path="circle">
              <a:fillToRect t="100000" r="100000"/>
            </a:path>
            <a:tileRect l="-100000" b="-100000"/>
          </a:gradFill>
          <a:ln w="12700" cap="flat" cmpd="sng">
            <a:gradFill rotWithShape="0">
              <a:gsLst>
                <a:gs pos="0">
                  <a:srgbClr val="0654FC">
                    <a:alpha val="65000"/>
                  </a:srgbClr>
                </a:gs>
                <a:gs pos="99000">
                  <a:srgbClr val="022F8F">
                    <a:alpha val="0"/>
                  </a:srgbClr>
                </a:gs>
              </a:gsLst>
              <a:lin ang="0"/>
            </a:gradFill>
            <a:prstDash val="solid"/>
            <a:miter lim="10000000"/>
          </a:ln>
          <a:effectLst>
            <a:outerShdw blurRad="254000" dist="127000" dir="5400000" sx="99000" sy="99000" algn="ctr" rotWithShape="0">
              <a:srgbClr val="02297F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876300" y="2006600"/>
            <a:ext cx="901700" cy="901700"/>
          </a:xfrm>
          <a:prstGeom prst="ellipse">
            <a:avLst/>
          </a:prstGeom>
          <a:solidFill>
            <a:srgbClr val="0654FC">
              <a:alpha val="2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977900" y="2095500"/>
            <a:ext cx="711200" cy="711200"/>
          </a:xfrm>
          <a:prstGeom prst="ellipse">
            <a:avLst/>
          </a:prstGeom>
          <a:gradFill rotWithShape="1">
            <a:gsLst>
              <a:gs pos="0">
                <a:srgbClr val="023EBF">
                  <a:alpha val="100000"/>
                </a:srgbClr>
              </a:gs>
              <a:gs pos="51000">
                <a:srgbClr val="0654FC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50800" dist="50800" dir="5400000" algn="ctr" rotWithShape="0">
              <a:srgbClr val="0654FC">
                <a:alpha val="1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ns2:embed="rId5">
            <a:extLst>
              <a:ext uri="{28A0092B-C50C-407E-A947-70E740481C1C}">
                <ns3:useLocalDpi val="0"/>
              </a:ext>
              <a:ext uri="{96DAC541-7B7A-43D3-8B79-37D633B846F1}">
                <ns4:svgBlip ns2:embed="rId6"/>
              </a:ext>
            </a:extLst>
          </a:blip>
          <a:stretch>
            <a:fillRect/>
          </a:stretch>
        </p:blipFill>
        <p:spPr>
          <a:xfrm>
            <a:off x="1130300" y="22479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816100" y="1778000"/>
            <a:ext cx="3937000" cy="419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稳定获取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790700" y="2184400"/>
            <a:ext cx="3937000" cy="876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兼容 K8s 和传统服务器两类环境，先保证不同现场都能稳定拿到可分析的日志。</a:t>
            </a:r>
            <a:endParaRPr lang="en-US" sz="12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159500" y="1498600"/>
            <a:ext cx="5334000" cy="2120900"/>
          </a:xfrm>
          <a:prstGeom prst="roundRect">
            <a:avLst>
              <a:gd name="adj" fmla="val 8383"/>
            </a:avLst>
          </a:prstGeom>
          <a:gradFill rotWithShape="1">
            <a:gsLst>
              <a:gs pos="0">
                <a:srgbClr val="0654FC">
                  <a:alpha val="21000"/>
                </a:srgbClr>
              </a:gs>
              <a:gs pos="96000">
                <a:srgbClr val="0654FC">
                  <a:alpha val="0"/>
                </a:srgbClr>
              </a:gs>
            </a:gsLst>
            <a:path path="circle">
              <a:fillToRect t="100000" r="100000"/>
            </a:path>
            <a:tileRect l="-100000" b="-100000"/>
          </a:gradFill>
          <a:ln w="12700" cap="flat" cmpd="sng">
            <a:gradFill rotWithShape="0">
              <a:gsLst>
                <a:gs pos="0">
                  <a:srgbClr val="0654FC">
                    <a:alpha val="65000"/>
                  </a:srgbClr>
                </a:gs>
                <a:gs pos="99000">
                  <a:srgbClr val="022F8F">
                    <a:alpha val="0"/>
                  </a:srgbClr>
                </a:gs>
              </a:gsLst>
              <a:lin ang="0"/>
            </a:gradFill>
            <a:prstDash val="solid"/>
            <a:miter lim="10000000"/>
          </a:ln>
          <a:effectLst>
            <a:outerShdw blurRad="254000" dist="127000" dir="5400000" sx="99000" sy="99000" algn="ctr" rotWithShape="0">
              <a:srgbClr val="02297F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400800" y="2006600"/>
            <a:ext cx="901700" cy="901700"/>
          </a:xfrm>
          <a:prstGeom prst="ellipse">
            <a:avLst/>
          </a:prstGeom>
          <a:solidFill>
            <a:srgbClr val="0654FC">
              <a:alpha val="2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489700" y="2095500"/>
            <a:ext cx="711200" cy="711200"/>
          </a:xfrm>
          <a:prstGeom prst="ellipse">
            <a:avLst/>
          </a:prstGeom>
          <a:gradFill rotWithShape="1">
            <a:gsLst>
              <a:gs pos="0">
                <a:srgbClr val="023EBF">
                  <a:alpha val="100000"/>
                </a:srgbClr>
              </a:gs>
              <a:gs pos="51000">
                <a:srgbClr val="0654FC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50800" dist="50800" dir="5400000" algn="ctr" rotWithShape="0">
              <a:srgbClr val="0654FC">
                <a:alpha val="1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ns2:embed="rId7">
            <a:extLst>
              <a:ext uri="{28A0092B-C50C-407E-A947-70E740481C1C}">
                <ns3:useLocalDpi val="0"/>
              </a:ext>
              <a:ext uri="{96DAC541-7B7A-43D3-8B79-37D633B846F1}">
                <ns4:svgBlip ns2:embed="rId8"/>
              </a:ext>
            </a:extLst>
          </a:blip>
          <a:stretch>
            <a:fillRect/>
          </a:stretch>
        </p:blipFill>
        <p:spPr>
          <a:xfrm>
            <a:off x="6642100" y="22479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327900" y="1778000"/>
            <a:ext cx="3937000" cy="419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结构化分析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327900" y="2209800"/>
            <a:ext cx="3937000" cy="876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围绕异常、慢接口、代表 trace 和日志质量问题做分析，让日志从“原始文本”变成“问题画像”。</a:t>
            </a:r>
            <a:endParaRPr lang="en-US" sz="12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60400" y="3860800"/>
            <a:ext cx="5334000" cy="2120900"/>
          </a:xfrm>
          <a:prstGeom prst="roundRect">
            <a:avLst>
              <a:gd name="adj" fmla="val 8383"/>
            </a:avLst>
          </a:prstGeom>
          <a:gradFill rotWithShape="1">
            <a:gsLst>
              <a:gs pos="0">
                <a:srgbClr val="0654FC">
                  <a:alpha val="21000"/>
                </a:srgbClr>
              </a:gs>
              <a:gs pos="96000">
                <a:srgbClr val="0654FC">
                  <a:alpha val="0"/>
                </a:srgbClr>
              </a:gs>
            </a:gsLst>
            <a:path path="circle">
              <a:fillToRect t="100000" r="100000"/>
            </a:path>
            <a:tileRect l="-100000" b="-100000"/>
          </a:gradFill>
          <a:ln w="12700" cap="flat" cmpd="sng">
            <a:gradFill rotWithShape="0">
              <a:gsLst>
                <a:gs pos="0">
                  <a:srgbClr val="0654FC">
                    <a:alpha val="65000"/>
                  </a:srgbClr>
                </a:gs>
                <a:gs pos="99000">
                  <a:srgbClr val="022F8F">
                    <a:alpha val="0"/>
                  </a:srgbClr>
                </a:gs>
              </a:gsLst>
              <a:lin ang="0"/>
            </a:gradFill>
            <a:prstDash val="solid"/>
            <a:miter lim="10000000"/>
          </a:ln>
          <a:effectLst>
            <a:outerShdw blurRad="254000" dist="127000" dir="5400000" sx="99000" sy="99000" algn="ctr" rotWithShape="0">
              <a:srgbClr val="02297F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889000" y="4368800"/>
            <a:ext cx="901700" cy="901700"/>
          </a:xfrm>
          <a:prstGeom prst="ellipse">
            <a:avLst/>
          </a:prstGeom>
          <a:solidFill>
            <a:srgbClr val="0654FC">
              <a:alpha val="2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990600" y="4457700"/>
            <a:ext cx="711200" cy="711200"/>
          </a:xfrm>
          <a:prstGeom prst="ellipse">
            <a:avLst/>
          </a:prstGeom>
          <a:gradFill rotWithShape="1">
            <a:gsLst>
              <a:gs pos="0">
                <a:srgbClr val="023EBF">
                  <a:alpha val="100000"/>
                </a:srgbClr>
              </a:gs>
              <a:gs pos="51000">
                <a:srgbClr val="0654FC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50800" dist="50800" dir="5400000" algn="ctr" rotWithShape="0">
              <a:srgbClr val="0654FC">
                <a:alpha val="1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ns2:embed="rId9">
            <a:extLst>
              <a:ext uri="{28A0092B-C50C-407E-A947-70E740481C1C}">
                <ns3:useLocalDpi val="0"/>
              </a:ext>
              <a:ext uri="{96DAC541-7B7A-43D3-8B79-37D633B846F1}">
                <ns4:svgBlip ns2:embed="rId10"/>
              </a:ext>
            </a:extLst>
          </a:blip>
          <a:stretch>
            <a:fillRect/>
          </a:stretch>
        </p:blipFill>
        <p:spPr>
          <a:xfrm>
            <a:off x="1143000" y="4610100"/>
            <a:ext cx="406400" cy="4064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1828800" y="4127500"/>
            <a:ext cx="3937000" cy="419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结果输出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1828800" y="4559300"/>
            <a:ext cx="3937000" cy="876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将分析结果沉淀为 HTML 报告，让问题分布、定位线索和反哺建议更便于查看、复盘和沟通。</a:t>
            </a:r>
            <a:endParaRPr lang="en-US" sz="12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6172200" y="3860800"/>
            <a:ext cx="5334000" cy="2120900"/>
          </a:xfrm>
          <a:prstGeom prst="roundRect">
            <a:avLst>
              <a:gd name="adj" fmla="val 8383"/>
            </a:avLst>
          </a:prstGeom>
          <a:gradFill rotWithShape="1">
            <a:gsLst>
              <a:gs pos="0">
                <a:srgbClr val="0654FC">
                  <a:alpha val="21000"/>
                </a:srgbClr>
              </a:gs>
              <a:gs pos="96000">
                <a:srgbClr val="0654FC">
                  <a:alpha val="0"/>
                </a:srgbClr>
              </a:gs>
            </a:gsLst>
            <a:path path="circle">
              <a:fillToRect t="100000" r="100000"/>
            </a:path>
            <a:tileRect l="-100000" b="-100000"/>
          </a:gradFill>
          <a:ln w="12700" cap="flat" cmpd="sng">
            <a:gradFill rotWithShape="0">
              <a:gsLst>
                <a:gs pos="0">
                  <a:srgbClr val="0654FC">
                    <a:alpha val="65000"/>
                  </a:srgbClr>
                </a:gs>
                <a:gs pos="99000">
                  <a:srgbClr val="022F8F">
                    <a:alpha val="0"/>
                  </a:srgbClr>
                </a:gs>
              </a:gsLst>
              <a:lin ang="0"/>
            </a:gradFill>
            <a:prstDash val="solid"/>
            <a:miter lim="10000000"/>
          </a:ln>
          <a:effectLst>
            <a:outerShdw blurRad="254000" dist="127000" dir="5400000" sx="99000" sy="99000" algn="ctr" rotWithShape="0">
              <a:srgbClr val="02297F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6413500" y="4368800"/>
            <a:ext cx="901700" cy="901700"/>
          </a:xfrm>
          <a:prstGeom prst="ellipse">
            <a:avLst/>
          </a:prstGeom>
          <a:solidFill>
            <a:srgbClr val="0654FC">
              <a:alpha val="2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6502400" y="4457700"/>
            <a:ext cx="711200" cy="711200"/>
          </a:xfrm>
          <a:prstGeom prst="ellipse">
            <a:avLst/>
          </a:prstGeom>
          <a:gradFill rotWithShape="1">
            <a:gsLst>
              <a:gs pos="0">
                <a:srgbClr val="023EBF">
                  <a:alpha val="100000"/>
                </a:srgbClr>
              </a:gs>
              <a:gs pos="51000">
                <a:srgbClr val="0654FC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50800" dist="50800" dir="5400000" algn="ctr" rotWithShape="0">
              <a:srgbClr val="0654FC">
                <a:alpha val="1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ns2:embed="rId11">
            <a:extLst>
              <a:ext uri="{28A0092B-C50C-407E-A947-70E740481C1C}">
                <ns3:useLocalDpi val="0"/>
              </a:ext>
              <a:ext uri="{96DAC541-7B7A-43D3-8B79-37D633B846F1}">
                <ns4:svgBlip ns2:embed="rId12"/>
              </a:ext>
            </a:extLst>
          </a:blip>
          <a:stretch>
            <a:fillRect/>
          </a:stretch>
        </p:blipFill>
        <p:spPr>
          <a:xfrm>
            <a:off x="6654800" y="4610100"/>
            <a:ext cx="406400" cy="4064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7340600" y="4140200"/>
            <a:ext cx="3937000" cy="419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持续优化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7340600" y="4699000"/>
            <a:ext cx="3937000" cy="876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项目的重点不只是展示一条技术路径，而是把巡检结果反向用于健壮性、性能和日志规范的持续改进。</a:t>
            </a:r>
            <a:endParaRPr lang="en-US" sz="12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ns2:embed="rId3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54000" y="254000"/>
            <a:ext cx="63500" cy="3302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0654FC">
                  <a:alpha val="100000"/>
                </a:srgbClr>
              </a:gs>
              <a:gs pos="100000">
                <a:srgbClr val="875DE6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ns2:embed="rId4"/>
          <a:srcRect/>
          <a:stretch>
            <a:fillRect/>
          </a:stretch>
        </p:blipFill>
        <p:spPr>
          <a:xfrm>
            <a:off x="10731500" y="254000"/>
            <a:ext cx="11176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342900" y="241300"/>
            <a:ext cx="6172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altLang="zh-CN" sz="2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技术思路与实现 - 能力深化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39700" y="889000"/>
            <a:ext cx="11671300" cy="990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2000" b="0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在持续优化之外，逐步补齐更完整的智能分析能力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47700" y="1943100"/>
            <a:ext cx="3378200" cy="571500"/>
          </a:xfrm>
          <a:prstGeom prst="round2SameRect">
            <a:avLst>
              <a:gd name="adj1" fmla="val 16667"/>
              <a:gd name="adj2" fmla="val 0"/>
            </a:avLst>
          </a:prstGeom>
          <a:gradFill rotWithShape="0">
            <a:gsLst>
              <a:gs pos="0">
                <a:srgbClr val="5351F5">
                  <a:alpha val="100000"/>
                </a:srgbClr>
              </a:gs>
              <a:gs pos="100000">
                <a:srgbClr val="0654FC">
                  <a:alpha val="100000"/>
                </a:srgbClr>
              </a:gs>
            </a:gsLst>
            <a:lin ang="11400000"/>
          </a:gradFill>
          <a:ln w="25400" cap="flat" cmpd="sng">
            <a:noFill/>
            <a:prstDash val="solid"/>
            <a:round/>
          </a:ln>
          <a:effectLst>
            <a:outerShdw blurRad="1041400" dist="76200" dir="3480000" algn="t" rotWithShape="0">
              <a:srgbClr val="0654FC">
                <a:alpha val="47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 rot="10800000">
            <a:off x="660400" y="2501900"/>
            <a:ext cx="3365500" cy="4267200"/>
          </a:xfrm>
          <a:prstGeom prst="round2SameRect">
            <a:avLst>
              <a:gd name="adj1" fmla="val 1775"/>
              <a:gd name="adj2" fmla="val 0"/>
            </a:avLst>
          </a:prstGeom>
          <a:gradFill rotWithShape="0">
            <a:gsLst>
              <a:gs pos="0">
                <a:srgbClr val="5351F5">
                  <a:alpha val="50000"/>
                </a:srgbClr>
              </a:gs>
              <a:gs pos="28000">
                <a:srgbClr val="02297F">
                  <a:alpha val="0"/>
                </a:srgbClr>
              </a:gs>
            </a:gsLst>
            <a:lin ang="15000000"/>
          </a:gradFill>
          <a:ln w="12700" cap="flat" cmpd="sng">
            <a:solidFill>
              <a:srgbClr val="0654FC">
                <a:alpha val="5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977900" y="2095500"/>
            <a:ext cx="27813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持续优化主线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11200" y="2565400"/>
            <a:ext cx="3302000" cy="3644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围绕健壮性、性能提升、日志质量分析增强和日志反哺建议，持续把巡检结果转回系统优化。</a:t>
            </a:r>
            <a:endParaRPr lang="en-US" sz="14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4699000" y="1943100"/>
            <a:ext cx="3162300" cy="571500"/>
          </a:xfrm>
          <a:prstGeom prst="round2SameRect">
            <a:avLst>
              <a:gd name="adj1" fmla="val 16667"/>
              <a:gd name="adj2" fmla="val 0"/>
            </a:avLst>
          </a:prstGeom>
          <a:gradFill rotWithShape="0">
            <a:gsLst>
              <a:gs pos="0">
                <a:srgbClr val="875DE6">
                  <a:alpha val="100000"/>
                </a:srgbClr>
              </a:gs>
              <a:gs pos="100000">
                <a:srgbClr val="5351F5">
                  <a:alpha val="100000"/>
                </a:srgbClr>
              </a:gs>
            </a:gsLst>
            <a:lin ang="11400000"/>
          </a:gradFill>
          <a:ln w="25400" cap="flat" cmpd="sng">
            <a:noFill/>
            <a:prstDash val="solid"/>
            <a:round/>
          </a:ln>
          <a:effectLst>
            <a:outerShdw blurRad="1041400" dist="76200" dir="3480000" algn="t" rotWithShape="0">
              <a:srgbClr val="875DE6">
                <a:alpha val="47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 rot="10800000">
            <a:off x="4699000" y="2489200"/>
            <a:ext cx="3162300" cy="4267200"/>
          </a:xfrm>
          <a:prstGeom prst="round2SameRect">
            <a:avLst>
              <a:gd name="adj1" fmla="val 1775"/>
              <a:gd name="adj2" fmla="val 0"/>
            </a:avLst>
          </a:prstGeom>
          <a:gradFill rotWithShape="0">
            <a:gsLst>
              <a:gs pos="0">
                <a:srgbClr val="5351F5">
                  <a:alpha val="50000"/>
                </a:srgbClr>
              </a:gs>
              <a:gs pos="28000">
                <a:srgbClr val="02297F">
                  <a:alpha val="0"/>
                </a:srgbClr>
              </a:gs>
            </a:gsLst>
            <a:lin ang="15000000"/>
          </a:gradFill>
          <a:ln w="12700" cap="flat" cmpd="sng">
            <a:solidFill>
              <a:srgbClr val="0654FC">
                <a:alpha val="5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4978400" y="2095500"/>
            <a:ext cx="26289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能力补强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686300" y="2654300"/>
            <a:ext cx="3073400" cy="3644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支持自然语言发起巡检需求，并可在传统服务器场景扩展 GC 日志分析，能力边界可从业务异常延展到 JVM 运行状态诊断。</a:t>
            </a:r>
            <a:endParaRPr lang="en-US" sz="14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382000" y="1917700"/>
            <a:ext cx="3289300" cy="558800"/>
          </a:xfrm>
          <a:prstGeom prst="round2SameRect">
            <a:avLst>
              <a:gd name="adj1" fmla="val 16484"/>
              <a:gd name="adj2" fmla="val 0"/>
            </a:avLst>
          </a:prstGeom>
          <a:gradFill rotWithShape="0">
            <a:gsLst>
              <a:gs pos="0">
                <a:srgbClr val="5351F5">
                  <a:alpha val="100000"/>
                </a:srgbClr>
              </a:gs>
              <a:gs pos="100000">
                <a:srgbClr val="0654FC">
                  <a:alpha val="100000"/>
                </a:srgbClr>
              </a:gs>
            </a:gsLst>
            <a:lin ang="11400000"/>
          </a:gradFill>
          <a:ln w="25400" cap="flat" cmpd="sng">
            <a:noFill/>
            <a:prstDash val="solid"/>
            <a:round/>
          </a:ln>
          <a:effectLst>
            <a:outerShdw blurRad="1041400" dist="76200" dir="3480000" algn="t" rotWithShape="0">
              <a:srgbClr val="0654FC">
                <a:alpha val="47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 rot="10800000">
            <a:off x="8382000" y="2476500"/>
            <a:ext cx="3276600" cy="4267200"/>
          </a:xfrm>
          <a:prstGeom prst="round2SameRect">
            <a:avLst>
              <a:gd name="adj1" fmla="val 1774"/>
              <a:gd name="adj2" fmla="val 0"/>
            </a:avLst>
          </a:prstGeom>
          <a:gradFill rotWithShape="0">
            <a:gsLst>
              <a:gs pos="0">
                <a:srgbClr val="5351F5">
                  <a:alpha val="50000"/>
                </a:srgbClr>
              </a:gs>
              <a:gs pos="28000">
                <a:srgbClr val="02297F">
                  <a:alpha val="0"/>
                </a:srgbClr>
              </a:gs>
            </a:gsLst>
            <a:lin ang="15000000"/>
          </a:gradFill>
          <a:ln w="12700" cap="flat" cmpd="sng">
            <a:solidFill>
              <a:srgbClr val="0654FC">
                <a:alpha val="5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521700" y="2082800"/>
            <a:ext cx="29845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适度技术亮点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521700" y="2578100"/>
            <a:ext cx="2857500" cy="3644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通过代表 trace、完整链路和结构化聚合，既保证结果能看懂，也为后续智能分析和自动处理预留空间。</a:t>
            </a:r>
            <a:endParaRPr lang="en-US" sz="14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ns2="http://schemas.openxmlformats.org/officeDocument/2006/relationships" xmlns:ns3="http://schemas.microsoft.com/office/drawing/2010/main" xmlns:ns4="http://schemas.microsoft.com/office/drawing/2016/SVG/main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ns2:embed="rId19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54000" y="254000"/>
            <a:ext cx="63500" cy="3302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0654FC">
                  <a:alpha val="100000"/>
                </a:srgbClr>
              </a:gs>
              <a:gs pos="100000">
                <a:srgbClr val="875DE6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ns2:embed="rId20"/>
          <a:srcRect/>
          <a:stretch>
            <a:fillRect/>
          </a:stretch>
        </p:blipFill>
        <p:spPr>
          <a:xfrm>
            <a:off x="10731500" y="254000"/>
            <a:ext cx="11176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342900" y="2413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altLang="zh-CN" sz="2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验证闭环与应用价值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42900" y="6985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25400" rIns="88900" bIns="25400" rtlCol="0" anchor="ctr" anchorCtr="0"/>
          <a:lstStyle/>
          <a:p>
            <a:pPr indent="0" algn="l">
              <a:lnSpc>
                <a:spcPct val="100000"/>
              </a:lnSpc>
              <a:defRPr/>
            </a:pPr>
            <a:endParaRPr lang="en-US" sz="1100"/>
          </a:p>
        </p:txBody>
      </p:sp>
      <p:sp>
        <p:nvSpPr>
          <p:cNvPr id="7" name="AutoShape 7"/>
          <p:cNvSpPr/>
          <p:nvPr>
            <p:custDataLst>
              <p:tags ns2:id="rId1"/>
            </p:custDataLst>
          </p:nvPr>
        </p:nvSpPr>
        <p:spPr>
          <a:xfrm>
            <a:off x="381000" y="1270000"/>
            <a:ext cx="5461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>
            <p:custDataLst>
              <p:tags ns2:id="rId2"/>
            </p:custDataLst>
          </p:nvPr>
        </p:nvPicPr>
        <p:blipFill>
          <a:blip ns2:embed="rId21">
            <a:extLst>
              <a:ext uri="{28A0092B-C50C-407E-A947-70E740481C1C}">
                <ns3:useLocalDpi val="0"/>
              </a:ext>
              <a:ext uri="{96DAC541-7B7A-43D3-8B79-37D633B846F1}">
                <ns4:svgBlip ns2:embed="rId22"/>
              </a:ext>
            </a:extLst>
          </a:blip>
          <a:stretch>
            <a:fillRect/>
          </a:stretch>
        </p:blipFill>
        <p:spPr>
          <a:xfrm>
            <a:off x="571500" y="14605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>
            <p:custDataLst>
              <p:tags ns2:id="rId3"/>
            </p:custDataLst>
          </p:nvPr>
        </p:nvSpPr>
        <p:spPr>
          <a:xfrm>
            <a:off x="1079500" y="1422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阶段成果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ns2:id="rId4"/>
            </p:custDataLst>
          </p:nvPr>
        </p:nvSpPr>
        <p:spPr>
          <a:xfrm>
            <a:off x="571500" y="1905000"/>
            <a:ext cx="495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zh-CN" altLang="en-US" sz="1400" b="0" i="0" u="none" strike="noStrike">
                <a:solidFill>
                  <a:srgbClr val="DCE6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已形成日志获取、结构化分析、HTML 报告和典型案例沉淀等阶段能力，具备真实场景使用基础。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ns2:id="rId5"/>
            </p:custDataLst>
          </p:nvPr>
        </p:nvSpPr>
        <p:spPr>
          <a:xfrm>
            <a:off x="6350000" y="1270000"/>
            <a:ext cx="5461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ns2:id="rId6"/>
            </p:custDataLst>
          </p:nvPr>
        </p:nvPicPr>
        <p:blipFill>
          <a:blip ns2:embed="rId23">
            <a:extLst>
              <a:ext uri="{28A0092B-C50C-407E-A947-70E740481C1C}">
                <ns3:useLocalDpi val="0"/>
              </a:ext>
              <a:ext uri="{96DAC541-7B7A-43D3-8B79-37D633B846F1}">
                <ns4:svgBlip ns2:embed="rId24"/>
              </a:ext>
            </a:extLst>
          </a:blip>
          <a:stretch>
            <a:fillRect/>
          </a:stretch>
        </p:blipFill>
        <p:spPr>
          <a:xfrm>
            <a:off x="6540500" y="14605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ns2:id="rId7"/>
            </p:custDataLst>
          </p:nvPr>
        </p:nvSpPr>
        <p:spPr>
          <a:xfrm>
            <a:off x="7048500" y="1422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验证闭环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ns2:id="rId8"/>
            </p:custDataLst>
          </p:nvPr>
        </p:nvSpPr>
        <p:spPr>
          <a:xfrm>
            <a:off x="6540500" y="1905000"/>
            <a:ext cx="495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zh-CN" altLang="en-US" sz="1400" b="0" i="0" u="none" strike="noStrike">
                <a:solidFill>
                  <a:srgbClr val="DCE6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后续希望从“发现问题 -&gt; 提出建议 -&gt; AI 辅助修复 -&gt; 再次验证”逐步建立闭环，让巡检结果真正回到系统本身。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ns2:id="rId9"/>
            </p:custDataLst>
          </p:nvPr>
        </p:nvSpPr>
        <p:spPr>
          <a:xfrm>
            <a:off x="381000" y="3746500"/>
            <a:ext cx="5461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>
            <p:custDataLst>
              <p:tags ns2:id="rId10"/>
            </p:custDataLst>
          </p:nvPr>
        </p:nvPicPr>
        <p:blipFill>
          <a:blip ns2:embed="rId25">
            <a:extLst>
              <a:ext uri="{28A0092B-C50C-407E-A947-70E740481C1C}">
                <ns3:useLocalDpi val="0"/>
              </a:ext>
              <a:ext uri="{96DAC541-7B7A-43D3-8B79-37D633B846F1}">
                <ns4:svgBlip ns2:embed="rId26"/>
              </a:ext>
            </a:extLst>
          </a:blip>
          <a:stretch>
            <a:fillRect/>
          </a:stretch>
        </p:blipFill>
        <p:spPr>
          <a:xfrm>
            <a:off x="571500" y="39370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>
            <p:custDataLst>
              <p:tags ns2:id="rId11"/>
            </p:custDataLst>
          </p:nvPr>
        </p:nvSpPr>
        <p:spPr>
          <a:xfrm>
            <a:off x="1079500" y="38989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应用价值</a:t>
            </a:r>
            <a:endParaRPr lang="en-US" sz="1100"/>
          </a:p>
        </p:txBody>
      </p:sp>
      <p:sp>
        <p:nvSpPr>
          <p:cNvPr id="18" name="AutoShape 18"/>
          <p:cNvSpPr/>
          <p:nvPr>
            <p:custDataLst>
              <p:tags ns2:id="rId12"/>
            </p:custDataLst>
          </p:nvPr>
        </p:nvSpPr>
        <p:spPr>
          <a:xfrm>
            <a:off x="571500" y="4381500"/>
            <a:ext cx="495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zh-CN" altLang="en-US" sz="1400" b="0" i="0" u="none" strike="noStrike">
                <a:solidFill>
                  <a:srgbClr val="DCE6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既能服务日常巡检、异常复盘和性能排查，也能支撑汇报展示、经验沉淀和后续推广复用。</a:t>
            </a:r>
            <a:endParaRPr lang="en-US" sz="1100"/>
          </a:p>
        </p:txBody>
      </p:sp>
      <p:sp>
        <p:nvSpPr>
          <p:cNvPr id="19" name="AutoShape 19"/>
          <p:cNvSpPr/>
          <p:nvPr>
            <p:custDataLst>
              <p:tags ns2:id="rId13"/>
            </p:custDataLst>
          </p:nvPr>
        </p:nvSpPr>
        <p:spPr>
          <a:xfrm>
            <a:off x="6350000" y="3746500"/>
            <a:ext cx="5461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>
            <p:custDataLst>
              <p:tags ns2:id="rId14"/>
            </p:custDataLst>
          </p:nvPr>
        </p:nvPicPr>
        <p:blipFill>
          <a:blip ns2:embed="rId27">
            <a:extLst>
              <a:ext uri="{28A0092B-C50C-407E-A947-70E740481C1C}">
                <ns3:useLocalDpi val="0"/>
              </a:ext>
              <a:ext uri="{96DAC541-7B7A-43D3-8B79-37D633B846F1}">
                <ns4:svgBlip ns2:embed="rId28"/>
              </a:ext>
            </a:extLst>
          </a:blip>
          <a:stretch>
            <a:fillRect/>
          </a:stretch>
        </p:blipFill>
        <p:spPr>
          <a:xfrm>
            <a:off x="6540500" y="39370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>
            <p:custDataLst>
              <p:tags ns2:id="rId15"/>
            </p:custDataLst>
          </p:nvPr>
        </p:nvSpPr>
        <p:spPr>
          <a:xfrm>
            <a:off x="7048500" y="38989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发展前景</a:t>
            </a:r>
            <a:endParaRPr lang="en-US" sz="1100"/>
          </a:p>
        </p:txBody>
      </p:sp>
      <p:sp>
        <p:nvSpPr>
          <p:cNvPr id="22" name="AutoShape 22"/>
          <p:cNvSpPr/>
          <p:nvPr>
            <p:custDataLst>
              <p:tags ns2:id="rId16"/>
            </p:custDataLst>
          </p:nvPr>
        </p:nvSpPr>
        <p:spPr>
          <a:xfrm>
            <a:off x="6540500" y="4381500"/>
            <a:ext cx="495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zh-CN" altLang="en-US" sz="1400" b="0" i="0" u="none" strike="noStrike">
                <a:solidFill>
                  <a:srgbClr val="DCE6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后续可继续推广到更多服务、更多医院环境和更多治理场景，逐步形成统一的日志巡检与治理能力底座。</a:t>
            </a:r>
            <a:endParaRPr lang="en-US" sz="1100"/>
          </a:p>
        </p:txBody>
      </p:sp>
      <p:sp>
        <p:nvSpPr>
          <p:cNvPr id="23" name="AutoShape 6"/>
          <p:cNvSpPr/>
          <p:nvPr/>
        </p:nvSpPr>
        <p:spPr>
          <a:xfrm>
            <a:off x="405130" y="698500"/>
            <a:ext cx="10769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800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从发现问题到 AI 辅助修复与验证，逐步形成闭环。</a:t>
            </a:r>
            <a:endParaRPr lang="en-US" sz="1800">
              <a:solidFill>
                <a:srgbClr val="FFFF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ns2:embed="rId12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609600" y="241300"/>
            <a:ext cx="10604500" cy="144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8800" b="1" i="0" u="none" strike="noStrike">
                <a:solidFill>
                  <a:srgbClr val="FEFFFF">
                    <a:alpha val="8235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总结展望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09600" y="368300"/>
            <a:ext cx="10795000" cy="175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altLang="zh-CN" sz="3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总结与展望</a:t>
            </a:r>
            <a:endParaRPr lang="en-US" sz="2400" b="0" i="0" u="none" strike="noStrike">
              <a:solidFill>
                <a:srgbClr val="FEFFFF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50000"/>
              </a:lnSpc>
              <a:defRPr/>
            </a:pPr>
            <a:r>
              <a:rPr lang="en-US" altLang="zh-CN" sz="3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围绕阶段成果、持续优化价值和后续验证闭环做总结</a:t>
            </a:r>
            <a:endParaRPr lang="en-US" sz="2400" b="0" i="0" u="none" strike="noStrike">
              <a:solidFill>
                <a:srgbClr val="FEFFFF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>
            <p:custDataLst>
              <p:tags ns2:id="rId1"/>
            </p:custDataLst>
          </p:nvPr>
        </p:nvSpPr>
        <p:spPr>
          <a:xfrm>
            <a:off x="6909483" y="2120900"/>
            <a:ext cx="2349500" cy="3898900"/>
          </a:xfrm>
          <a:prstGeom prst="roundRect">
            <a:avLst>
              <a:gd name="adj" fmla="val 3243"/>
            </a:avLst>
          </a:prstGeom>
          <a:gradFill rotWithShape="1">
            <a:gsLst>
              <a:gs pos="0">
                <a:srgbClr val="875DE6">
                  <a:alpha val="64000"/>
                </a:srgbClr>
              </a:gs>
              <a:gs pos="56999">
                <a:srgbClr val="0654FC">
                  <a:alpha val="34000"/>
                </a:srgbClr>
              </a:gs>
              <a:gs pos="100000">
                <a:srgbClr val="023EBF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25400" cap="flat" cmpd="sng">
            <a:noFill/>
            <a:prstDash val="solid"/>
            <a:round/>
          </a:ln>
          <a:effectLst>
            <a:reflection blurRad="6350" stA="50000" endA="300" endPos="39000" dist="50800" dir="5400000" sy="-100000" algn="bl" rotWithShape="0"/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>
            <p:custDataLst>
              <p:tags ns2:id="rId2"/>
            </p:custDataLst>
          </p:nvPr>
        </p:nvSpPr>
        <p:spPr>
          <a:xfrm>
            <a:off x="7861983" y="4038600"/>
            <a:ext cx="1295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6000" b="0" i="1" u="none" strike="noStrike">
                <a:solidFill>
                  <a:srgbClr val="FEFFFF">
                    <a:alpha val="588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ns2:id="rId3"/>
            </p:custDataLst>
          </p:nvPr>
        </p:nvSpPr>
        <p:spPr>
          <a:xfrm>
            <a:off x="3969323" y="2120900"/>
            <a:ext cx="2349500" cy="3898900"/>
          </a:xfrm>
          <a:prstGeom prst="roundRect">
            <a:avLst>
              <a:gd name="adj" fmla="val 3243"/>
            </a:avLst>
          </a:prstGeom>
          <a:gradFill rotWithShape="1">
            <a:gsLst>
              <a:gs pos="0">
                <a:srgbClr val="875DE6">
                  <a:alpha val="51000"/>
                </a:srgbClr>
              </a:gs>
              <a:gs pos="56999">
                <a:srgbClr val="0654FC">
                  <a:alpha val="34000"/>
                </a:srgbClr>
              </a:gs>
              <a:gs pos="100000">
                <a:srgbClr val="023EBF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25400" cap="flat" cmpd="sng">
            <a:noFill/>
            <a:prstDash val="solid"/>
            <a:round/>
          </a:ln>
          <a:effectLst>
            <a:reflection blurRad="6350" stA="50000" endA="300" endPos="39000" dist="50800" dir="5400000" sy="-100000" algn="bl" rotWithShape="0"/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>
            <p:custDataLst>
              <p:tags ns2:id="rId4"/>
            </p:custDataLst>
          </p:nvPr>
        </p:nvSpPr>
        <p:spPr>
          <a:xfrm>
            <a:off x="4921823" y="4038600"/>
            <a:ext cx="1295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6000" b="0" i="1" u="none" strike="noStrike">
                <a:solidFill>
                  <a:srgbClr val="FEFFFF">
                    <a:alpha val="588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ns2:id="rId5"/>
            </p:custDataLst>
          </p:nvPr>
        </p:nvSpPr>
        <p:spPr>
          <a:xfrm>
            <a:off x="3918523" y="2425700"/>
            <a:ext cx="2298700" cy="2705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成果收获</a:t>
            </a:r>
            <a:endParaRPr lang="en-US" sz="20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--</a:t>
            </a:r>
            <a:endParaRPr lang="en-US" sz="20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形成可落地的日志巡检能力</a:t>
            </a:r>
            <a:endParaRPr lang="en-US" sz="20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沉淀了问题分析与报告表达方法</a:t>
            </a:r>
            <a:endParaRPr lang="en-US" sz="20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ns2:id="rId6"/>
            </p:custDataLst>
          </p:nvPr>
        </p:nvSpPr>
        <p:spPr>
          <a:xfrm>
            <a:off x="1054100" y="2120900"/>
            <a:ext cx="2349500" cy="3898900"/>
          </a:xfrm>
          <a:prstGeom prst="roundRect">
            <a:avLst>
              <a:gd name="adj" fmla="val 3243"/>
            </a:avLst>
          </a:prstGeom>
          <a:gradFill rotWithShape="1">
            <a:gsLst>
              <a:gs pos="0">
                <a:srgbClr val="875DE6">
                  <a:alpha val="51000"/>
                </a:srgbClr>
              </a:gs>
              <a:gs pos="56999">
                <a:srgbClr val="0654FC">
                  <a:alpha val="34000"/>
                </a:srgbClr>
              </a:gs>
              <a:gs pos="100000">
                <a:srgbClr val="023EBF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25400" cap="flat" cmpd="sng">
            <a:noFill/>
            <a:prstDash val="solid"/>
            <a:round/>
          </a:ln>
          <a:effectLst>
            <a:reflection blurRad="6350" stA="50000" endA="300" endPos="39000" dist="50800" dir="5400000" sy="-100000" algn="bl" rotWithShape="0"/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>
            <p:custDataLst>
              <p:tags ns2:id="rId7"/>
            </p:custDataLst>
          </p:nvPr>
        </p:nvSpPr>
        <p:spPr>
          <a:xfrm>
            <a:off x="2006600" y="4038600"/>
            <a:ext cx="1295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6000" b="0" i="1" u="none" strike="noStrike">
                <a:solidFill>
                  <a:srgbClr val="FEFFFF">
                    <a:alpha val="588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ns2:id="rId8"/>
            </p:custDataLst>
          </p:nvPr>
        </p:nvSpPr>
        <p:spPr>
          <a:xfrm>
            <a:off x="1028700" y="2425700"/>
            <a:ext cx="2311400" cy="2019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阶段总结</a:t>
            </a:r>
            <a:endParaRPr lang="en-US" sz="14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--</a:t>
            </a:r>
            <a:endParaRPr lang="en-US" sz="14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从被动排查走向更主动的巡检思路</a:t>
            </a:r>
            <a:endParaRPr lang="en-US" sz="14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从单次处理走向持续优化意识</a:t>
            </a:r>
            <a:endParaRPr lang="en-US" sz="14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>
            <p:custDataLst>
              <p:tags ns2:id="rId9"/>
            </p:custDataLst>
          </p:nvPr>
        </p:nvSpPr>
        <p:spPr>
          <a:xfrm>
            <a:off x="6896783" y="2425700"/>
            <a:ext cx="2489200" cy="1943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未来规划</a:t>
            </a:r>
            <a:endParaRPr lang="en-US" sz="20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--</a:t>
            </a:r>
            <a:endParaRPr lang="en-US" sz="20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增强健壮性、性能和日志质量分析能力</a:t>
            </a:r>
            <a:endParaRPr lang="en-US" sz="20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继续补齐建议落地后的验证闭环</a:t>
            </a:r>
            <a:endParaRPr lang="en-US" sz="20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8115300" y="0"/>
            <a:ext cx="40767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algn="l">
              <a:defRPr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ns2="http://schemas.openxmlformats.org/officeDocument/2006/relationships" xmlns:ns3="http://schemas.microsoft.com/office/drawing/2014/main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ns2:embed="rId3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54000" y="254000"/>
            <a:ext cx="63500" cy="3302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0654FC">
                  <a:alpha val="100000"/>
                </a:srgbClr>
              </a:gs>
              <a:gs pos="100000">
                <a:srgbClr val="875DE6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ns2:embed="rId4"/>
          <a:srcRect/>
          <a:stretch>
            <a:fillRect/>
          </a:stretch>
        </p:blipFill>
        <p:spPr>
          <a:xfrm>
            <a:off x="10731500" y="254000"/>
            <a:ext cx="11176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342900" y="2413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ctr" anchorCtr="0"/>
          <a:lstStyle/>
          <a:p>
            <a:pPr indent="0" algn="l"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6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成果展示 01</a:t>
            </a:r>
            <a:endParaRPr lang="en-US" sz="260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342900" y="6985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25400" rIns="88900" bIns="254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报告首页先建立整体问题画像，通过时间范围、日志质量和影响级别分布，让使用者快速判断问题规模、数据质量和处理优先级。</a:t>
            </a:r>
          </a:p>
        </p:txBody>
      </p:sp>
      <p:pic>
        <p:nvPicPr>
          <p:cNvPr id="8" name="图片 7">
            <a:extLst>
              <a:ext uri="{FF2B5EF4-FFF2-40B4-BE49-F238E27FC236}">
                <ns3:creationId id="{459BEC07-5589-FA87-4DC7-1DD60601B548}"/>
              </a:ext>
            </a:extLst>
          </p:cNvPr>
          <p:cNvPicPr>
            <a:picLocks/>
          </p:cNvPicPr>
          <p:nvPr/>
        </p:nvPicPr>
        <p:blipFill>
          <a:blip ns2:embed="rId5"/>
          <a:stretch>
            <a:fillRect/>
          </a:stretch>
        </p:blipFill>
        <p:spPr>
          <a:xfrm>
            <a:off x="1143000" y="1905000"/>
            <a:ext cx="9652000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ns2="http://schemas.openxmlformats.org/officeDocument/2006/relationships" xmlns:ns3="http://schemas.microsoft.com/office/drawing/2014/main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ns2:embed="rId3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54000" y="254000"/>
            <a:ext cx="63500" cy="3302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0654FC">
                  <a:alpha val="100000"/>
                </a:srgbClr>
              </a:gs>
              <a:gs pos="100000">
                <a:srgbClr val="875DE6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ns2:embed="rId4"/>
          <a:srcRect/>
          <a:stretch>
            <a:fillRect/>
          </a:stretch>
        </p:blipFill>
        <p:spPr>
          <a:xfrm>
            <a:off x="10731500" y="254000"/>
            <a:ext cx="11176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342900" y="2413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600" b="1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成果展示 02</a:t>
            </a:r>
            <a:endParaRPr lang="en-US" sz="2600" b="1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342900" y="6985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25400" rIns="88900" bIns="254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altLang="zh-CN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这一页重点展示两类可落到行动层面的结果：详细异常分析帮助追到异常链路，慢接口 Trace 详情帮助识别性能瓶颈与优化方向。</a:t>
            </a:r>
          </a:p>
        </p:txBody>
      </p:sp>
      <p:pic>
        <p:nvPicPr>
          <p:cNvPr id="8" name="图片 7">
            <a:extLst>
              <a:ext uri="{FF2B5EF4-FFF2-40B4-BE49-F238E27FC236}">
                <ns3:creationId id="{2DAC7280-4E9A-034E-0266-AA811465ED7B}"/>
              </a:ext>
            </a:extLst>
          </p:cNvPr>
          <p:cNvPicPr>
            <a:picLocks/>
          </p:cNvPicPr>
          <p:nvPr/>
        </p:nvPicPr>
        <p:blipFill>
          <a:blip ns2:embed="rId5"/>
          <a:stretch>
            <a:fillRect/>
          </a:stretch>
        </p:blipFill>
        <p:spPr>
          <a:xfrm>
            <a:off x="762000" y="2159000"/>
            <a:ext cx="4826000" cy="3429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ns3:creationId id="{CFF56297-CCCF-52AF-32D0-4C1E835FE7D1}"/>
              </a:ext>
            </a:extLst>
          </p:cNvPr>
          <p:cNvPicPr>
            <a:picLocks/>
          </p:cNvPicPr>
          <p:nvPr/>
        </p:nvPicPr>
        <p:blipFill>
          <a:blip ns2:embed="rId6"/>
          <a:stretch>
            <a:fillRect/>
          </a:stretch>
        </p:blipFill>
        <p:spPr>
          <a:xfrm>
            <a:off x="6350000" y="2159000"/>
            <a:ext cx="4826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ns2:embed="rId3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54000" y="254000"/>
            <a:ext cx="63500" cy="3302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0654FC">
                  <a:alpha val="100000"/>
                </a:srgbClr>
              </a:gs>
              <a:gs pos="100000">
                <a:srgbClr val="875DE6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ns2:embed="rId4"/>
          <a:srcRect/>
          <a:stretch>
            <a:fillRect/>
          </a:stretch>
        </p:blipFill>
        <p:spPr>
          <a:xfrm>
            <a:off x="10731500" y="254000"/>
            <a:ext cx="11176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342900" y="2413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600" b="1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未来规划</a:t>
            </a:r>
          </a:p>
        </p:txBody>
      </p:sp>
      <p:sp>
        <p:nvSpPr>
          <p:cNvPr id="6" name="AutoShape 6"/>
          <p:cNvSpPr/>
          <p:nvPr/>
        </p:nvSpPr>
        <p:spPr>
          <a:xfrm>
            <a:off x="342900" y="6985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25400" rIns="88900" bIns="254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altLang="zh-CN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围绕健壮性、性能提升和日志质量分析增强继续深化能力。</a:t>
            </a:r>
          </a:p>
          <a:p>
            <a:pPr indent="0" algn="l">
              <a:lnSpc>
                <a:spcPct val="100000"/>
              </a:lnSpc>
              <a:defRPr/>
            </a:pPr>
            <a:r>
              <a:rPr lang="en-US" altLang="zh-CN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将日志反哺建议与问题整改结合起来，逐步建立更清晰的验证闭环。</a:t>
            </a:r>
          </a:p>
          <a:p>
            <a:pPr indent="0" algn="l">
              <a:lnSpc>
                <a:spcPct val="100000"/>
              </a:lnSpc>
              <a:defRPr/>
            </a:pPr>
            <a:r>
              <a:rPr lang="en-US" altLang="zh-CN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在更多医院、更多环境和更多日志类型中复制落地，并继续拓展 GC 日志等场景。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00100" y="609600"/>
            <a:ext cx="1333500" cy="393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571500" y="4025900"/>
            <a:ext cx="11049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571500" y="2400300"/>
            <a:ext cx="11049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sz="7200" b="1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Q&amp;A / </a:t>
            </a:r>
            <a:r>
              <a:rPr lang="zh-CN" altLang="en-US" sz="7200" b="1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感谢聆听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5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6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7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2586</Words>
  <Application>Microsoft Office PowerPoint</Application>
  <PresentationFormat>宽屏</PresentationFormat>
  <Paragraphs>104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Noto Sans SC</vt:lpstr>
      <vt:lpstr>Arial</vt:lpstr>
      <vt:lpstr>Office 主题​​</vt:lpstr>
      <vt:lpstr>默认主题</vt:lpstr>
      <vt:lpstr>5_默认主题</vt:lpstr>
      <vt:lpstr>6_默认主题</vt:lpstr>
      <vt:lpstr>7_默认主题</vt:lpstr>
      <vt:lpstr>1_默认主题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pc</cp:lastModifiedBy>
  <cp:revision>9</cp:revision>
  <dcterms:created xsi:type="dcterms:W3CDTF">2026-03-17T08:53:00Z</dcterms:created>
  <dcterms:modified xsi:type="dcterms:W3CDTF">2026-03-20T12:47:23Z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139F70FDC2A34D38AEE1C6529F4DDE46_13</vt:lpwstr>
  </property>
</Properties>
</file>