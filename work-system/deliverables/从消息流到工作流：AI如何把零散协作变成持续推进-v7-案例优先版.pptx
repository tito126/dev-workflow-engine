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4"/>
  </p:notesMasterIdLst>
  <p:sldIdLst>
    <p:sldId id="256" r:id="rId3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7" Type="http://schemas.openxmlformats.org/officeDocument/2006/relationships/tableStyles" Target="tableStyles.xml"/><Relationship Id="rId16" Type="http://schemas.openxmlformats.org/officeDocument/2006/relationships/viewProps" Target="viewProps.xml"/><Relationship Id="rId15" Type="http://schemas.openxmlformats.org/officeDocument/2006/relationships/presProps" Target="presProps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notesSlide" Target="../notesSlides/notesSlide2.xml"/><Relationship Id="rId7" Type="http://schemas.openxmlformats.org/officeDocument/2006/relationships/slideLayout" Target="../slideLayouts/slideLayout1.xml"/><Relationship Id="rId6" Type="http://schemas.openxmlformats.org/officeDocument/2006/relationships/tags" Target="../tags/tag6.xml"/><Relationship Id="rId5" Type="http://schemas.openxmlformats.org/officeDocument/2006/relationships/tags" Target="../tags/tag5.xml"/><Relationship Id="rId4" Type="http://schemas.openxmlformats.org/officeDocument/2006/relationships/tags" Target="../tags/tag4.xml"/><Relationship Id="rId3" Type="http://schemas.openxmlformats.org/officeDocument/2006/relationships/tags" Target="../tags/tag3.xml"/><Relationship Id="rId2" Type="http://schemas.openxmlformats.org/officeDocument/2006/relationships/tags" Target="../tags/tag2.xml"/><Relationship Id="rId1" Type="http://schemas.openxmlformats.org/officeDocument/2006/relationships/tags" Target="../tags/tag1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notesSlide" Target="../notesSlides/notesSlide3.xml"/><Relationship Id="rId7" Type="http://schemas.openxmlformats.org/officeDocument/2006/relationships/slideLayout" Target="../slideLayouts/slideLayout1.xml"/><Relationship Id="rId6" Type="http://schemas.openxmlformats.org/officeDocument/2006/relationships/tags" Target="../tags/tag12.xml"/><Relationship Id="rId5" Type="http://schemas.openxmlformats.org/officeDocument/2006/relationships/tags" Target="../tags/tag11.xml"/><Relationship Id="rId4" Type="http://schemas.openxmlformats.org/officeDocument/2006/relationships/tags" Target="../tags/tag10.xml"/><Relationship Id="rId3" Type="http://schemas.openxmlformats.org/officeDocument/2006/relationships/tags" Target="../tags/tag9.xml"/><Relationship Id="rId2" Type="http://schemas.openxmlformats.org/officeDocument/2006/relationships/tags" Target="../tags/tag8.xml"/><Relationship Id="rId1" Type="http://schemas.openxmlformats.org/officeDocument/2006/relationships/tags" Target="../tags/tag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9" Type="http://schemas.openxmlformats.org/officeDocument/2006/relationships/tags" Target="../tags/tag21.xml"/><Relationship Id="rId8" Type="http://schemas.openxmlformats.org/officeDocument/2006/relationships/tags" Target="../tags/tag20.xml"/><Relationship Id="rId7" Type="http://schemas.openxmlformats.org/officeDocument/2006/relationships/tags" Target="../tags/tag19.xml"/><Relationship Id="rId6" Type="http://schemas.openxmlformats.org/officeDocument/2006/relationships/tags" Target="../tags/tag18.xml"/><Relationship Id="rId5" Type="http://schemas.openxmlformats.org/officeDocument/2006/relationships/tags" Target="../tags/tag17.xml"/><Relationship Id="rId4" Type="http://schemas.openxmlformats.org/officeDocument/2006/relationships/tags" Target="../tags/tag16.xml"/><Relationship Id="rId3" Type="http://schemas.openxmlformats.org/officeDocument/2006/relationships/tags" Target="../tags/tag15.xml"/><Relationship Id="rId2" Type="http://schemas.openxmlformats.org/officeDocument/2006/relationships/tags" Target="../tags/tag14.xml"/><Relationship Id="rId11" Type="http://schemas.openxmlformats.org/officeDocument/2006/relationships/notesSlide" Target="../notesSlides/notesSlide6.xml"/><Relationship Id="rId10" Type="http://schemas.openxmlformats.org/officeDocument/2006/relationships/slideLayout" Target="../slideLayouts/slideLayout1.xml"/><Relationship Id="rId1" Type="http://schemas.openxmlformats.org/officeDocument/2006/relationships/tags" Target="../tags/tag13.xml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notesSlide" Target="../notesSlides/notesSlide7.xml"/><Relationship Id="rId7" Type="http://schemas.openxmlformats.org/officeDocument/2006/relationships/slideLayout" Target="../slideLayouts/slideLayout1.xml"/><Relationship Id="rId6" Type="http://schemas.openxmlformats.org/officeDocument/2006/relationships/tags" Target="../tags/tag27.xml"/><Relationship Id="rId5" Type="http://schemas.openxmlformats.org/officeDocument/2006/relationships/tags" Target="../tags/tag26.xml"/><Relationship Id="rId4" Type="http://schemas.openxmlformats.org/officeDocument/2006/relationships/tags" Target="../tags/tag25.xml"/><Relationship Id="rId3" Type="http://schemas.openxmlformats.org/officeDocument/2006/relationships/tags" Target="../tags/tag24.xml"/><Relationship Id="rId2" Type="http://schemas.openxmlformats.org/officeDocument/2006/relationships/tags" Target="../tags/tag23.xml"/><Relationship Id="rId1" Type="http://schemas.openxmlformats.org/officeDocument/2006/relationships/tags" Target="../tags/tag22.xml"/></Relationships>
</file>

<file path=ppt/slides/_rels/slide8.xml.rels><?xml version="1.0" encoding="UTF-8" standalone="yes"?>
<Relationships xmlns="http://schemas.openxmlformats.org/package/2006/relationships"><Relationship Id="rId9" Type="http://schemas.openxmlformats.org/officeDocument/2006/relationships/tags" Target="../tags/tag36.xml"/><Relationship Id="rId8" Type="http://schemas.openxmlformats.org/officeDocument/2006/relationships/tags" Target="../tags/tag35.xml"/><Relationship Id="rId7" Type="http://schemas.openxmlformats.org/officeDocument/2006/relationships/tags" Target="../tags/tag34.xml"/><Relationship Id="rId6" Type="http://schemas.openxmlformats.org/officeDocument/2006/relationships/tags" Target="../tags/tag33.xml"/><Relationship Id="rId5" Type="http://schemas.openxmlformats.org/officeDocument/2006/relationships/tags" Target="../tags/tag32.xml"/><Relationship Id="rId4" Type="http://schemas.openxmlformats.org/officeDocument/2006/relationships/tags" Target="../tags/tag31.xml"/><Relationship Id="rId3" Type="http://schemas.openxmlformats.org/officeDocument/2006/relationships/tags" Target="../tags/tag30.xml"/><Relationship Id="rId2" Type="http://schemas.openxmlformats.org/officeDocument/2006/relationships/tags" Target="../tags/tag29.xml"/><Relationship Id="rId11" Type="http://schemas.openxmlformats.org/officeDocument/2006/relationships/notesSlide" Target="../notesSlides/notesSlide8.xml"/><Relationship Id="rId10" Type="http://schemas.openxmlformats.org/officeDocument/2006/relationships/slideLayout" Target="../slideLayouts/slideLayout1.xml"/><Relationship Id="rId1" Type="http://schemas.openxmlformats.org/officeDocument/2006/relationships/tags" Target="../tags/tag28.xml"/></Relationships>
</file>

<file path=ppt/slides/_rels/slide9.xml.rels><?xml version="1.0" encoding="UTF-8" standalone="yes"?>
<Relationships xmlns="http://schemas.openxmlformats.org/package/2006/relationships"><Relationship Id="rId9" Type="http://schemas.openxmlformats.org/officeDocument/2006/relationships/tags" Target="../tags/tag45.xml"/><Relationship Id="rId8" Type="http://schemas.openxmlformats.org/officeDocument/2006/relationships/tags" Target="../tags/tag44.xml"/><Relationship Id="rId7" Type="http://schemas.openxmlformats.org/officeDocument/2006/relationships/tags" Target="../tags/tag43.xml"/><Relationship Id="rId6" Type="http://schemas.openxmlformats.org/officeDocument/2006/relationships/tags" Target="../tags/tag42.xml"/><Relationship Id="rId5" Type="http://schemas.openxmlformats.org/officeDocument/2006/relationships/tags" Target="../tags/tag41.xml"/><Relationship Id="rId4" Type="http://schemas.openxmlformats.org/officeDocument/2006/relationships/tags" Target="../tags/tag40.xml"/><Relationship Id="rId3" Type="http://schemas.openxmlformats.org/officeDocument/2006/relationships/tags" Target="../tags/tag39.xml"/><Relationship Id="rId2" Type="http://schemas.openxmlformats.org/officeDocument/2006/relationships/tags" Target="../tags/tag38.xml"/><Relationship Id="rId11" Type="http://schemas.openxmlformats.org/officeDocument/2006/relationships/notesSlide" Target="../notesSlides/notesSlide9.xml"/><Relationship Id="rId10" Type="http://schemas.openxmlformats.org/officeDocument/2006/relationships/slideLayout" Target="../slideLayouts/slideLayout1.xml"/><Relationship Id="rId1" Type="http://schemas.openxmlformats.org/officeDocument/2006/relationships/tags" Target="../tags/tag3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F2A4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" y="731520"/>
            <a:ext cx="1143000" cy="292608"/>
          </a:xfrm>
          <a:prstGeom prst="roundRect">
            <a:avLst>
              <a:gd name="adj" fmla="val 9375"/>
            </a:avLst>
          </a:prstGeom>
          <a:solidFill>
            <a:srgbClr val="6E8FD8"/>
          </a:solidFill>
          <a:ln w="12700">
            <a:solidFill>
              <a:srgbClr val="6E8FD8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804672" y="795528"/>
            <a:ext cx="987552" cy="10972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REAL PRACTICE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731520" y="1417320"/>
            <a:ext cx="603504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从消息流到工作流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731520" y="2084832"/>
            <a:ext cx="694944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DCE6F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AI 如何把零散协作变成持续推进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749808" y="3017520"/>
            <a:ext cx="64008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i="1" dirty="0">
                <a:solidFill>
                  <a:srgbClr val="D9E3F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重点不是多一个工具，而是把聊天里的推进动作接住。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6400800" y="1325880"/>
            <a:ext cx="0" cy="4526280"/>
          </a:xfrm>
          <a:prstGeom prst="line">
            <a:avLst/>
          </a:prstGeom>
          <a:noFill/>
          <a:ln w="12700">
            <a:solidFill>
              <a:srgbClr val="42557D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812280" y="1828800"/>
            <a:ext cx="237744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这次汇报的主线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6812280" y="2212848"/>
            <a:ext cx="4114800" cy="566928"/>
          </a:xfrm>
          <a:prstGeom prst="rect">
            <a:avLst/>
          </a:prstGeom>
          <a:noFill/>
        </p:spPr>
        <p:txBody>
          <a:bodyPr wrap="square" lIns="127" tIns="127" rIns="127" bIns="127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E3EBF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先讲一个真实案例，再看它如何衍生出一套可复用的协作框架。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6812280" y="3840480"/>
            <a:ext cx="4069080" cy="914400"/>
          </a:xfrm>
          <a:prstGeom prst="rect">
            <a:avLst/>
          </a:prstGeom>
          <a:noFill/>
        </p:spPr>
        <p:txBody>
          <a:bodyPr wrap="square" lIns="127" tIns="127" rIns="127" bIns="127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E3EBF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这次刻意不去堆概念，也不去夸能力。重点只放在三件事：做了什么、已经沉淀了什么、后面准备怎么继续补。</a:t>
            </a:r>
            <a:endParaRPr lang="en-US" sz="15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1F2A44"/>
          </a:solidFill>
          <a:ln w="12700">
            <a:solidFill>
              <a:srgbClr val="1F2A44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164592"/>
            <a:ext cx="3108960" cy="1645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DCE6FB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CASE FIRST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859536"/>
            <a:ext cx="10241280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1E243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先从“日志猎人”这个专项说起</a:t>
            </a:r>
            <a:endParaRPr lang="en-US" sz="2500" dirty="0"/>
          </a:p>
        </p:txBody>
      </p:sp>
      <p:sp>
        <p:nvSpPr>
          <p:cNvPr id="5" name="Shape 3"/>
          <p:cNvSpPr/>
          <p:nvPr/>
        </p:nvSpPr>
        <p:spPr>
          <a:xfrm>
            <a:off x="548640" y="1371600"/>
            <a:ext cx="11018520" cy="0"/>
          </a:xfrm>
          <a:prstGeom prst="line">
            <a:avLst/>
          </a:prstGeom>
          <a:noFill/>
          <a:ln w="12700">
            <a:solidFill>
              <a:srgbClr val="C9D3E1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77240" y="1755648"/>
            <a:ext cx="10652760" cy="1042416"/>
          </a:xfrm>
          <a:prstGeom prst="roundRect">
            <a:avLst>
              <a:gd name="adj" fmla="val 5263"/>
            </a:avLst>
          </a:prstGeom>
          <a:solidFill>
            <a:srgbClr val="EAF1FF"/>
          </a:solidFill>
          <a:ln w="12700">
            <a:solidFill>
              <a:srgbClr val="6E8FD8">
                <a:alpha val="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05840" y="2011680"/>
            <a:ext cx="1005840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i="1" dirty="0">
                <a:solidFill>
                  <a:srgbClr val="1F2A4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它一开始只是想做一个日志巡检工具，后来发现：真正有价值的，是它能把“发现、分析、推动、验证”接成闭环。</a:t>
            </a:r>
            <a:endParaRPr lang="en-US" sz="2200" dirty="0"/>
          </a:p>
        </p:txBody>
      </p:sp>
      <p:sp>
        <p:nvSpPr>
          <p:cNvPr id="8" name="Shape 6"/>
          <p:cNvSpPr/>
          <p:nvPr>
            <p:custDataLst>
              <p:tags r:id="rId1"/>
            </p:custDataLst>
          </p:nvPr>
        </p:nvSpPr>
        <p:spPr>
          <a:xfrm>
            <a:off x="804672" y="3127248"/>
            <a:ext cx="5257800" cy="2560320"/>
          </a:xfrm>
          <a:prstGeom prst="roundRect">
            <a:avLst>
              <a:gd name="adj" fmla="val 1786"/>
            </a:avLst>
          </a:prstGeom>
          <a:solidFill>
            <a:srgbClr val="FFFFFF"/>
          </a:solidFill>
          <a:ln w="12700">
            <a:solidFill>
              <a:srgbClr val="C9D3E1"/>
            </a:solidFill>
            <a:prstDash val="solid"/>
          </a:ln>
        </p:spPr>
      </p:sp>
      <p:sp>
        <p:nvSpPr>
          <p:cNvPr id="9" name="Text 7"/>
          <p:cNvSpPr/>
          <p:nvPr>
            <p:custDataLst>
              <p:tags r:id="rId2"/>
            </p:custDataLst>
          </p:nvPr>
        </p:nvSpPr>
        <p:spPr>
          <a:xfrm>
            <a:off x="1033272" y="3346704"/>
            <a:ext cx="4846320" cy="2194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F2A4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它现在能做什么</a:t>
            </a:r>
            <a:endParaRPr lang="en-US" sz="1800" dirty="0"/>
          </a:p>
        </p:txBody>
      </p:sp>
      <p:sp>
        <p:nvSpPr>
          <p:cNvPr id="10" name="Text 8"/>
          <p:cNvSpPr/>
          <p:nvPr>
            <p:custDataLst>
              <p:tags r:id="rId3"/>
            </p:custDataLst>
          </p:nvPr>
        </p:nvSpPr>
        <p:spPr>
          <a:xfrm>
            <a:off x="1033272" y="3730752"/>
            <a:ext cx="4846320" cy="1773936"/>
          </a:xfrm>
          <a:prstGeom prst="rect">
            <a:avLst/>
          </a:prstGeom>
          <a:noFill/>
        </p:spPr>
        <p:txBody>
          <a:bodyPr wrap="square" lIns="127" tIns="127" rIns="127" bIns="127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1E243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主动从日志中识别异常、慢接口、代表链路，并生成 HTML 报告。</a:t>
            </a:r>
            <a:endParaRPr lang="en-US" sz="1400" dirty="0"/>
          </a:p>
        </p:txBody>
      </p:sp>
      <p:sp>
        <p:nvSpPr>
          <p:cNvPr id="11" name="Shape 9"/>
          <p:cNvSpPr/>
          <p:nvPr>
            <p:custDataLst>
              <p:tags r:id="rId4"/>
            </p:custDataLst>
          </p:nvPr>
        </p:nvSpPr>
        <p:spPr>
          <a:xfrm>
            <a:off x="6199632" y="3127248"/>
            <a:ext cx="4983480" cy="2560320"/>
          </a:xfrm>
          <a:prstGeom prst="roundRect">
            <a:avLst>
              <a:gd name="adj" fmla="val 1786"/>
            </a:avLst>
          </a:prstGeom>
          <a:solidFill>
            <a:srgbClr val="FFFFFF"/>
          </a:solidFill>
          <a:ln w="12700">
            <a:solidFill>
              <a:srgbClr val="C9D3E1"/>
            </a:solidFill>
            <a:prstDash val="solid"/>
          </a:ln>
        </p:spPr>
      </p:sp>
      <p:sp>
        <p:nvSpPr>
          <p:cNvPr id="12" name="Text 10"/>
          <p:cNvSpPr/>
          <p:nvPr>
            <p:custDataLst>
              <p:tags r:id="rId5"/>
            </p:custDataLst>
          </p:nvPr>
        </p:nvSpPr>
        <p:spPr>
          <a:xfrm>
            <a:off x="6428232" y="3346704"/>
            <a:ext cx="4572000" cy="2194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F2A4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它现在最实际的价值</a:t>
            </a:r>
            <a:endParaRPr lang="en-US" sz="1800" dirty="0"/>
          </a:p>
        </p:txBody>
      </p:sp>
      <p:sp>
        <p:nvSpPr>
          <p:cNvPr id="13" name="Text 11"/>
          <p:cNvSpPr/>
          <p:nvPr>
            <p:custDataLst>
              <p:tags r:id="rId6"/>
            </p:custDataLst>
          </p:nvPr>
        </p:nvSpPr>
        <p:spPr>
          <a:xfrm>
            <a:off x="6428232" y="3730752"/>
            <a:ext cx="4572000" cy="1773936"/>
          </a:xfrm>
          <a:prstGeom prst="rect">
            <a:avLst/>
          </a:prstGeom>
          <a:noFill/>
        </p:spPr>
        <p:txBody>
          <a:bodyPr wrap="square" lIns="127" tIns="127" rIns="127" bIns="127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1E243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还不是自动解决问题，而是把问题发现和问题表达做得更稳，让后面的专项更容易接住。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868680" y="5925312"/>
            <a:ext cx="1005840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zh-CN" altLang="en-US" sz="1500" i="1" dirty="0">
                <a:solidFill>
                  <a:srgbClr val="5F6B7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先定义</a:t>
            </a:r>
            <a:r>
              <a:rPr lang="en-US" sz="1500" i="1" dirty="0">
                <a:solidFill>
                  <a:srgbClr val="5F6B7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边界，后面再讲它怎么反哺专项。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11475720" y="6492240"/>
            <a:ext cx="228600" cy="14630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F6B7A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1F2A44"/>
          </a:solidFill>
          <a:ln w="12700">
            <a:solidFill>
              <a:srgbClr val="1F2A44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164592"/>
            <a:ext cx="3108960" cy="1645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DCE6FB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CASE STUDY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859536"/>
            <a:ext cx="10241280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1E243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它怎么反哺专项：以“中江病区护士站节点 down 事件”为例</a:t>
            </a:r>
            <a:endParaRPr lang="en-US" sz="2500" dirty="0"/>
          </a:p>
        </p:txBody>
      </p:sp>
      <p:sp>
        <p:nvSpPr>
          <p:cNvPr id="5" name="Shape 3"/>
          <p:cNvSpPr/>
          <p:nvPr/>
        </p:nvSpPr>
        <p:spPr>
          <a:xfrm>
            <a:off x="548640" y="1371600"/>
            <a:ext cx="11018520" cy="0"/>
          </a:xfrm>
          <a:prstGeom prst="line">
            <a:avLst/>
          </a:prstGeom>
          <a:noFill/>
          <a:ln w="12700">
            <a:solidFill>
              <a:srgbClr val="C9D3E1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77240" y="1755648"/>
            <a:ext cx="10652760" cy="1042416"/>
          </a:xfrm>
          <a:prstGeom prst="roundRect">
            <a:avLst>
              <a:gd name="adj" fmla="val 5263"/>
            </a:avLst>
          </a:prstGeom>
          <a:solidFill>
            <a:srgbClr val="EAF1FF"/>
          </a:solidFill>
          <a:ln w="12700">
            <a:solidFill>
              <a:srgbClr val="6E8FD8">
                <a:alpha val="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05840" y="2011680"/>
            <a:ext cx="1005840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i="1" dirty="0">
                <a:solidFill>
                  <a:srgbClr val="1F2A4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这个事件本来只是被动响应，但通过日志猎人 + Codex，我们拿到了一份可以继续推动整改的分析底稿。</a:t>
            </a:r>
            <a:endParaRPr lang="en-US" sz="2200" dirty="0"/>
          </a:p>
        </p:txBody>
      </p:sp>
      <p:sp>
        <p:nvSpPr>
          <p:cNvPr id="8" name="Shape 6"/>
          <p:cNvSpPr/>
          <p:nvPr>
            <p:custDataLst>
              <p:tags r:id="rId1"/>
            </p:custDataLst>
          </p:nvPr>
        </p:nvSpPr>
        <p:spPr>
          <a:xfrm>
            <a:off x="804545" y="2973070"/>
            <a:ext cx="5257800" cy="2270760"/>
          </a:xfrm>
          <a:prstGeom prst="roundRect">
            <a:avLst>
              <a:gd name="adj" fmla="val 1786"/>
            </a:avLst>
          </a:prstGeom>
          <a:solidFill>
            <a:srgbClr val="FFFFFF"/>
          </a:solidFill>
          <a:ln w="12700">
            <a:solidFill>
              <a:srgbClr val="C9D3E1"/>
            </a:solidFill>
            <a:prstDash val="solid"/>
          </a:ln>
        </p:spPr>
      </p:sp>
      <p:sp>
        <p:nvSpPr>
          <p:cNvPr id="9" name="Text 7"/>
          <p:cNvSpPr/>
          <p:nvPr>
            <p:custDataLst>
              <p:tags r:id="rId2"/>
            </p:custDataLst>
          </p:nvPr>
        </p:nvSpPr>
        <p:spPr>
          <a:xfrm>
            <a:off x="1033272" y="3192399"/>
            <a:ext cx="4846320" cy="2194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F2A4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已经收口到的内容</a:t>
            </a:r>
            <a:endParaRPr lang="en-US" sz="1700" dirty="0"/>
          </a:p>
        </p:txBody>
      </p:sp>
      <p:sp>
        <p:nvSpPr>
          <p:cNvPr id="10" name="Text 8"/>
          <p:cNvSpPr/>
          <p:nvPr>
            <p:custDataLst>
              <p:tags r:id="rId3"/>
            </p:custDataLst>
          </p:nvPr>
        </p:nvSpPr>
        <p:spPr>
          <a:xfrm>
            <a:off x="1033272" y="3576447"/>
            <a:ext cx="4846320" cy="1773936"/>
          </a:xfrm>
          <a:prstGeom prst="rect">
            <a:avLst/>
          </a:prstGeom>
          <a:noFill/>
        </p:spPr>
        <p:txBody>
          <a:bodyPr wrap="square" lIns="127" tIns="127" rIns="127" bIns="127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1E243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确认了目标接口与关键代码路径；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1E243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识别出 3 段远程依赖串行执行、集成方式无缓存等核心问题；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1E243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形成了第一版优化草案。</a:t>
            </a:r>
            <a:endParaRPr lang="en-US" sz="1300" dirty="0"/>
          </a:p>
        </p:txBody>
      </p:sp>
      <p:sp>
        <p:nvSpPr>
          <p:cNvPr id="11" name="Shape 9"/>
          <p:cNvSpPr/>
          <p:nvPr>
            <p:custDataLst>
              <p:tags r:id="rId4"/>
            </p:custDataLst>
          </p:nvPr>
        </p:nvSpPr>
        <p:spPr>
          <a:xfrm>
            <a:off x="6199505" y="2973070"/>
            <a:ext cx="4983480" cy="2280285"/>
          </a:xfrm>
          <a:prstGeom prst="roundRect">
            <a:avLst>
              <a:gd name="adj" fmla="val 1786"/>
            </a:avLst>
          </a:prstGeom>
          <a:solidFill>
            <a:srgbClr val="FFFFFF"/>
          </a:solidFill>
          <a:ln w="12700">
            <a:solidFill>
              <a:srgbClr val="C9D3E1"/>
            </a:solidFill>
            <a:prstDash val="solid"/>
          </a:ln>
        </p:spPr>
      </p:sp>
      <p:sp>
        <p:nvSpPr>
          <p:cNvPr id="12" name="Text 10"/>
          <p:cNvSpPr/>
          <p:nvPr>
            <p:custDataLst>
              <p:tags r:id="rId5"/>
            </p:custDataLst>
          </p:nvPr>
        </p:nvSpPr>
        <p:spPr>
          <a:xfrm>
            <a:off x="6428232" y="3192399"/>
            <a:ext cx="4572000" cy="2194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F2A4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后续计划</a:t>
            </a:r>
            <a:endParaRPr lang="en-US" sz="1700" dirty="0"/>
          </a:p>
        </p:txBody>
      </p:sp>
      <p:sp>
        <p:nvSpPr>
          <p:cNvPr id="13" name="Text 11"/>
          <p:cNvSpPr/>
          <p:nvPr>
            <p:custDataLst>
              <p:tags r:id="rId6"/>
            </p:custDataLst>
          </p:nvPr>
        </p:nvSpPr>
        <p:spPr>
          <a:xfrm>
            <a:off x="6428232" y="3576447"/>
            <a:ext cx="4572000" cy="1773936"/>
          </a:xfrm>
          <a:prstGeom prst="rect">
            <a:avLst/>
          </a:prstGeom>
          <a:noFill/>
        </p:spPr>
        <p:txBody>
          <a:bodyPr wrap="square" lIns="127" tIns="127" rIns="127" bIns="127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1E243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补运行时分段耗时证据；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1E243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确认现场到底走哪条分支；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1E243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再决定是优先做止血优化，还是直接往中期治理推进。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868680" y="5552440"/>
            <a:ext cx="10058400" cy="64706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F2A4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这次最重要的不是“已经解决完”，而是第一次把一个事故驱动的问题推进到了可文档化、可追踪、可继续落实的状态。</a:t>
            </a:r>
            <a:endParaRPr lang="en-US" sz="1350" b="1" dirty="0">
              <a:solidFill>
                <a:srgbClr val="1F2A44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0"/>
            </a:endParaRPr>
          </a:p>
          <a:p>
            <a:pPr marL="0" indent="0">
              <a:buNone/>
            </a:pPr>
            <a:endParaRPr lang="en-US" sz="1350" b="1" dirty="0">
              <a:solidFill>
                <a:srgbClr val="1F2A44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0"/>
            </a:endParaRPr>
          </a:p>
          <a:p>
            <a:pPr marL="0" indent="0">
              <a:buNone/>
            </a:pPr>
            <a:r>
              <a:rPr lang="en-US" sz="1400" b="1" dirty="0">
                <a:solidFill>
                  <a:srgbClr val="1F2A4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对我们研发部来说，这类案例也不只是一次问题处理，而是在性能优化、降本增效和系统稳定性这条主线上，逐步衍生出可继续推进的专项子任务。</a:t>
            </a:r>
            <a:endParaRPr lang="en-US" sz="1400" b="1" dirty="0">
              <a:solidFill>
                <a:srgbClr val="1F2A44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0"/>
            </a:endParaRPr>
          </a:p>
        </p:txBody>
      </p:sp>
      <p:sp>
        <p:nvSpPr>
          <p:cNvPr id="15" name="Text 13"/>
          <p:cNvSpPr/>
          <p:nvPr/>
        </p:nvSpPr>
        <p:spPr>
          <a:xfrm>
            <a:off x="11475720" y="6492240"/>
            <a:ext cx="228600" cy="14630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F6B7A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1F2A44"/>
          </a:solidFill>
          <a:ln w="12700">
            <a:solidFill>
              <a:srgbClr val="1F2A44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164592"/>
            <a:ext cx="3108960" cy="1645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DCE6FB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FRAMEWORK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859536"/>
            <a:ext cx="10241280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1E243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这个专项逐步衍生出的协作框架</a:t>
            </a:r>
            <a:endParaRPr lang="en-US" sz="2500" dirty="0"/>
          </a:p>
        </p:txBody>
      </p:sp>
      <p:sp>
        <p:nvSpPr>
          <p:cNvPr id="5" name="Shape 3"/>
          <p:cNvSpPr/>
          <p:nvPr/>
        </p:nvSpPr>
        <p:spPr>
          <a:xfrm>
            <a:off x="548640" y="1371600"/>
            <a:ext cx="11018520" cy="0"/>
          </a:xfrm>
          <a:prstGeom prst="line">
            <a:avLst/>
          </a:prstGeom>
          <a:noFill/>
          <a:ln w="12700">
            <a:solidFill>
              <a:srgbClr val="C9D3E1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77240" y="1755648"/>
            <a:ext cx="10652760" cy="1042416"/>
          </a:xfrm>
          <a:prstGeom prst="roundRect">
            <a:avLst>
              <a:gd name="adj" fmla="val 5263"/>
            </a:avLst>
          </a:prstGeom>
          <a:solidFill>
            <a:srgbClr val="EAF1FF"/>
          </a:solidFill>
          <a:ln w="12700">
            <a:solidFill>
              <a:srgbClr val="6E8FD8">
                <a:alpha val="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05840" y="2011680"/>
            <a:ext cx="1005840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i="1" dirty="0">
                <a:solidFill>
                  <a:srgbClr val="1F2A4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一开始只是想写脚本拉日志，后来发现：如果不补一层协作承接，分析结果很容易停在“发个报告就完了”。</a:t>
            </a:r>
            <a:endParaRPr lang="en-US" sz="2200" dirty="0"/>
          </a:p>
        </p:txBody>
      </p:sp>
      <p:sp>
        <p:nvSpPr>
          <p:cNvPr id="8" name="Shape 6"/>
          <p:cNvSpPr/>
          <p:nvPr/>
        </p:nvSpPr>
        <p:spPr>
          <a:xfrm>
            <a:off x="914400" y="1828800"/>
            <a:ext cx="10332720" cy="804672"/>
          </a:xfrm>
          <a:prstGeom prst="roundRect">
            <a:avLst>
              <a:gd name="adj" fmla="val 4545"/>
            </a:avLst>
          </a:prstGeom>
          <a:solidFill>
            <a:srgbClr val="E8EEF9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170432" y="1993392"/>
            <a:ext cx="146304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F2A4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输入层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2743200" y="1993392"/>
            <a:ext cx="804672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E243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消息流 / 临时想法 / 提醒 / 专项讨论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914400" y="2761488"/>
            <a:ext cx="10332720" cy="877824"/>
          </a:xfrm>
          <a:prstGeom prst="roundRect">
            <a:avLst>
              <a:gd name="adj" fmla="val 4167"/>
            </a:avLst>
          </a:prstGeom>
          <a:solidFill>
            <a:srgbClr val="DDE8F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170432" y="2926080"/>
            <a:ext cx="146304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F2A4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控制层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2743200" y="2926080"/>
            <a:ext cx="804672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E243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work-control：判断进哪个槽，是否追问，是否升级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914400" y="3822192"/>
            <a:ext cx="10332720" cy="1005840"/>
          </a:xfrm>
          <a:prstGeom prst="roundRect">
            <a:avLst>
              <a:gd name="adj" fmla="val 3636"/>
            </a:avLst>
          </a:prstGeom>
          <a:solidFill>
            <a:srgbClr val="C9DAF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170432" y="3986784"/>
            <a:ext cx="146304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F2A4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运行层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2743200" y="3986784"/>
            <a:ext cx="804672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E243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work-system + executor + ACP/Codex：把判断变成持续执行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914400" y="5029200"/>
            <a:ext cx="10332720" cy="859536"/>
          </a:xfrm>
          <a:prstGeom prst="roundRect">
            <a:avLst>
              <a:gd name="adj" fmla="val 4255"/>
            </a:avLst>
          </a:prstGeom>
          <a:solidFill>
            <a:srgbClr val="B8CFF7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170432" y="5193792"/>
            <a:ext cx="146304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F2A4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记忆层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2743200" y="5193792"/>
            <a:ext cx="804672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E243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memory_search + cognition：召回、复盘、迁移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932688" y="6144768"/>
            <a:ext cx="987552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i="1" dirty="0">
                <a:solidFill>
                  <a:srgbClr val="5F6B7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这套框架不是先画出来的，而是在专项推进过程中逐步衍生、逐步长出来的。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11475720" y="6492240"/>
            <a:ext cx="228600" cy="14630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F6B7A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1F2A44"/>
          </a:solidFill>
          <a:ln w="12700">
            <a:solidFill>
              <a:srgbClr val="1F2A44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164592"/>
            <a:ext cx="3108960" cy="1645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DCE6FB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PART 01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859536"/>
            <a:ext cx="10241280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1E243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为什么 `work-control` 要做成 skill</a:t>
            </a:r>
            <a:endParaRPr lang="en-US" sz="2500" dirty="0"/>
          </a:p>
        </p:txBody>
      </p:sp>
      <p:sp>
        <p:nvSpPr>
          <p:cNvPr id="5" name="Shape 3"/>
          <p:cNvSpPr/>
          <p:nvPr/>
        </p:nvSpPr>
        <p:spPr>
          <a:xfrm>
            <a:off x="548640" y="1371600"/>
            <a:ext cx="11018520" cy="0"/>
          </a:xfrm>
          <a:prstGeom prst="line">
            <a:avLst/>
          </a:prstGeom>
          <a:noFill/>
          <a:ln w="12700">
            <a:solidFill>
              <a:srgbClr val="C9D3E1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77240" y="1755648"/>
            <a:ext cx="10652760" cy="1042416"/>
          </a:xfrm>
          <a:prstGeom prst="roundRect">
            <a:avLst>
              <a:gd name="adj" fmla="val 5263"/>
            </a:avLst>
          </a:prstGeom>
          <a:solidFill>
            <a:srgbClr val="EAF1FF"/>
          </a:solidFill>
          <a:ln w="12700">
            <a:solidFill>
              <a:srgbClr val="6E8FD8">
                <a:alpha val="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05840" y="2011680"/>
            <a:ext cx="1005840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i="1" dirty="0">
                <a:solidFill>
                  <a:srgbClr val="1F2A4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模糊输入，不能直接进正式系统。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868680" y="3154680"/>
            <a:ext cx="5532120" cy="2560320"/>
          </a:xfrm>
          <a:prstGeom prst="rect">
            <a:avLst/>
          </a:prstGeom>
          <a:noFill/>
        </p:spPr>
        <p:txBody>
          <a:bodyPr wrap="square" lIns="381" tIns="381" rIns="381" bIns="381" rtlCol="0" anchor="t"/>
          <a:lstStyle/>
          <a:p>
            <a:pPr marL="203200" indent="-203200">
              <a:buSzPct val="100000"/>
              <a:buChar char="•"/>
            </a:pPr>
            <a:r>
              <a:rPr lang="en-US" sz="1800" dirty="0">
                <a:solidFill>
                  <a:srgbClr val="1E243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它解决的是“路由判断”，不是“记录存储”。</a:t>
            </a:r>
            <a:endParaRPr lang="en-US" sz="1800" dirty="0"/>
          </a:p>
          <a:p>
            <a:pPr marL="203200" indent="-203200">
              <a:buSzPct val="100000"/>
              <a:buChar char="•"/>
            </a:pPr>
            <a:r>
              <a:rPr lang="en-US" sz="1800" dirty="0">
                <a:solidFill>
                  <a:srgbClr val="1E243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一句话过来，先判断是待办、专项、提醒，还是需要继续追问。</a:t>
            </a:r>
            <a:endParaRPr lang="en-US" sz="1800" dirty="0"/>
          </a:p>
          <a:p>
            <a:pPr marL="203200" indent="-203200">
              <a:buSzPct val="100000"/>
              <a:buChar char="•"/>
            </a:pPr>
            <a:r>
              <a:rPr lang="en-US" sz="1800" dirty="0">
                <a:solidFill>
                  <a:srgbClr val="1E243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skill 适合承接意图识别、槽位判断、是否升级成专项等前置判断。</a:t>
            </a:r>
            <a:endParaRPr lang="en-US" sz="1800" dirty="0"/>
          </a:p>
          <a:p>
            <a:pPr marL="203200" indent="-203200">
              <a:buSzPct val="100000"/>
              <a:buChar char="•"/>
            </a:pPr>
            <a:r>
              <a:rPr lang="en-US" sz="1800" dirty="0">
                <a:solidFill>
                  <a:srgbClr val="1E243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这样做的价值，是把后续系统的噪音和污染压在入口之前。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6720840" y="3310128"/>
            <a:ext cx="1828800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F2A4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换</a:t>
            </a:r>
            <a:r>
              <a:rPr lang="zh-CN" altLang="en-US" sz="1700" b="1" dirty="0">
                <a:solidFill>
                  <a:srgbClr val="1F2A4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句</a:t>
            </a:r>
            <a:r>
              <a:rPr lang="en-US" sz="1700" b="1" dirty="0">
                <a:solidFill>
                  <a:srgbClr val="1F2A4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话讲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6720840" y="3730752"/>
            <a:ext cx="4389120" cy="1325880"/>
          </a:xfrm>
          <a:prstGeom prst="rect">
            <a:avLst/>
          </a:prstGeom>
          <a:noFill/>
        </p:spPr>
        <p:txBody>
          <a:bodyPr wrap="square" lIns="127" tIns="127" rIns="127" bIns="127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E243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在正式流程之前，先补一层“轻量分诊”。</a:t>
            </a:r>
            <a:endParaRPr lang="en-US" sz="1500" dirty="0"/>
          </a:p>
          <a:p>
            <a:pPr marL="0" indent="0">
              <a:buNone/>
            </a:pPr>
            <a:endParaRPr lang="en-US" sz="1500" dirty="0"/>
          </a:p>
          <a:p>
            <a:pPr marL="0" indent="0">
              <a:buNone/>
            </a:pPr>
            <a:r>
              <a:rPr lang="en-US" sz="1500" dirty="0">
                <a:solidFill>
                  <a:srgbClr val="1E243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这层做得好，后面的人力投入才不会浪费在误分流、重复确认和低质量推进上。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6720840" y="3611880"/>
            <a:ext cx="4297680" cy="0"/>
          </a:xfrm>
          <a:prstGeom prst="line">
            <a:avLst/>
          </a:prstGeom>
          <a:noFill/>
          <a:ln w="12700">
            <a:solidFill>
              <a:srgbClr val="C9D3E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1475720" y="6492240"/>
            <a:ext cx="228600" cy="14630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F6B7A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1F2A44"/>
          </a:solidFill>
          <a:ln w="12700">
            <a:solidFill>
              <a:srgbClr val="1F2A44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164592"/>
            <a:ext cx="3108960" cy="1645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DCE6FB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PART 02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859536"/>
            <a:ext cx="10241280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1E243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为什么 `work-system` 不只是记录</a:t>
            </a:r>
            <a:endParaRPr lang="en-US" sz="2500" dirty="0"/>
          </a:p>
        </p:txBody>
      </p:sp>
      <p:sp>
        <p:nvSpPr>
          <p:cNvPr id="5" name="Shape 3"/>
          <p:cNvSpPr/>
          <p:nvPr/>
        </p:nvSpPr>
        <p:spPr>
          <a:xfrm>
            <a:off x="548640" y="1371600"/>
            <a:ext cx="11018520" cy="0"/>
          </a:xfrm>
          <a:prstGeom prst="line">
            <a:avLst/>
          </a:prstGeom>
          <a:noFill/>
          <a:ln w="12700">
            <a:solidFill>
              <a:srgbClr val="C9D3E1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77240" y="1755648"/>
            <a:ext cx="10652760" cy="1042416"/>
          </a:xfrm>
          <a:prstGeom prst="roundRect">
            <a:avLst>
              <a:gd name="adj" fmla="val 5263"/>
            </a:avLst>
          </a:prstGeom>
          <a:solidFill>
            <a:srgbClr val="EAF1FF"/>
          </a:solidFill>
          <a:ln w="12700">
            <a:solidFill>
              <a:srgbClr val="6E8FD8">
                <a:alpha val="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05840" y="2011680"/>
            <a:ext cx="1005840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i="1" dirty="0">
                <a:solidFill>
                  <a:srgbClr val="1F2A4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好系统不是记得多，而是能稳定推进。</a:t>
            </a:r>
            <a:endParaRPr lang="en-US" sz="2200" dirty="0"/>
          </a:p>
        </p:txBody>
      </p:sp>
      <p:sp>
        <p:nvSpPr>
          <p:cNvPr id="8" name="Shape 6"/>
          <p:cNvSpPr/>
          <p:nvPr>
            <p:custDataLst>
              <p:tags r:id="rId1"/>
            </p:custDataLst>
          </p:nvPr>
        </p:nvSpPr>
        <p:spPr>
          <a:xfrm>
            <a:off x="822960" y="3182112"/>
            <a:ext cx="3429000" cy="2148840"/>
          </a:xfrm>
          <a:prstGeom prst="roundRect">
            <a:avLst>
              <a:gd name="adj" fmla="val 2128"/>
            </a:avLst>
          </a:prstGeom>
          <a:solidFill>
            <a:srgbClr val="FFFFFF"/>
          </a:solidFill>
          <a:ln w="12700">
            <a:solidFill>
              <a:srgbClr val="C9D3E1"/>
            </a:solidFill>
            <a:prstDash val="solid"/>
          </a:ln>
        </p:spPr>
      </p:sp>
      <p:sp>
        <p:nvSpPr>
          <p:cNvPr id="9" name="Text 7"/>
          <p:cNvSpPr/>
          <p:nvPr>
            <p:custDataLst>
              <p:tags r:id="rId2"/>
            </p:custDataLst>
          </p:nvPr>
        </p:nvSpPr>
        <p:spPr>
          <a:xfrm>
            <a:off x="1051560" y="3401568"/>
            <a:ext cx="3017520" cy="2194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F2A4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Reminders</a:t>
            </a:r>
            <a:endParaRPr lang="en-US" sz="1800" dirty="0"/>
          </a:p>
        </p:txBody>
      </p:sp>
      <p:sp>
        <p:nvSpPr>
          <p:cNvPr id="10" name="Text 8"/>
          <p:cNvSpPr/>
          <p:nvPr>
            <p:custDataLst>
              <p:tags r:id="rId3"/>
            </p:custDataLst>
          </p:nvPr>
        </p:nvSpPr>
        <p:spPr>
          <a:xfrm>
            <a:off x="1051560" y="3785616"/>
            <a:ext cx="3017520" cy="1362456"/>
          </a:xfrm>
          <a:prstGeom prst="rect">
            <a:avLst/>
          </a:prstGeom>
          <a:noFill/>
        </p:spPr>
        <p:txBody>
          <a:bodyPr wrap="square" lIns="127" tIns="127" rIns="127" bIns="127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1E243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解决“别忘”。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1E243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把会被漏掉的事显性保住。</a:t>
            </a:r>
            <a:endParaRPr lang="en-US" sz="1400" dirty="0"/>
          </a:p>
        </p:txBody>
      </p:sp>
      <p:sp>
        <p:nvSpPr>
          <p:cNvPr id="11" name="Shape 9"/>
          <p:cNvSpPr/>
          <p:nvPr>
            <p:custDataLst>
              <p:tags r:id="rId4"/>
            </p:custDataLst>
          </p:nvPr>
        </p:nvSpPr>
        <p:spPr>
          <a:xfrm>
            <a:off x="4407408" y="3182112"/>
            <a:ext cx="3429000" cy="2148840"/>
          </a:xfrm>
          <a:prstGeom prst="roundRect">
            <a:avLst>
              <a:gd name="adj" fmla="val 2128"/>
            </a:avLst>
          </a:prstGeom>
          <a:solidFill>
            <a:srgbClr val="FFFFFF"/>
          </a:solidFill>
          <a:ln w="12700">
            <a:solidFill>
              <a:srgbClr val="C9D3E1"/>
            </a:solidFill>
            <a:prstDash val="solid"/>
          </a:ln>
        </p:spPr>
      </p:sp>
      <p:sp>
        <p:nvSpPr>
          <p:cNvPr id="12" name="Text 10"/>
          <p:cNvSpPr/>
          <p:nvPr>
            <p:custDataLst>
              <p:tags r:id="rId5"/>
            </p:custDataLst>
          </p:nvPr>
        </p:nvSpPr>
        <p:spPr>
          <a:xfrm>
            <a:off x="4636008" y="3401568"/>
            <a:ext cx="3017520" cy="2194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F2A4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今日聚焦</a:t>
            </a:r>
            <a:endParaRPr lang="en-US" sz="1800" dirty="0"/>
          </a:p>
        </p:txBody>
      </p:sp>
      <p:sp>
        <p:nvSpPr>
          <p:cNvPr id="13" name="Text 11"/>
          <p:cNvSpPr/>
          <p:nvPr>
            <p:custDataLst>
              <p:tags r:id="rId6"/>
            </p:custDataLst>
          </p:nvPr>
        </p:nvSpPr>
        <p:spPr>
          <a:xfrm>
            <a:off x="4636008" y="3785616"/>
            <a:ext cx="3017520" cy="1362456"/>
          </a:xfrm>
          <a:prstGeom prst="rect">
            <a:avLst/>
          </a:prstGeom>
          <a:noFill/>
        </p:spPr>
        <p:txBody>
          <a:bodyPr wrap="square" lIns="127" tIns="127" rIns="127" bIns="127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1E243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解决“今天先抓什么”。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1E243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把优先级抬头，而不是埋在消息里。</a:t>
            </a:r>
            <a:endParaRPr lang="en-US" sz="1400" dirty="0"/>
          </a:p>
        </p:txBody>
      </p:sp>
      <p:sp>
        <p:nvSpPr>
          <p:cNvPr id="14" name="Shape 12"/>
          <p:cNvSpPr/>
          <p:nvPr>
            <p:custDataLst>
              <p:tags r:id="rId7"/>
            </p:custDataLst>
          </p:nvPr>
        </p:nvSpPr>
        <p:spPr>
          <a:xfrm>
            <a:off x="7991856" y="3182112"/>
            <a:ext cx="3429000" cy="2148840"/>
          </a:xfrm>
          <a:prstGeom prst="roundRect">
            <a:avLst>
              <a:gd name="adj" fmla="val 2128"/>
            </a:avLst>
          </a:prstGeom>
          <a:solidFill>
            <a:srgbClr val="FFFFFF"/>
          </a:solidFill>
          <a:ln w="12700">
            <a:solidFill>
              <a:srgbClr val="C9D3E1"/>
            </a:solidFill>
            <a:prstDash val="solid"/>
          </a:ln>
        </p:spPr>
      </p:sp>
      <p:sp>
        <p:nvSpPr>
          <p:cNvPr id="15" name="Text 13"/>
          <p:cNvSpPr/>
          <p:nvPr>
            <p:custDataLst>
              <p:tags r:id="rId8"/>
            </p:custDataLst>
          </p:nvPr>
        </p:nvSpPr>
        <p:spPr>
          <a:xfrm>
            <a:off x="8220456" y="3401568"/>
            <a:ext cx="3017520" cy="2194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F2A4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每日总结</a:t>
            </a:r>
            <a:endParaRPr lang="en-US" sz="1800" dirty="0"/>
          </a:p>
        </p:txBody>
      </p:sp>
      <p:sp>
        <p:nvSpPr>
          <p:cNvPr id="16" name="Text 14"/>
          <p:cNvSpPr/>
          <p:nvPr>
            <p:custDataLst>
              <p:tags r:id="rId9"/>
            </p:custDataLst>
          </p:nvPr>
        </p:nvSpPr>
        <p:spPr>
          <a:xfrm>
            <a:off x="8220456" y="3785616"/>
            <a:ext cx="3017520" cy="1362456"/>
          </a:xfrm>
          <a:prstGeom prst="rect">
            <a:avLst/>
          </a:prstGeom>
          <a:noFill/>
        </p:spPr>
        <p:txBody>
          <a:bodyPr wrap="square" lIns="127" tIns="127" rIns="127" bIns="127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1E243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解决“什么时候该提前有压力”。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1E243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让临近节点更早被感知。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868680" y="5733288"/>
            <a:ext cx="1005840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i="1" dirty="0">
                <a:solidFill>
                  <a:srgbClr val="5F6B7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同样都是工作信息，但它们解决的是不同时间尺度的问题。拆开之后，系统才既能记，又能推。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11475720" y="6492240"/>
            <a:ext cx="228600" cy="14630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F6B7A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1F2A44"/>
          </a:solidFill>
          <a:ln w="12700">
            <a:solidFill>
              <a:srgbClr val="1F2A44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164592"/>
            <a:ext cx="3108960" cy="1645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DCE6FB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PART 03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859536"/>
            <a:ext cx="10241280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1E243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为什么需要 `executor`</a:t>
            </a:r>
            <a:endParaRPr lang="en-US" sz="2500" dirty="0"/>
          </a:p>
        </p:txBody>
      </p:sp>
      <p:sp>
        <p:nvSpPr>
          <p:cNvPr id="5" name="Shape 3"/>
          <p:cNvSpPr/>
          <p:nvPr/>
        </p:nvSpPr>
        <p:spPr>
          <a:xfrm>
            <a:off x="548640" y="1371600"/>
            <a:ext cx="11018520" cy="0"/>
          </a:xfrm>
          <a:prstGeom prst="line">
            <a:avLst/>
          </a:prstGeom>
          <a:noFill/>
          <a:ln w="12700">
            <a:solidFill>
              <a:srgbClr val="C9D3E1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77240" y="1755648"/>
            <a:ext cx="10652760" cy="1042416"/>
          </a:xfrm>
          <a:prstGeom prst="roundRect">
            <a:avLst>
              <a:gd name="adj" fmla="val 5263"/>
            </a:avLst>
          </a:prstGeom>
          <a:solidFill>
            <a:srgbClr val="EAF1FF"/>
          </a:solidFill>
          <a:ln w="12700">
            <a:solidFill>
              <a:srgbClr val="6E8FD8">
                <a:alpha val="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05840" y="2011680"/>
            <a:ext cx="1005840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i="1" dirty="0">
                <a:solidFill>
                  <a:srgbClr val="1F2A4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只有主会话，复杂任务很容易散。</a:t>
            </a:r>
            <a:endParaRPr lang="en-US" sz="2200" dirty="0"/>
          </a:p>
        </p:txBody>
      </p:sp>
      <p:sp>
        <p:nvSpPr>
          <p:cNvPr id="8" name="Shape 6"/>
          <p:cNvSpPr/>
          <p:nvPr>
            <p:custDataLst>
              <p:tags r:id="rId1"/>
            </p:custDataLst>
          </p:nvPr>
        </p:nvSpPr>
        <p:spPr>
          <a:xfrm>
            <a:off x="804672" y="3163824"/>
            <a:ext cx="5257800" cy="2487168"/>
          </a:xfrm>
          <a:prstGeom prst="roundRect">
            <a:avLst>
              <a:gd name="adj" fmla="val 1838"/>
            </a:avLst>
          </a:prstGeom>
          <a:solidFill>
            <a:srgbClr val="FFFFFF"/>
          </a:solidFill>
          <a:ln w="12700">
            <a:solidFill>
              <a:srgbClr val="C9D3E1"/>
            </a:solidFill>
            <a:prstDash val="solid"/>
          </a:ln>
        </p:spPr>
      </p:sp>
      <p:sp>
        <p:nvSpPr>
          <p:cNvPr id="9" name="Text 7"/>
          <p:cNvSpPr/>
          <p:nvPr>
            <p:custDataLst>
              <p:tags r:id="rId2"/>
            </p:custDataLst>
          </p:nvPr>
        </p:nvSpPr>
        <p:spPr>
          <a:xfrm>
            <a:off x="1033272" y="3383280"/>
            <a:ext cx="4846320" cy="2194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F2A4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主会话擅长</a:t>
            </a:r>
            <a:endParaRPr lang="en-US" sz="1800" dirty="0"/>
          </a:p>
        </p:txBody>
      </p:sp>
      <p:sp>
        <p:nvSpPr>
          <p:cNvPr id="10" name="Text 8"/>
          <p:cNvSpPr/>
          <p:nvPr>
            <p:custDataLst>
              <p:tags r:id="rId3"/>
            </p:custDataLst>
          </p:nvPr>
        </p:nvSpPr>
        <p:spPr>
          <a:xfrm>
            <a:off x="1033272" y="3767328"/>
            <a:ext cx="4846320" cy="1700784"/>
          </a:xfrm>
          <a:prstGeom prst="rect">
            <a:avLst/>
          </a:prstGeom>
          <a:noFill/>
        </p:spPr>
        <p:txBody>
          <a:bodyPr wrap="square" lIns="127" tIns="127" rIns="127" bIns="127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1E243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判断、取舍、补上下文、定优先级。</a:t>
            </a:r>
            <a:endParaRPr lang="en-US" sz="1300" dirty="0"/>
          </a:p>
          <a:p>
            <a:pPr marL="0" indent="0">
              <a:buNone/>
            </a:pP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1E243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它更像一个高带宽决策界面，适合做方向判断，但不适合承接所有复杂执行。</a:t>
            </a:r>
            <a:endParaRPr lang="en-US" sz="1300" dirty="0"/>
          </a:p>
        </p:txBody>
      </p:sp>
      <p:sp>
        <p:nvSpPr>
          <p:cNvPr id="11" name="Shape 9"/>
          <p:cNvSpPr/>
          <p:nvPr>
            <p:custDataLst>
              <p:tags r:id="rId4"/>
            </p:custDataLst>
          </p:nvPr>
        </p:nvSpPr>
        <p:spPr>
          <a:xfrm>
            <a:off x="6199632" y="3163824"/>
            <a:ext cx="4983480" cy="2487168"/>
          </a:xfrm>
          <a:prstGeom prst="roundRect">
            <a:avLst>
              <a:gd name="adj" fmla="val 1838"/>
            </a:avLst>
          </a:prstGeom>
          <a:solidFill>
            <a:srgbClr val="FFFFFF"/>
          </a:solidFill>
          <a:ln w="12700">
            <a:solidFill>
              <a:srgbClr val="C9D3E1"/>
            </a:solidFill>
            <a:prstDash val="solid"/>
          </a:ln>
        </p:spPr>
      </p:sp>
      <p:sp>
        <p:nvSpPr>
          <p:cNvPr id="12" name="Text 10"/>
          <p:cNvSpPr/>
          <p:nvPr>
            <p:custDataLst>
              <p:tags r:id="rId5"/>
            </p:custDataLst>
          </p:nvPr>
        </p:nvSpPr>
        <p:spPr>
          <a:xfrm>
            <a:off x="6428232" y="3383280"/>
            <a:ext cx="4572000" cy="2194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F2A4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Executor 擅长</a:t>
            </a:r>
            <a:endParaRPr lang="en-US" sz="1800" dirty="0"/>
          </a:p>
        </p:txBody>
      </p:sp>
      <p:sp>
        <p:nvSpPr>
          <p:cNvPr id="13" name="Text 11"/>
          <p:cNvSpPr/>
          <p:nvPr>
            <p:custDataLst>
              <p:tags r:id="rId6"/>
            </p:custDataLst>
          </p:nvPr>
        </p:nvSpPr>
        <p:spPr>
          <a:xfrm>
            <a:off x="6428232" y="3767328"/>
            <a:ext cx="4572000" cy="1700784"/>
          </a:xfrm>
          <a:prstGeom prst="rect">
            <a:avLst/>
          </a:prstGeom>
          <a:noFill/>
        </p:spPr>
        <p:txBody>
          <a:bodyPr wrap="square" lIns="127" tIns="127" rIns="127" bIns="127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1E243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把复杂任务接住，拆成动作，持续跑完。</a:t>
            </a:r>
            <a:endParaRPr lang="en-US" sz="1300" dirty="0"/>
          </a:p>
          <a:p>
            <a:pPr marL="0" indent="0">
              <a:buNone/>
            </a:pP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1E243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它让“想到”变成“能持续做到”，减少执行过程中的回落与断档。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868680" y="5925312"/>
            <a:ext cx="987552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F2A4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它不是多一个模块，而是在主会话和复杂执行之间，补一层真正的承接能力。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11475720" y="6492240"/>
            <a:ext cx="228600" cy="14630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F6B7A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1F2A44"/>
          </a:solidFill>
          <a:ln w="12700">
            <a:solidFill>
              <a:srgbClr val="1F2A44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164592"/>
            <a:ext cx="3108960" cy="1645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DCE6FB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PART 04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859536"/>
            <a:ext cx="10241280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1E243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为什么再往下要接 `ACP + Codex`</a:t>
            </a:r>
            <a:endParaRPr lang="en-US" sz="2500" dirty="0"/>
          </a:p>
        </p:txBody>
      </p:sp>
      <p:sp>
        <p:nvSpPr>
          <p:cNvPr id="5" name="Shape 3"/>
          <p:cNvSpPr/>
          <p:nvPr/>
        </p:nvSpPr>
        <p:spPr>
          <a:xfrm>
            <a:off x="548640" y="1371600"/>
            <a:ext cx="11018520" cy="0"/>
          </a:xfrm>
          <a:prstGeom prst="line">
            <a:avLst/>
          </a:prstGeom>
          <a:noFill/>
          <a:ln w="12700">
            <a:solidFill>
              <a:srgbClr val="C9D3E1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77240" y="1755648"/>
            <a:ext cx="10652760" cy="1042416"/>
          </a:xfrm>
          <a:prstGeom prst="roundRect">
            <a:avLst>
              <a:gd name="adj" fmla="val 5263"/>
            </a:avLst>
          </a:prstGeom>
          <a:solidFill>
            <a:srgbClr val="EAF1FF"/>
          </a:solidFill>
          <a:ln w="12700">
            <a:solidFill>
              <a:srgbClr val="6E8FD8">
                <a:alpha val="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05840" y="2011680"/>
            <a:ext cx="1005840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i="1" dirty="0">
                <a:solidFill>
                  <a:srgbClr val="1F2A4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复杂执行，不能只靠临时聊天。</a:t>
            </a:r>
            <a:endParaRPr lang="en-US" sz="2200" dirty="0"/>
          </a:p>
        </p:txBody>
      </p:sp>
      <p:sp>
        <p:nvSpPr>
          <p:cNvPr id="8" name="Shape 6"/>
          <p:cNvSpPr/>
          <p:nvPr>
            <p:custDataLst>
              <p:tags r:id="rId1"/>
            </p:custDataLst>
          </p:nvPr>
        </p:nvSpPr>
        <p:spPr>
          <a:xfrm>
            <a:off x="822960" y="3154680"/>
            <a:ext cx="3474720" cy="2240280"/>
          </a:xfrm>
          <a:prstGeom prst="roundRect">
            <a:avLst>
              <a:gd name="adj" fmla="val 2041"/>
            </a:avLst>
          </a:prstGeom>
          <a:solidFill>
            <a:srgbClr val="FFFFFF"/>
          </a:solidFill>
          <a:ln w="12700">
            <a:solidFill>
              <a:srgbClr val="C9D3E1"/>
            </a:solidFill>
            <a:prstDash val="solid"/>
          </a:ln>
        </p:spPr>
      </p:sp>
      <p:sp>
        <p:nvSpPr>
          <p:cNvPr id="9" name="Text 7"/>
          <p:cNvSpPr/>
          <p:nvPr>
            <p:custDataLst>
              <p:tags r:id="rId2"/>
            </p:custDataLst>
          </p:nvPr>
        </p:nvSpPr>
        <p:spPr>
          <a:xfrm>
            <a:off x="1051560" y="3374136"/>
            <a:ext cx="3063240" cy="2194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F2A4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主会话</a:t>
            </a:r>
            <a:endParaRPr lang="en-US" sz="1800" dirty="0"/>
          </a:p>
        </p:txBody>
      </p:sp>
      <p:sp>
        <p:nvSpPr>
          <p:cNvPr id="10" name="Text 8"/>
          <p:cNvSpPr/>
          <p:nvPr>
            <p:custDataLst>
              <p:tags r:id="rId3"/>
            </p:custDataLst>
          </p:nvPr>
        </p:nvSpPr>
        <p:spPr>
          <a:xfrm>
            <a:off x="1051560" y="3758184"/>
            <a:ext cx="3063240" cy="1453896"/>
          </a:xfrm>
          <a:prstGeom prst="rect">
            <a:avLst/>
          </a:prstGeom>
          <a:noFill/>
        </p:spPr>
        <p:txBody>
          <a:bodyPr wrap="square" lIns="127" tIns="127" rIns="127" bIns="127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1E243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先把问题说明白，补上下文，收口目标。</a:t>
            </a:r>
            <a:endParaRPr lang="en-US" sz="1400" dirty="0"/>
          </a:p>
        </p:txBody>
      </p:sp>
      <p:sp>
        <p:nvSpPr>
          <p:cNvPr id="11" name="Shape 9"/>
          <p:cNvSpPr/>
          <p:nvPr>
            <p:custDataLst>
              <p:tags r:id="rId4"/>
            </p:custDataLst>
          </p:nvPr>
        </p:nvSpPr>
        <p:spPr>
          <a:xfrm>
            <a:off x="4361688" y="3154680"/>
            <a:ext cx="3474720" cy="2240280"/>
          </a:xfrm>
          <a:prstGeom prst="roundRect">
            <a:avLst>
              <a:gd name="adj" fmla="val 2041"/>
            </a:avLst>
          </a:prstGeom>
          <a:solidFill>
            <a:srgbClr val="FFFFFF"/>
          </a:solidFill>
          <a:ln w="12700">
            <a:solidFill>
              <a:srgbClr val="C9D3E1"/>
            </a:solidFill>
            <a:prstDash val="solid"/>
          </a:ln>
        </p:spPr>
      </p:sp>
      <p:sp>
        <p:nvSpPr>
          <p:cNvPr id="12" name="Text 10"/>
          <p:cNvSpPr/>
          <p:nvPr>
            <p:custDataLst>
              <p:tags r:id="rId5"/>
            </p:custDataLst>
          </p:nvPr>
        </p:nvSpPr>
        <p:spPr>
          <a:xfrm>
            <a:off x="4590288" y="3374136"/>
            <a:ext cx="3063240" cy="2194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F2A4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ACP</a:t>
            </a:r>
            <a:endParaRPr lang="en-US" sz="1800" dirty="0"/>
          </a:p>
        </p:txBody>
      </p:sp>
      <p:sp>
        <p:nvSpPr>
          <p:cNvPr id="13" name="Text 11"/>
          <p:cNvSpPr/>
          <p:nvPr>
            <p:custDataLst>
              <p:tags r:id="rId6"/>
            </p:custDataLst>
          </p:nvPr>
        </p:nvSpPr>
        <p:spPr>
          <a:xfrm>
            <a:off x="4590288" y="3758184"/>
            <a:ext cx="3063240" cy="1453896"/>
          </a:xfrm>
          <a:prstGeom prst="rect">
            <a:avLst/>
          </a:prstGeom>
          <a:noFill/>
        </p:spPr>
        <p:txBody>
          <a:bodyPr wrap="square" lIns="127" tIns="127" rIns="127" bIns="127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1E243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把任务送进合适的执行环境，让复杂任务有地方真正展开。</a:t>
            </a:r>
            <a:endParaRPr lang="en-US" sz="1400" dirty="0"/>
          </a:p>
        </p:txBody>
      </p:sp>
      <p:sp>
        <p:nvSpPr>
          <p:cNvPr id="14" name="Shape 12"/>
          <p:cNvSpPr/>
          <p:nvPr>
            <p:custDataLst>
              <p:tags r:id="rId7"/>
            </p:custDataLst>
          </p:nvPr>
        </p:nvSpPr>
        <p:spPr>
          <a:xfrm>
            <a:off x="7900416" y="3154680"/>
            <a:ext cx="3474720" cy="2240280"/>
          </a:xfrm>
          <a:prstGeom prst="roundRect">
            <a:avLst>
              <a:gd name="adj" fmla="val 2041"/>
            </a:avLst>
          </a:prstGeom>
          <a:solidFill>
            <a:srgbClr val="FFFFFF"/>
          </a:solidFill>
          <a:ln w="12700">
            <a:solidFill>
              <a:srgbClr val="C9D3E1"/>
            </a:solidFill>
            <a:prstDash val="solid"/>
          </a:ln>
        </p:spPr>
      </p:sp>
      <p:sp>
        <p:nvSpPr>
          <p:cNvPr id="15" name="Text 13"/>
          <p:cNvSpPr/>
          <p:nvPr>
            <p:custDataLst>
              <p:tags r:id="rId8"/>
            </p:custDataLst>
          </p:nvPr>
        </p:nvSpPr>
        <p:spPr>
          <a:xfrm>
            <a:off x="8129016" y="3374136"/>
            <a:ext cx="3063240" cy="2194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F2A4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Codex</a:t>
            </a:r>
            <a:endParaRPr lang="en-US" sz="1800" dirty="0"/>
          </a:p>
        </p:txBody>
      </p:sp>
      <p:sp>
        <p:nvSpPr>
          <p:cNvPr id="16" name="Text 14"/>
          <p:cNvSpPr/>
          <p:nvPr>
            <p:custDataLst>
              <p:tags r:id="rId9"/>
            </p:custDataLst>
          </p:nvPr>
        </p:nvSpPr>
        <p:spPr>
          <a:xfrm>
            <a:off x="8129016" y="3758184"/>
            <a:ext cx="3063240" cy="1453896"/>
          </a:xfrm>
          <a:prstGeom prst="rect">
            <a:avLst/>
          </a:prstGeom>
          <a:noFill/>
        </p:spPr>
        <p:txBody>
          <a:bodyPr wrap="square" lIns="127" tIns="127" rIns="127" bIns="127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1E243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接住代码、文档、分析这些重执行内容，并把结果回写到专项里。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868680" y="5797296"/>
            <a:ext cx="1005840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F2A4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它的价值，不只是“多用了一个工具”，而是把聊天里的判断推进成可执行、可落档、可复用的链路。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11475720" y="6492240"/>
            <a:ext cx="228600" cy="14630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F6B7A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8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1F2A44"/>
          </a:solidFill>
          <a:ln w="12700">
            <a:solidFill>
              <a:srgbClr val="1F2A44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164592"/>
            <a:ext cx="3108960" cy="1645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DCE6FB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MEMORY LAYER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859536"/>
            <a:ext cx="10241280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1E243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为什么长期记忆一定要有语义召回</a:t>
            </a:r>
            <a:endParaRPr lang="en-US" sz="2500" dirty="0"/>
          </a:p>
        </p:txBody>
      </p:sp>
      <p:sp>
        <p:nvSpPr>
          <p:cNvPr id="5" name="Shape 3"/>
          <p:cNvSpPr/>
          <p:nvPr/>
        </p:nvSpPr>
        <p:spPr>
          <a:xfrm>
            <a:off x="548640" y="1371600"/>
            <a:ext cx="11018520" cy="0"/>
          </a:xfrm>
          <a:prstGeom prst="line">
            <a:avLst/>
          </a:prstGeom>
          <a:noFill/>
          <a:ln w="12700">
            <a:solidFill>
              <a:srgbClr val="C9D3E1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77240" y="1755648"/>
            <a:ext cx="10652760" cy="1042416"/>
          </a:xfrm>
          <a:prstGeom prst="roundRect">
            <a:avLst>
              <a:gd name="adj" fmla="val 5263"/>
            </a:avLst>
          </a:prstGeom>
          <a:solidFill>
            <a:srgbClr val="EAF1FF"/>
          </a:solidFill>
          <a:ln w="12700">
            <a:solidFill>
              <a:srgbClr val="6E8FD8">
                <a:alpha val="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05840" y="2011680"/>
            <a:ext cx="1005840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i="1" dirty="0">
                <a:solidFill>
                  <a:srgbClr val="1F2A4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memory_search + cognition 解决的，不是“存没存下来”，而是“需要的时候，能不能把真正相关的内容找出来并接上今天的问题”。</a:t>
            </a:r>
            <a:endParaRPr lang="en-US" sz="2200" dirty="0"/>
          </a:p>
        </p:txBody>
      </p:sp>
      <p:sp>
        <p:nvSpPr>
          <p:cNvPr id="8" name="Shape 6"/>
          <p:cNvSpPr/>
          <p:nvPr>
            <p:custDataLst>
              <p:tags r:id="rId1"/>
            </p:custDataLst>
          </p:nvPr>
        </p:nvSpPr>
        <p:spPr>
          <a:xfrm>
            <a:off x="822960" y="3127248"/>
            <a:ext cx="3337560" cy="2423160"/>
          </a:xfrm>
          <a:prstGeom prst="roundRect">
            <a:avLst>
              <a:gd name="adj" fmla="val 1887"/>
            </a:avLst>
          </a:prstGeom>
          <a:solidFill>
            <a:srgbClr val="FFFFFF"/>
          </a:solidFill>
          <a:ln w="12700">
            <a:solidFill>
              <a:srgbClr val="C9D3E1"/>
            </a:solidFill>
            <a:prstDash val="solid"/>
          </a:ln>
        </p:spPr>
      </p:sp>
      <p:sp>
        <p:nvSpPr>
          <p:cNvPr id="9" name="Text 7"/>
          <p:cNvSpPr/>
          <p:nvPr>
            <p:custDataLst>
              <p:tags r:id="rId2"/>
            </p:custDataLst>
          </p:nvPr>
        </p:nvSpPr>
        <p:spPr>
          <a:xfrm>
            <a:off x="1051560" y="3346704"/>
            <a:ext cx="2926080" cy="2194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F2A4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memory_search</a:t>
            </a:r>
            <a:endParaRPr lang="en-US" sz="1700" dirty="0"/>
          </a:p>
        </p:txBody>
      </p:sp>
      <p:sp>
        <p:nvSpPr>
          <p:cNvPr id="10" name="Text 8"/>
          <p:cNvSpPr/>
          <p:nvPr>
            <p:custDataLst>
              <p:tags r:id="rId3"/>
            </p:custDataLst>
          </p:nvPr>
        </p:nvSpPr>
        <p:spPr>
          <a:xfrm>
            <a:off x="1051560" y="3730752"/>
            <a:ext cx="2926080" cy="1636776"/>
          </a:xfrm>
          <a:prstGeom prst="rect">
            <a:avLst/>
          </a:prstGeom>
          <a:noFill/>
        </p:spPr>
        <p:txBody>
          <a:bodyPr wrap="square" lIns="127" tIns="127" rIns="127" bIns="127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1E243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负责把历史记录里最相关的片段先捞出来，让召回从“靠翻文件”变成“先有语义命中”。</a:t>
            </a:r>
            <a:endParaRPr lang="en-US" sz="1300" dirty="0"/>
          </a:p>
        </p:txBody>
      </p:sp>
      <p:sp>
        <p:nvSpPr>
          <p:cNvPr id="11" name="Shape 9"/>
          <p:cNvSpPr/>
          <p:nvPr>
            <p:custDataLst>
              <p:tags r:id="rId4"/>
            </p:custDataLst>
          </p:nvPr>
        </p:nvSpPr>
        <p:spPr>
          <a:xfrm>
            <a:off x="4425696" y="3127248"/>
            <a:ext cx="3337560" cy="2423160"/>
          </a:xfrm>
          <a:prstGeom prst="roundRect">
            <a:avLst>
              <a:gd name="adj" fmla="val 1887"/>
            </a:avLst>
          </a:prstGeom>
          <a:solidFill>
            <a:srgbClr val="EEF4FF"/>
          </a:solidFill>
          <a:ln w="12700">
            <a:solidFill>
              <a:srgbClr val="C9D3E1"/>
            </a:solidFill>
            <a:prstDash val="solid"/>
          </a:ln>
        </p:spPr>
      </p:sp>
      <p:sp>
        <p:nvSpPr>
          <p:cNvPr id="12" name="Text 10"/>
          <p:cNvSpPr/>
          <p:nvPr>
            <p:custDataLst>
              <p:tags r:id="rId5"/>
            </p:custDataLst>
          </p:nvPr>
        </p:nvSpPr>
        <p:spPr>
          <a:xfrm>
            <a:off x="4654296" y="3346704"/>
            <a:ext cx="2926080" cy="2194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F2A4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gguf</a:t>
            </a:r>
            <a:endParaRPr lang="en-US" sz="1700" dirty="0"/>
          </a:p>
        </p:txBody>
      </p:sp>
      <p:sp>
        <p:nvSpPr>
          <p:cNvPr id="13" name="Text 11"/>
          <p:cNvSpPr/>
          <p:nvPr>
            <p:custDataLst>
              <p:tags r:id="rId6"/>
            </p:custDataLst>
          </p:nvPr>
        </p:nvSpPr>
        <p:spPr>
          <a:xfrm>
            <a:off x="4654296" y="3730752"/>
            <a:ext cx="2926080" cy="1636776"/>
          </a:xfrm>
          <a:prstGeom prst="rect">
            <a:avLst/>
          </a:prstGeom>
          <a:noFill/>
        </p:spPr>
        <p:txBody>
          <a:bodyPr wrap="square" lIns="127" tIns="127" rIns="127" bIns="127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1E243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是这层语义召回的核心工具。它提供本地向量语义能力，让长期记忆具备“找得到、少漏、接得上”的基础条件。</a:t>
            </a:r>
            <a:endParaRPr lang="en-US" sz="1300" dirty="0"/>
          </a:p>
        </p:txBody>
      </p:sp>
      <p:sp>
        <p:nvSpPr>
          <p:cNvPr id="14" name="Shape 12"/>
          <p:cNvSpPr/>
          <p:nvPr>
            <p:custDataLst>
              <p:tags r:id="rId7"/>
            </p:custDataLst>
          </p:nvPr>
        </p:nvSpPr>
        <p:spPr>
          <a:xfrm>
            <a:off x="8028432" y="3127248"/>
            <a:ext cx="3337560" cy="2423160"/>
          </a:xfrm>
          <a:prstGeom prst="roundRect">
            <a:avLst>
              <a:gd name="adj" fmla="val 1887"/>
            </a:avLst>
          </a:prstGeom>
          <a:solidFill>
            <a:srgbClr val="FFFFFF"/>
          </a:solidFill>
          <a:ln w="12700">
            <a:solidFill>
              <a:srgbClr val="C9D3E1"/>
            </a:solidFill>
            <a:prstDash val="solid"/>
          </a:ln>
        </p:spPr>
      </p:sp>
      <p:sp>
        <p:nvSpPr>
          <p:cNvPr id="15" name="Text 13"/>
          <p:cNvSpPr/>
          <p:nvPr>
            <p:custDataLst>
              <p:tags r:id="rId8"/>
            </p:custDataLst>
          </p:nvPr>
        </p:nvSpPr>
        <p:spPr>
          <a:xfrm>
            <a:off x="8257032" y="3346704"/>
            <a:ext cx="2926080" cy="2194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F2A4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cognition</a:t>
            </a:r>
            <a:endParaRPr lang="en-US" sz="1700" dirty="0"/>
          </a:p>
        </p:txBody>
      </p:sp>
      <p:sp>
        <p:nvSpPr>
          <p:cNvPr id="16" name="Text 14"/>
          <p:cNvSpPr/>
          <p:nvPr>
            <p:custDataLst>
              <p:tags r:id="rId9"/>
            </p:custDataLst>
          </p:nvPr>
        </p:nvSpPr>
        <p:spPr>
          <a:xfrm>
            <a:off x="8257032" y="3730752"/>
            <a:ext cx="2926080" cy="1636776"/>
          </a:xfrm>
          <a:prstGeom prst="rect">
            <a:avLst/>
          </a:prstGeom>
          <a:noFill/>
        </p:spPr>
        <p:txBody>
          <a:bodyPr wrap="square" lIns="127" tIns="127" rIns="127" bIns="127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1E243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负责把召回出来的历史结论重新组织进当前判断里，让记忆不只是被找到，而是真正参与今天的分析和决策。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868680" y="5797296"/>
            <a:ext cx="1005840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F2A4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这一层体现的不是“多用了一个模型文件”，而是已经开始把工具调用推进到记忆系统的底层能力建设。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11475720" y="6492240"/>
            <a:ext cx="228600" cy="14630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F6B7A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9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1F2A44"/>
          </a:solidFill>
          <a:ln w="12700">
            <a:solidFill>
              <a:srgbClr val="1F2A44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164592"/>
            <a:ext cx="3108960" cy="1645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DCE6FB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START SMALL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859536"/>
            <a:ext cx="10241280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1E243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如果你也想搭，从这四步开始</a:t>
            </a:r>
            <a:endParaRPr lang="en-US" sz="2500" dirty="0"/>
          </a:p>
        </p:txBody>
      </p:sp>
      <p:sp>
        <p:nvSpPr>
          <p:cNvPr id="5" name="Shape 3"/>
          <p:cNvSpPr/>
          <p:nvPr/>
        </p:nvSpPr>
        <p:spPr>
          <a:xfrm>
            <a:off x="548640" y="1371600"/>
            <a:ext cx="11018520" cy="0"/>
          </a:xfrm>
          <a:prstGeom prst="line">
            <a:avLst/>
          </a:prstGeom>
          <a:noFill/>
          <a:ln w="12700">
            <a:solidFill>
              <a:srgbClr val="C9D3E1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77240" y="1755648"/>
            <a:ext cx="10652760" cy="1042416"/>
          </a:xfrm>
          <a:prstGeom prst="roundRect">
            <a:avLst>
              <a:gd name="adj" fmla="val 5263"/>
            </a:avLst>
          </a:prstGeom>
          <a:solidFill>
            <a:srgbClr val="EAF1FF"/>
          </a:solidFill>
          <a:ln w="12700">
            <a:solidFill>
              <a:srgbClr val="6E8FD8">
                <a:alpha val="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05840" y="2011680"/>
            <a:ext cx="1005840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i="1" dirty="0">
                <a:solidFill>
                  <a:srgbClr val="1F2A4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先搭顺序，再追求完整；先能稳定跑，再谈系统丰富。</a:t>
            </a:r>
            <a:endParaRPr lang="en-US" sz="2200" dirty="0"/>
          </a:p>
        </p:txBody>
      </p:sp>
      <p:sp>
        <p:nvSpPr>
          <p:cNvPr id="8" name="Shape 6"/>
          <p:cNvSpPr/>
          <p:nvPr/>
        </p:nvSpPr>
        <p:spPr>
          <a:xfrm>
            <a:off x="446913" y="3840480"/>
            <a:ext cx="2697480" cy="1737360"/>
          </a:xfrm>
          <a:prstGeom prst="roundRect">
            <a:avLst>
              <a:gd name="adj" fmla="val 2632"/>
            </a:avLst>
          </a:prstGeom>
          <a:solidFill>
            <a:srgbClr val="FFFFFF"/>
          </a:solidFill>
          <a:ln w="12700">
            <a:solidFill>
              <a:srgbClr val="6E8FD8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11505" y="4005072"/>
            <a:ext cx="384048" cy="384048"/>
          </a:xfrm>
          <a:prstGeom prst="ellipse">
            <a:avLst/>
          </a:prstGeom>
          <a:solidFill>
            <a:srgbClr val="6E8FD8"/>
          </a:solidFill>
          <a:ln w="12700">
            <a:solidFill>
              <a:srgbClr val="6E8FD8">
                <a:alpha val="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11505" y="4032504"/>
            <a:ext cx="384048" cy="12801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1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1105281" y="3986784"/>
            <a:ext cx="1600200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F2A4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统一入口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611505" y="4498848"/>
            <a:ext cx="2267712" cy="658368"/>
          </a:xfrm>
          <a:prstGeom prst="rect">
            <a:avLst/>
          </a:prstGeom>
          <a:noFill/>
        </p:spPr>
        <p:txBody>
          <a:bodyPr wrap="square" lIns="127" tIns="127" rIns="127" bIns="127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E243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不要让消息直接落正式台账，先有一层路由判断。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3336417" y="3840480"/>
            <a:ext cx="2697480" cy="1737360"/>
          </a:xfrm>
          <a:prstGeom prst="roundRect">
            <a:avLst>
              <a:gd name="adj" fmla="val 2632"/>
            </a:avLst>
          </a:prstGeom>
          <a:solidFill>
            <a:srgbClr val="EEF4FF"/>
          </a:solidFill>
          <a:ln w="12700">
            <a:solidFill>
              <a:srgbClr val="C9D3E1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501009" y="4005072"/>
            <a:ext cx="384048" cy="384048"/>
          </a:xfrm>
          <a:prstGeom prst="ellipse">
            <a:avLst/>
          </a:prstGeom>
          <a:solidFill>
            <a:srgbClr val="6E8FD8"/>
          </a:solidFill>
          <a:ln w="12700">
            <a:solidFill>
              <a:srgbClr val="6E8FD8">
                <a:alpha val="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501009" y="4032504"/>
            <a:ext cx="384048" cy="12801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2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3994785" y="3986784"/>
            <a:ext cx="1600200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F2A4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拆开分工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3501009" y="4498848"/>
            <a:ext cx="2267712" cy="658368"/>
          </a:xfrm>
          <a:prstGeom prst="rect">
            <a:avLst/>
          </a:prstGeom>
          <a:noFill/>
        </p:spPr>
        <p:txBody>
          <a:bodyPr wrap="square" lIns="127" tIns="127" rIns="127" bIns="127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E243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把提醒、今日聚焦、每日总结分开，不要混成一团。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6225921" y="3840480"/>
            <a:ext cx="2697480" cy="1737360"/>
          </a:xfrm>
          <a:prstGeom prst="roundRect">
            <a:avLst>
              <a:gd name="adj" fmla="val 2632"/>
            </a:avLst>
          </a:prstGeom>
          <a:solidFill>
            <a:srgbClr val="FFFFFF"/>
          </a:solidFill>
          <a:ln w="12700">
            <a:solidFill>
              <a:srgbClr val="C9D3E1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390513" y="4005072"/>
            <a:ext cx="384048" cy="384048"/>
          </a:xfrm>
          <a:prstGeom prst="ellipse">
            <a:avLst/>
          </a:prstGeom>
          <a:solidFill>
            <a:srgbClr val="6E8FD8"/>
          </a:solidFill>
          <a:ln w="12700">
            <a:solidFill>
              <a:srgbClr val="6E8FD8">
                <a:alpha val="0"/>
              </a:srgbClr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390513" y="4032504"/>
            <a:ext cx="384048" cy="12801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3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6884289" y="3986784"/>
            <a:ext cx="1600200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F2A4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补执行层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6390513" y="4498848"/>
            <a:ext cx="2267712" cy="658368"/>
          </a:xfrm>
          <a:prstGeom prst="rect">
            <a:avLst/>
          </a:prstGeom>
          <a:noFill/>
        </p:spPr>
        <p:txBody>
          <a:bodyPr wrap="square" lIns="127" tIns="127" rIns="127" bIns="127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E243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别把所有复杂任务都压在主会话里，给执行留承接层。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9115425" y="3840480"/>
            <a:ext cx="2697480" cy="1737360"/>
          </a:xfrm>
          <a:prstGeom prst="roundRect">
            <a:avLst>
              <a:gd name="adj" fmla="val 2632"/>
            </a:avLst>
          </a:prstGeom>
          <a:solidFill>
            <a:srgbClr val="EEF4FF"/>
          </a:solidFill>
          <a:ln w="12700">
            <a:solidFill>
              <a:srgbClr val="C9D3E1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9280017" y="4005072"/>
            <a:ext cx="384048" cy="384048"/>
          </a:xfrm>
          <a:prstGeom prst="ellipse">
            <a:avLst/>
          </a:prstGeom>
          <a:solidFill>
            <a:srgbClr val="6E8FD8"/>
          </a:solidFill>
          <a:ln w="12700">
            <a:solidFill>
              <a:srgbClr val="6E8FD8">
                <a:alpha val="0"/>
              </a:srgbClr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9280017" y="4032504"/>
            <a:ext cx="384048" cy="12801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4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9773793" y="3986784"/>
            <a:ext cx="1600200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F2A4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补记忆层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9280017" y="4498848"/>
            <a:ext cx="2267712" cy="658368"/>
          </a:xfrm>
          <a:prstGeom prst="rect">
            <a:avLst/>
          </a:prstGeom>
          <a:noFill/>
        </p:spPr>
        <p:txBody>
          <a:bodyPr wrap="square" lIns="127" tIns="127" rIns="127" bIns="127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E243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最后再加长期记忆和复盘，让历史真正回到今天。</a:t>
            </a:r>
            <a:endParaRPr lang="en-US" sz="1150" dirty="0"/>
          </a:p>
        </p:txBody>
      </p:sp>
      <p:sp>
        <p:nvSpPr>
          <p:cNvPr id="28" name="Text 26"/>
          <p:cNvSpPr/>
          <p:nvPr/>
        </p:nvSpPr>
        <p:spPr>
          <a:xfrm>
            <a:off x="11475720" y="6492240"/>
            <a:ext cx="228600" cy="14630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F6B7A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10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F2A4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1874520"/>
            <a:ext cx="8778240" cy="43891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重点不是让 AI 多回答一次，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914400" y="2542032"/>
            <a:ext cx="7315200" cy="43891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3B94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而是让协作少断一次。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932688" y="3675888"/>
            <a:ext cx="804672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i="1" dirty="0">
                <a:solidFill>
                  <a:srgbClr val="DCE6F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从消息流到工作流，本质上是在给协作补“承接层”。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914400" y="4709160"/>
            <a:ext cx="219456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DCE6FB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THANKS</a:t>
            </a:r>
            <a:endParaRPr lang="en-US" sz="2000" dirty="0"/>
          </a:p>
        </p:txBody>
      </p:sp>
    </p:spTree>
  </p:cSld>
  <p:clrMapOvr>
    <a:masterClrMapping/>
  </p:clrMapOvr>
</p:sld>
</file>

<file path=ppt/tags/tag1.xml><?xml version="1.0" encoding="utf-8"?>
<p:tagLst xmlns:p="http://schemas.openxmlformats.org/presentationml/2006/main">
  <p:tag name="KSO_WM_DIAGRAM_VIRTUALLY_FRAME" val="{&quot;height&quot;:201.59999999999997,&quot;left&quot;:63.36,&quot;top&quot;:246.24,&quot;width&quot;:817.2}"/>
</p:tagLst>
</file>

<file path=ppt/tags/tag2.xml><?xml version="1.0" encoding="utf-8"?>
<p:tagLst xmlns:p="http://schemas.openxmlformats.org/presentationml/2006/main">
  <p:tag name="KSO_WM_DIAGRAM_VIRTUALLY_FRAME" val="{&quot;height&quot;:201.59999999999997,&quot;left&quot;:63.36,&quot;top&quot;:246.24,&quot;width&quot;:817.2}"/>
</p:tagLst>
</file>

<file path=ppt/tags/tag3.xml><?xml version="1.0" encoding="utf-8"?>
<p:tagLst xmlns:p="http://schemas.openxmlformats.org/presentationml/2006/main">
  <p:tag name="KSO_WM_DIAGRAM_VIRTUALLY_FRAME" val="{&quot;height&quot;:201.59999999999997,&quot;left&quot;:63.36,&quot;top&quot;:246.24,&quot;width&quot;:817.2}"/>
</p:tagLst>
</file>

<file path=ppt/tags/tag4.xml><?xml version="1.0" encoding="utf-8"?>
<p:tagLst xmlns:p="http://schemas.openxmlformats.org/presentationml/2006/main">
  <p:tag name="KSO_WM_DIAGRAM_VIRTUALLY_FRAME" val="{&quot;height&quot;:201.59999999999997,&quot;left&quot;:63.36,&quot;top&quot;:246.24,&quot;width&quot;:817.2}"/>
</p:tagLst>
</file>

<file path=ppt/tags/tag5.xml><?xml version="1.0" encoding="utf-8"?>
<p:tagLst xmlns:p="http://schemas.openxmlformats.org/presentationml/2006/main">
  <p:tag name="KSO_WM_DIAGRAM_VIRTUALLY_FRAME" val="{&quot;height&quot;:201.59999999999997,&quot;left&quot;:63.36,&quot;top&quot;:246.24,&quot;width&quot;:817.2}"/>
</p:tagLst>
</file>

<file path=ppt/tags/tag6.xml><?xml version="1.0" encoding="utf-8"?>
<p:tagLst xmlns:p="http://schemas.openxmlformats.org/presentationml/2006/main">
  <p:tag name="KSO_WM_DIAGRAM_VIRTUALLY_FRAME" val="{&quot;height&quot;:201.59999999999997,&quot;left&quot;:63.36,&quot;top&quot;:246.24,&quot;width&quot;:817.2}"/>
</p:tagLst>
</file>

<file path=ppt/tags/tag7.xml><?xml version="1.0" encoding="utf-8"?>
<p:tagLst xmlns:p="http://schemas.openxmlformats.org/presentationml/2006/main">
  <p:tag name="KSO_WM_DIAGRAM_VIRTUALLY_FRAME" val="{&quot;height&quot;:213.74999999999994,&quot;left&quot;:63.35,&quot;top&quot;:234.09,&quot;width&quot;:817.21}"/>
</p:tagLst>
</file>

<file path=ppt/tags/tag8.xml><?xml version="1.0" encoding="utf-8"?>
<p:tagLst xmlns:p="http://schemas.openxmlformats.org/presentationml/2006/main">
  <p:tag name="KSO_WM_DIAGRAM_VIRTUALLY_FRAME" val="{&quot;height&quot;:213.74999999999994,&quot;left&quot;:63.35,&quot;top&quot;:234.09,&quot;width&quot;:817.21}"/>
</p:tagLst>
</file>

<file path=ppt/tags/tag9.xml><?xml version="1.0" encoding="utf-8"?>
<p:tagLst xmlns:p="http://schemas.openxmlformats.org/presentationml/2006/main">
  <p:tag name="KSO_WM_DIAGRAM_VIRTUALLY_FRAME" val="{&quot;height&quot;:213.74999999999994,&quot;left&quot;:63.35,&quot;top&quot;:234.09,&quot;width&quot;:817.21}"/>
</p:tagLst>
</file>

<file path=ppt/tags/tag10.xml><?xml version="1.0" encoding="utf-8"?>
<p:tagLst xmlns:p="http://schemas.openxmlformats.org/presentationml/2006/main">
  <p:tag name="KSO_WM_DIAGRAM_VIRTUALLY_FRAME" val="{&quot;height&quot;:213.74999999999994,&quot;left&quot;:63.35,&quot;top&quot;:234.09,&quot;width&quot;:817.21}"/>
</p:tagLst>
</file>

<file path=ppt/tags/tag11.xml><?xml version="1.0" encoding="utf-8"?>
<p:tagLst xmlns:p="http://schemas.openxmlformats.org/presentationml/2006/main">
  <p:tag name="KSO_WM_DIAGRAM_VIRTUALLY_FRAME" val="{&quot;height&quot;:213.74999999999994,&quot;left&quot;:63.35,&quot;top&quot;:234.09,&quot;width&quot;:817.21}"/>
</p:tagLst>
</file>

<file path=ppt/tags/tag12.xml><?xml version="1.0" encoding="utf-8"?>
<p:tagLst xmlns:p="http://schemas.openxmlformats.org/presentationml/2006/main">
  <p:tag name="KSO_WM_DIAGRAM_VIRTUALLY_FRAME" val="{&quot;height&quot;:213.74999999999994,&quot;left&quot;:63.35,&quot;top&quot;:234.09,&quot;width&quot;:817.21}"/>
</p:tagLst>
</file>

<file path=ppt/tags/tag13.xml><?xml version="1.0" encoding="utf-8"?>
<p:tagLst xmlns:p="http://schemas.openxmlformats.org/presentationml/2006/main">
  <p:tag name="KSO_WM_DIAGRAM_VIRTUALLY_FRAME" val="{&quot;height&quot;:169.20000000000005,&quot;left&quot;:64.8,&quot;top&quot;:250.56,&quot;width&quot;:834.4799999999999}"/>
</p:tagLst>
</file>

<file path=ppt/tags/tag14.xml><?xml version="1.0" encoding="utf-8"?>
<p:tagLst xmlns:p="http://schemas.openxmlformats.org/presentationml/2006/main">
  <p:tag name="KSO_WM_DIAGRAM_VIRTUALLY_FRAME" val="{&quot;height&quot;:169.20000000000005,&quot;left&quot;:64.8,&quot;top&quot;:250.56,&quot;width&quot;:834.4799999999999}"/>
</p:tagLst>
</file>

<file path=ppt/tags/tag15.xml><?xml version="1.0" encoding="utf-8"?>
<p:tagLst xmlns:p="http://schemas.openxmlformats.org/presentationml/2006/main">
  <p:tag name="KSO_WM_DIAGRAM_VIRTUALLY_FRAME" val="{&quot;height&quot;:169.20000000000005,&quot;left&quot;:64.8,&quot;top&quot;:250.56,&quot;width&quot;:834.4799999999999}"/>
</p:tagLst>
</file>

<file path=ppt/tags/tag16.xml><?xml version="1.0" encoding="utf-8"?>
<p:tagLst xmlns:p="http://schemas.openxmlformats.org/presentationml/2006/main">
  <p:tag name="KSO_WM_DIAGRAM_VIRTUALLY_FRAME" val="{&quot;height&quot;:169.20000000000005,&quot;left&quot;:64.8,&quot;top&quot;:250.56,&quot;width&quot;:834.4799999999999}"/>
</p:tagLst>
</file>

<file path=ppt/tags/tag17.xml><?xml version="1.0" encoding="utf-8"?>
<p:tagLst xmlns:p="http://schemas.openxmlformats.org/presentationml/2006/main">
  <p:tag name="KSO_WM_DIAGRAM_VIRTUALLY_FRAME" val="{&quot;height&quot;:169.20000000000005,&quot;left&quot;:64.8,&quot;top&quot;:250.56,&quot;width&quot;:834.4799999999999}"/>
</p:tagLst>
</file>

<file path=ppt/tags/tag18.xml><?xml version="1.0" encoding="utf-8"?>
<p:tagLst xmlns:p="http://schemas.openxmlformats.org/presentationml/2006/main">
  <p:tag name="KSO_WM_DIAGRAM_VIRTUALLY_FRAME" val="{&quot;height&quot;:169.20000000000005,&quot;left&quot;:64.8,&quot;top&quot;:250.56,&quot;width&quot;:834.4799999999999}"/>
</p:tagLst>
</file>

<file path=ppt/tags/tag19.xml><?xml version="1.0" encoding="utf-8"?>
<p:tagLst xmlns:p="http://schemas.openxmlformats.org/presentationml/2006/main">
  <p:tag name="KSO_WM_DIAGRAM_VIRTUALLY_FRAME" val="{&quot;height&quot;:169.20000000000005,&quot;left&quot;:64.8,&quot;top&quot;:250.56,&quot;width&quot;:834.4799999999999}"/>
</p:tagLst>
</file>

<file path=ppt/tags/tag20.xml><?xml version="1.0" encoding="utf-8"?>
<p:tagLst xmlns:p="http://schemas.openxmlformats.org/presentationml/2006/main">
  <p:tag name="KSO_WM_DIAGRAM_VIRTUALLY_FRAME" val="{&quot;height&quot;:169.20000000000005,&quot;left&quot;:64.8,&quot;top&quot;:250.56,&quot;width&quot;:834.4799999999999}"/>
</p:tagLst>
</file>

<file path=ppt/tags/tag21.xml><?xml version="1.0" encoding="utf-8"?>
<p:tagLst xmlns:p="http://schemas.openxmlformats.org/presentationml/2006/main">
  <p:tag name="KSO_WM_DIAGRAM_VIRTUALLY_FRAME" val="{&quot;height&quot;:169.20000000000005,&quot;left&quot;:64.8,&quot;top&quot;:250.56,&quot;width&quot;:834.4799999999999}"/>
</p:tagLst>
</file>

<file path=ppt/tags/tag22.xml><?xml version="1.0" encoding="utf-8"?>
<p:tagLst xmlns:p="http://schemas.openxmlformats.org/presentationml/2006/main">
  <p:tag name="KSO_WM_DIAGRAM_VIRTUALLY_FRAME" val="{&quot;height&quot;:195.83999999999997,&quot;left&quot;:63.36,&quot;top&quot;:249.11999999999998,&quot;width&quot;:817.2}"/>
</p:tagLst>
</file>

<file path=ppt/tags/tag23.xml><?xml version="1.0" encoding="utf-8"?>
<p:tagLst xmlns:p="http://schemas.openxmlformats.org/presentationml/2006/main">
  <p:tag name="KSO_WM_DIAGRAM_VIRTUALLY_FRAME" val="{&quot;height&quot;:195.83999999999997,&quot;left&quot;:63.36,&quot;top&quot;:249.11999999999998,&quot;width&quot;:817.2}"/>
</p:tagLst>
</file>

<file path=ppt/tags/tag24.xml><?xml version="1.0" encoding="utf-8"?>
<p:tagLst xmlns:p="http://schemas.openxmlformats.org/presentationml/2006/main">
  <p:tag name="KSO_WM_DIAGRAM_VIRTUALLY_FRAME" val="{&quot;height&quot;:195.83999999999997,&quot;left&quot;:63.36,&quot;top&quot;:249.11999999999998,&quot;width&quot;:817.2}"/>
</p:tagLst>
</file>

<file path=ppt/tags/tag25.xml><?xml version="1.0" encoding="utf-8"?>
<p:tagLst xmlns:p="http://schemas.openxmlformats.org/presentationml/2006/main">
  <p:tag name="KSO_WM_DIAGRAM_VIRTUALLY_FRAME" val="{&quot;height&quot;:195.83999999999997,&quot;left&quot;:63.36,&quot;top&quot;:249.11999999999998,&quot;width&quot;:817.2}"/>
</p:tagLst>
</file>

<file path=ppt/tags/tag26.xml><?xml version="1.0" encoding="utf-8"?>
<p:tagLst xmlns:p="http://schemas.openxmlformats.org/presentationml/2006/main">
  <p:tag name="KSO_WM_DIAGRAM_VIRTUALLY_FRAME" val="{&quot;height&quot;:195.83999999999997,&quot;left&quot;:63.36,&quot;top&quot;:249.11999999999998,&quot;width&quot;:817.2}"/>
</p:tagLst>
</file>

<file path=ppt/tags/tag27.xml><?xml version="1.0" encoding="utf-8"?>
<p:tagLst xmlns:p="http://schemas.openxmlformats.org/presentationml/2006/main">
  <p:tag name="KSO_WM_DIAGRAM_VIRTUALLY_FRAME" val="{&quot;height&quot;:195.83999999999997,&quot;left&quot;:63.36,&quot;top&quot;:249.11999999999998,&quot;width&quot;:817.2}"/>
</p:tagLst>
</file>

<file path=ppt/tags/tag28.xml><?xml version="1.0" encoding="utf-8"?>
<p:tagLst xmlns:p="http://schemas.openxmlformats.org/presentationml/2006/main">
  <p:tag name="KSO_WM_DIAGRAM_VIRTUALLY_FRAME" val="{&quot;height&quot;:176.4,&quot;left&quot;:64.8,&quot;top&quot;:248.4,&quot;width&quot;:830.8799999999999}"/>
</p:tagLst>
</file>

<file path=ppt/tags/tag29.xml><?xml version="1.0" encoding="utf-8"?>
<p:tagLst xmlns:p="http://schemas.openxmlformats.org/presentationml/2006/main">
  <p:tag name="KSO_WM_DIAGRAM_VIRTUALLY_FRAME" val="{&quot;height&quot;:176.4,&quot;left&quot;:64.8,&quot;top&quot;:248.4,&quot;width&quot;:830.8799999999999}"/>
</p:tagLst>
</file>

<file path=ppt/tags/tag30.xml><?xml version="1.0" encoding="utf-8"?>
<p:tagLst xmlns:p="http://schemas.openxmlformats.org/presentationml/2006/main">
  <p:tag name="KSO_WM_DIAGRAM_VIRTUALLY_FRAME" val="{&quot;height&quot;:176.4,&quot;left&quot;:64.8,&quot;top&quot;:248.4,&quot;width&quot;:830.8799999999999}"/>
</p:tagLst>
</file>

<file path=ppt/tags/tag31.xml><?xml version="1.0" encoding="utf-8"?>
<p:tagLst xmlns:p="http://schemas.openxmlformats.org/presentationml/2006/main">
  <p:tag name="KSO_WM_DIAGRAM_VIRTUALLY_FRAME" val="{&quot;height&quot;:176.4,&quot;left&quot;:64.8,&quot;top&quot;:248.4,&quot;width&quot;:830.8799999999999}"/>
</p:tagLst>
</file>

<file path=ppt/tags/tag32.xml><?xml version="1.0" encoding="utf-8"?>
<p:tagLst xmlns:p="http://schemas.openxmlformats.org/presentationml/2006/main">
  <p:tag name="KSO_WM_DIAGRAM_VIRTUALLY_FRAME" val="{&quot;height&quot;:176.4,&quot;left&quot;:64.8,&quot;top&quot;:248.4,&quot;width&quot;:830.8799999999999}"/>
</p:tagLst>
</file>

<file path=ppt/tags/tag33.xml><?xml version="1.0" encoding="utf-8"?>
<p:tagLst xmlns:p="http://schemas.openxmlformats.org/presentationml/2006/main">
  <p:tag name="KSO_WM_DIAGRAM_VIRTUALLY_FRAME" val="{&quot;height&quot;:176.4,&quot;left&quot;:64.8,&quot;top&quot;:248.4,&quot;width&quot;:830.8799999999999}"/>
</p:tagLst>
</file>

<file path=ppt/tags/tag34.xml><?xml version="1.0" encoding="utf-8"?>
<p:tagLst xmlns:p="http://schemas.openxmlformats.org/presentationml/2006/main">
  <p:tag name="KSO_WM_DIAGRAM_VIRTUALLY_FRAME" val="{&quot;height&quot;:176.4,&quot;left&quot;:64.8,&quot;top&quot;:248.4,&quot;width&quot;:830.8799999999999}"/>
</p:tagLst>
</file>

<file path=ppt/tags/tag35.xml><?xml version="1.0" encoding="utf-8"?>
<p:tagLst xmlns:p="http://schemas.openxmlformats.org/presentationml/2006/main">
  <p:tag name="KSO_WM_DIAGRAM_VIRTUALLY_FRAME" val="{&quot;height&quot;:176.4,&quot;left&quot;:64.8,&quot;top&quot;:248.4,&quot;width&quot;:830.8799999999999}"/>
</p:tagLst>
</file>

<file path=ppt/tags/tag36.xml><?xml version="1.0" encoding="utf-8"?>
<p:tagLst xmlns:p="http://schemas.openxmlformats.org/presentationml/2006/main">
  <p:tag name="KSO_WM_DIAGRAM_VIRTUALLY_FRAME" val="{&quot;height&quot;:176.4,&quot;left&quot;:64.8,&quot;top&quot;:248.4,&quot;width&quot;:830.8799999999999}"/>
</p:tagLst>
</file>

<file path=ppt/tags/tag37.xml><?xml version="1.0" encoding="utf-8"?>
<p:tagLst xmlns:p="http://schemas.openxmlformats.org/presentationml/2006/main">
  <p:tag name="KSO_WM_DIAGRAM_VIRTUALLY_FRAME" val="{&quot;height&quot;:190.79999999999995,&quot;left&quot;:64.8,&quot;top&quot;:246.24,&quot;width&quot;:830.1600000000001}"/>
</p:tagLst>
</file>

<file path=ppt/tags/tag38.xml><?xml version="1.0" encoding="utf-8"?>
<p:tagLst xmlns:p="http://schemas.openxmlformats.org/presentationml/2006/main">
  <p:tag name="KSO_WM_DIAGRAM_VIRTUALLY_FRAME" val="{&quot;height&quot;:190.79999999999995,&quot;left&quot;:64.8,&quot;top&quot;:246.24,&quot;width&quot;:830.1600000000001}"/>
</p:tagLst>
</file>

<file path=ppt/tags/tag39.xml><?xml version="1.0" encoding="utf-8"?>
<p:tagLst xmlns:p="http://schemas.openxmlformats.org/presentationml/2006/main">
  <p:tag name="KSO_WM_DIAGRAM_VIRTUALLY_FRAME" val="{&quot;height&quot;:190.79999999999995,&quot;left&quot;:64.8,&quot;top&quot;:246.24,&quot;width&quot;:830.1600000000001}"/>
</p:tagLst>
</file>

<file path=ppt/tags/tag40.xml><?xml version="1.0" encoding="utf-8"?>
<p:tagLst xmlns:p="http://schemas.openxmlformats.org/presentationml/2006/main">
  <p:tag name="KSO_WM_DIAGRAM_VIRTUALLY_FRAME" val="{&quot;height&quot;:190.79999999999995,&quot;left&quot;:64.8,&quot;top&quot;:246.24,&quot;width&quot;:830.1600000000001}"/>
</p:tagLst>
</file>

<file path=ppt/tags/tag41.xml><?xml version="1.0" encoding="utf-8"?>
<p:tagLst xmlns:p="http://schemas.openxmlformats.org/presentationml/2006/main">
  <p:tag name="KSO_WM_DIAGRAM_VIRTUALLY_FRAME" val="{&quot;height&quot;:190.79999999999995,&quot;left&quot;:64.8,&quot;top&quot;:246.24,&quot;width&quot;:830.1600000000001}"/>
</p:tagLst>
</file>

<file path=ppt/tags/tag42.xml><?xml version="1.0" encoding="utf-8"?>
<p:tagLst xmlns:p="http://schemas.openxmlformats.org/presentationml/2006/main">
  <p:tag name="KSO_WM_DIAGRAM_VIRTUALLY_FRAME" val="{&quot;height&quot;:190.79999999999995,&quot;left&quot;:64.8,&quot;top&quot;:246.24,&quot;width&quot;:830.1600000000001}"/>
</p:tagLst>
</file>

<file path=ppt/tags/tag43.xml><?xml version="1.0" encoding="utf-8"?>
<p:tagLst xmlns:p="http://schemas.openxmlformats.org/presentationml/2006/main">
  <p:tag name="KSO_WM_DIAGRAM_VIRTUALLY_FRAME" val="{&quot;height&quot;:190.79999999999995,&quot;left&quot;:64.8,&quot;top&quot;:246.24,&quot;width&quot;:830.1600000000001}"/>
</p:tagLst>
</file>

<file path=ppt/tags/tag44.xml><?xml version="1.0" encoding="utf-8"?>
<p:tagLst xmlns:p="http://schemas.openxmlformats.org/presentationml/2006/main">
  <p:tag name="KSO_WM_DIAGRAM_VIRTUALLY_FRAME" val="{&quot;height&quot;:190.79999999999995,&quot;left&quot;:64.8,&quot;top&quot;:246.24,&quot;width&quot;:830.1600000000001}"/>
</p:tagLst>
</file>

<file path=ppt/tags/tag45.xml><?xml version="1.0" encoding="utf-8"?>
<p:tagLst xmlns:p="http://schemas.openxmlformats.org/presentationml/2006/main">
  <p:tag name="KSO_WM_DIAGRAM_VIRTUALLY_FRAME" val="{&quot;height&quot;:190.79999999999995,&quot;left&quot;:64.8,&quot;top&quot;:246.24,&quot;width&quot;:830.1600000000001}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Microsoft YaHe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Microsoft YaHe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Microsoft YaHe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Microsoft YaHe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2179</Words>
  <Application>WPS 演示</Application>
  <PresentationFormat>On-screen Show (16:9)</PresentationFormat>
  <Paragraphs>232</Paragraphs>
  <Slides>11</Slides>
  <Notes>11</Notes>
  <HiddenSlides>0</HiddenSlides>
  <MMClips>0</MMClips>
  <ScaleCrop>false</ScaleCrop>
  <HeadingPairs>
    <vt:vector size="6" baseType="variant">
      <vt:variant>
        <vt:lpstr>已用的字体</vt:lpstr>
      </vt:variant>
      <vt:variant>
        <vt:i4>9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11</vt:i4>
      </vt:variant>
    </vt:vector>
  </HeadingPairs>
  <TitlesOfParts>
    <vt:vector size="21" baseType="lpstr">
      <vt:lpstr>Arial</vt:lpstr>
      <vt:lpstr>宋体</vt:lpstr>
      <vt:lpstr>Wingdings</vt:lpstr>
      <vt:lpstr>Arial</vt:lpstr>
      <vt:lpstr>Arial</vt:lpstr>
      <vt:lpstr>微软雅黑</vt:lpstr>
      <vt:lpstr>微软雅黑</vt:lpstr>
      <vt:lpstr>Arial Unicode MS</vt:lpstr>
      <vt:lpstr>等线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OpenClaw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从消息流到工作流：AI 如何把零散协作变成持续推进</dc:title>
  <dc:creator>OpenClaw</dc:creator>
  <dc:subject>从消息流到工作流：AI 如何把零散协作变成持续推进</dc:subject>
  <cp:lastModifiedBy>谭晓雯</cp:lastModifiedBy>
  <cp:revision>4</cp:revision>
  <dcterms:created xsi:type="dcterms:W3CDTF">2026-04-02T03:31:00Z</dcterms:created>
  <dcterms:modified xsi:type="dcterms:W3CDTF">2026-04-02T03:36:59Z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D5D4EBA38B7540EFA499B50784E941DC_12</vt:lpwstr>
  </property>
  <property fmtid="{D5CDD505-2E9C-101B-9397-08002B2CF9AE}" pid="3" name="KSOProductBuildVer">
    <vt:lpwstr>2052-12.1.0.25225</vt:lpwstr>
  </property>
</Properties>
</file>