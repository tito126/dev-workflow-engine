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想和大家分享一个关于AI协作方法的实践案例。我们今天不重点讨论模型本身的能力，而是聚焦于一个更实际的问题：如何利用AI，将我们日常工作中零散的协作，设计成一条能够持续推进的工作链路。这是一次关于方法的分享，希望能给大家带来一些启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开始讨论具体工具之前，我们先审视一下我们面临的问题。很多工作，无论是需求沟通、会议结论还是项目推进，都发生在即时通讯的消息流里。但消息流的特性就是零散、易中断，导致很多事情“聊过了，但没接住”。所以，我们的核心问题不是“AI会不会回答”，而是如何确保信息能够被有效承接并持续推进下去。这才是我们需要解决的根本问题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这个问题，我们设计了这样一套协作链路。它不是几个孤立的模块，而是一个完整的流程。信息从聊天消息等输入层进入，经过work-control进行分流和归类，然后进入work-system进行日常的推进和管理。对于复杂任务，会由executor层承接，并通过ACP和Codex进行深度分析和结构化输出。最后，通过memory和cognition层进行历史信息的召回和规则的沉淀，形成一个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接下来，我们分模块来看一下这条链路的具体构成。首先是入口——work-control。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ork-control的核心不是简单地记录信息，而是建立一套“路由规则”。它需要判断一条消息是待办事项、项目专项、提醒，还是需要进一步追问的信息。因此，它更应该被设计成一个技能（skill）加上标准作业流程（SOP），而不是一个简单的文件目录。入口治理的关键在于“少记错”，确保信息被正确地分类和引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处理完入口，我们来看中间的运行环节——work-system。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rk-system的目标不是简单地“记录”，而是确保工作能够持续运行。它通过“今日聚焦”明确当天的优先级，通过“每日总结”提前感知风险和压力，通过“提醒”确保任务不被遗忘。一个好的工作系统，其核心价值在于能够稳定地产出下一步行动，让工作能够日复一日地接续下去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对于复杂任务，我们需要更专业的执行和沉淀机制。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会话适合进行目标澄清和优先级判断，但面对需要长上下文、连续分析文件的复杂任务时，就容易变得混乱。因此，我们引入了executor作为执行承接层，将主会话做出的判断转化为可持续处理的具体任务，确保复杂工作能够被有序地推进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executor层，我们使用ACP和Codex来处理具体任务。主会话将问题梳理成专业的提示词，然后由ACP和Codex进行深度分析和结构化输出。其真正的价值不在于“会看代码”，而在于执行结果的稳定性和可回收性，能够将分析结果无缝回写到项目进度中，形成闭环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需要记忆层和认知层来支撑长期协作。单纯的文件存档是被动的，而memory_search结合本地向量模型，能够实现语义级别的信息召回，让历史知识成为可被调用的资产。同时，cognition-system负责沉淀可复用的判断规则，而不是简单的感想记录，从而支持经验的迁移和复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证明这套链路的有效性，我们来看一个真实的案例——“日志猎人”。这不仅仅是一个日志分析项目，它已经完整地实践了我们刚才讲的链路：从主会话收口，到executor承接，再到ACP+Codex深度分析，最后将结果回写到项目进度中。这个案例证明了我们的方法不是一个概念，而是能够真正落地并产生价值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大家也想尝试这套方法，我建议从这四步开始：首先，做好输入分流，确保信息入口的整洁；其次，建立工作推进的固定落点，让事情能够接续；然后，为复杂任务增加执行承接层；最后，逐步将记忆能力从简单存档升级为主动召回。先跑通一个最小链路，再逐步完善各个层级。今天我最想分享的，不是一个现成的答案，而是这样一种可复用的搭建顺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我的分享就到这里，感谢大家的聆听！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0.svg"/><Relationship Id="rId10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svg"/><Relationship Id="rId8" Type="http://schemas.openxmlformats.org/officeDocument/2006/relationships/image" Target="../media/image27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0.svg"/><Relationship Id="rId10" Type="http://schemas.openxmlformats.org/officeDocument/2006/relationships/image" Target="../media/image29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svg"/><Relationship Id="rId8" Type="http://schemas.openxmlformats.org/officeDocument/2006/relationships/image" Target="../media/image37.png"/><Relationship Id="rId7" Type="http://schemas.openxmlformats.org/officeDocument/2006/relationships/image" Target="../media/image36.svg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6.svg"/><Relationship Id="rId7" Type="http://schemas.openxmlformats.org/officeDocument/2006/relationships/image" Target="../media/image45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8.svg"/><Relationship Id="rId6" Type="http://schemas.openxmlformats.org/officeDocument/2006/relationships/image" Target="../media/image47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svg"/><Relationship Id="rId8" Type="http://schemas.openxmlformats.org/officeDocument/2006/relationships/image" Target="../media/image55.png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8.svg"/><Relationship Id="rId10" Type="http://schemas.openxmlformats.org/officeDocument/2006/relationships/image" Target="../media/image57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png"/><Relationship Id="rId8" Type="http://schemas.openxmlformats.org/officeDocument/2006/relationships/image" Target="../media/image64.svg"/><Relationship Id="rId7" Type="http://schemas.openxmlformats.org/officeDocument/2006/relationships/image" Target="../media/image63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Relationship Id="rId3" Type="http://schemas.openxmlformats.org/officeDocument/2006/relationships/image" Target="../media/image59.png"/><Relationship Id="rId2" Type="http://schemas.openxmlformats.org/officeDocument/2006/relationships/image" Target="../media/image14.sv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6.sv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060">
                <a:alpha val="100000"/>
              </a:srgbClr>
            </a:gs>
            <a:gs pos="80000">
              <a:srgbClr val="0070C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10800000">
            <a:off x="0" y="-25400"/>
            <a:ext cx="12293600" cy="692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-5400000">
            <a:off x="7366000" y="2425700"/>
            <a:ext cx="8077200" cy="200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5407132">
            <a:off x="6223000" y="3486143"/>
            <a:ext cx="6121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1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-5430422">
            <a:off x="7524736" y="1860536"/>
            <a:ext cx="287022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1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-5433054">
            <a:off x="7410435" y="1746235"/>
            <a:ext cx="264163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1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 rot="-5436186">
            <a:off x="7296133" y="1631933"/>
            <a:ext cx="241303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1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 rot="-5439973">
            <a:off x="7194531" y="1517632"/>
            <a:ext cx="218443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1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-5444644">
            <a:off x="7080229" y="1403329"/>
            <a:ext cx="195584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1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12" name="Connector 12"/>
          <p:cNvCxnSpPr/>
          <p:nvPr/>
        </p:nvCxnSpPr>
        <p:spPr>
          <a:xfrm rot="-5450184">
            <a:off x="6959577" y="1295377"/>
            <a:ext cx="173994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1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13" name="Connector 13"/>
          <p:cNvCxnSpPr/>
          <p:nvPr/>
        </p:nvCxnSpPr>
        <p:spPr>
          <a:xfrm rot="-5457774">
            <a:off x="6857973" y="1181073"/>
            <a:ext cx="151135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1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14" name="Connector 14"/>
          <p:cNvCxnSpPr/>
          <p:nvPr/>
        </p:nvCxnSpPr>
        <p:spPr>
          <a:xfrm rot="-5468070">
            <a:off x="6743668" y="1066769"/>
            <a:ext cx="12827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1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-5482830">
            <a:off x="6629361" y="952462"/>
            <a:ext cx="105417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1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 rot="-5505762">
            <a:off x="6527750" y="838151"/>
            <a:ext cx="82559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1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17" name="Connector 17"/>
          <p:cNvCxnSpPr/>
          <p:nvPr/>
        </p:nvCxnSpPr>
        <p:spPr>
          <a:xfrm rot="-5546248">
            <a:off x="6413431" y="723832"/>
            <a:ext cx="5970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1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73100" y="2057400"/>
            <a:ext cx="97536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从消息流到工作流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 如何把零散协作变成持续推进</a:t>
            </a:r>
            <a:endParaRPr lang="en-US" sz="2400" b="0" i="0" u="none" strike="noStrike">
              <a:solidFill>
                <a:srgbClr val="FFFFFF">
                  <a:alpha val="9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73100" y="5651500"/>
            <a:ext cx="7620000" cy="762000"/>
          </a:xfrm>
          <a:prstGeom prst="roundRect">
            <a:avLst>
              <a:gd name="adj" fmla="val 2500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一次关于 AI 协作方法的实践分享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重点：如何设计一条能持续推进的工作链路</a:t>
            </a:r>
            <a:endParaRPr lang="en-US" sz="1600" b="0" i="0" u="none" strike="noStrike">
              <a:solidFill>
                <a:srgbClr val="FFFFFF">
                  <a:alpha val="9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0" y="0"/>
            <a:ext cx="11633200" cy="609600"/>
          </a:xfrm>
          <a:prstGeom prst="roundRect">
            <a:avLst>
              <a:gd name="adj" fmla="val 0"/>
            </a:avLst>
          </a:prstGeom>
          <a:gradFill rotWithShape="1">
            <a:gsLst>
              <a:gs pos="50000">
                <a:srgbClr val="64DBFF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2C6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7940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66DA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42600" y="127000"/>
            <a:ext cx="13335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81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先别看工具，先看问题是不是你的问题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000" y="1397000"/>
            <a:ext cx="11430000" cy="635000"/>
          </a:xfrm>
          <a:prstGeom prst="roundRect">
            <a:avLst>
              <a:gd name="adj" fmla="val 20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C67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08000" y="1524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核心观点：如果问题是“聊过了但没接住”，就该先做协作设计。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" y="2286000"/>
            <a:ext cx="11176000" cy="457200"/>
          </a:xfrm>
          <a:prstGeom prst="roundRect">
            <a:avLst>
              <a:gd name="adj" fmla="val 13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000" y="23876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016000" y="2362200"/>
            <a:ext cx="1054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很多工作天然发生在聊天里，需求、提醒、会议结论等都经过消息流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" y="2857500"/>
            <a:ext cx="11176000" cy="457200"/>
          </a:xfrm>
          <a:prstGeom prst="roundRect">
            <a:avLst>
              <a:gd name="adj" fmla="val 13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" y="29591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016000" y="2933700"/>
            <a:ext cx="1054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消息流天然容易散、容易断，导致工作很难持续推进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8000" y="3429000"/>
            <a:ext cx="11176000" cy="457200"/>
          </a:xfrm>
          <a:prstGeom prst="roundRect">
            <a:avLst>
              <a:gd name="adj" fmla="val 13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000" y="35306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016000" y="3505200"/>
            <a:ext cx="1054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关键不是“AI 会不会答”，而是信息能否被有效承接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08000" y="4000500"/>
            <a:ext cx="11176000" cy="457200"/>
          </a:xfrm>
          <a:prstGeom prst="roundRect">
            <a:avLst>
              <a:gd name="adj" fmla="val 13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" y="41021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016000" y="4076700"/>
            <a:ext cx="1054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目标是让信息被接住后，能够继续推进工作闭环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81000" y="4826000"/>
            <a:ext cx="11430000" cy="762000"/>
          </a:xfrm>
          <a:prstGeom prst="roundRect">
            <a:avLst>
              <a:gd name="adj" fmla="val 16666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08000" y="4953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跳出工具本身，回归问题本质：如何解决消息流中的协作断裂？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0" y="0"/>
            <a:ext cx="11633200" cy="609600"/>
          </a:xfrm>
          <a:prstGeom prst="roundRect">
            <a:avLst>
              <a:gd name="adj" fmla="val 0"/>
            </a:avLst>
          </a:prstGeom>
          <a:gradFill rotWithShape="1">
            <a:gsLst>
              <a:gs pos="50000">
                <a:srgbClr val="64DBFF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2C6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7940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66DA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42600" y="127000"/>
            <a:ext cx="13335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1143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这套协作链路是怎么流动的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000" y="7620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核心观点：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这不是几个平行模块，而是一条协作链路。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" y="1397000"/>
            <a:ext cx="2133600" cy="3302000"/>
          </a:xfrm>
          <a:prstGeom prst="roundRect">
            <a:avLst>
              <a:gd name="adj" fmla="val 5952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4600" y="1587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8000" y="20955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2540000"/>
            <a:ext cx="1879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聊天消息</a:t>
            </a:r>
            <a:endParaRPr lang="en-US" sz="1100"/>
          </a:p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临时想法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任务请求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会议结论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2705100" y="1397000"/>
            <a:ext cx="2133600" cy="3302000"/>
          </a:xfrm>
          <a:prstGeom prst="roundRect">
            <a:avLst>
              <a:gd name="adj" fmla="val 5952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700" y="1587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832100" y="20955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Work-Control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832100" y="2540000"/>
            <a:ext cx="1879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分流处理</a:t>
            </a:r>
            <a:endParaRPr lang="en-US" sz="1100"/>
          </a:p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智能归类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关键追问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029200" y="1397000"/>
            <a:ext cx="2133600" cy="3302000"/>
          </a:xfrm>
          <a:prstGeom prst="roundRect">
            <a:avLst>
              <a:gd name="adj" fmla="val 5952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92800" y="1587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156200" y="20955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Work-System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156200" y="2540000"/>
            <a:ext cx="1879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今日聚焦</a:t>
            </a:r>
            <a:endParaRPr lang="en-US" sz="1100"/>
          </a:p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每日总结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项目档案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交付物管理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353300" y="1397000"/>
            <a:ext cx="2133600" cy="3302000"/>
          </a:xfrm>
          <a:prstGeom prst="roundRect">
            <a:avLst>
              <a:gd name="adj" fmla="val 5952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16900" y="1587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480300" y="20955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Executor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480300" y="2540000"/>
            <a:ext cx="1879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复杂任务承接</a:t>
            </a:r>
            <a:endParaRPr lang="en-US" sz="1100"/>
          </a:p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ACP深度分析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Codex结构化回写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677400" y="1397000"/>
            <a:ext cx="2133600" cy="3302000"/>
          </a:xfrm>
          <a:prstGeom prst="roundRect">
            <a:avLst>
              <a:gd name="adj" fmla="val 5952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41000" y="1587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804400" y="20955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Memory System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804400" y="2540000"/>
            <a:ext cx="1879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历史信息召回</a:t>
            </a:r>
            <a:endParaRPr lang="en-US" sz="1100"/>
          </a:p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规则沉淀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08000"/>
              </a:lnSpc>
              <a:buClr>
                <a:srgbClr val="646A73"/>
              </a:buClr>
              <a:buChar char="•"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支撑迁移学习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381000" y="5080000"/>
            <a:ext cx="11430000" cy="762000"/>
          </a:xfrm>
          <a:prstGeom prst="roundRect">
            <a:avLst>
              <a:gd name="adj" fmla="val 16666"/>
            </a:avLst>
          </a:prstGeom>
          <a:solidFill>
            <a:srgbClr val="EB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508000" y="5207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链路闭环：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从信息的输入到最终的认知沉淀，形成了一个高效的协作闭环，确保每一个任务都能被妥善处理和记忆。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0" y="0"/>
            <a:ext cx="11633200" cy="609600"/>
          </a:xfrm>
          <a:prstGeom prst="roundRect">
            <a:avLst>
              <a:gd name="adj" fmla="val 0"/>
            </a:avLst>
          </a:prstGeom>
          <a:gradFill rotWithShape="1">
            <a:gsLst>
              <a:gs pos="50000">
                <a:srgbClr val="64DBFF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2C6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7940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66DA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42600" y="127000"/>
            <a:ext cx="13335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0800000">
            <a:off x="0" y="-25400"/>
            <a:ext cx="12293600" cy="692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 rot="-5400000">
            <a:off x="10198100" y="4508500"/>
            <a:ext cx="20828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rot="-5400000">
            <a:off x="10934700" y="3594100"/>
            <a:ext cx="6096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rot="-5400000">
            <a:off x="10566400" y="2755900"/>
            <a:ext cx="13335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 rot="-5400000">
            <a:off x="10210800" y="1409700"/>
            <a:ext cx="19812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 rot="-5400000">
            <a:off x="10248900" y="-279400"/>
            <a:ext cx="19812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0100" y="660400"/>
            <a:ext cx="2260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38200" y="3670300"/>
            <a:ext cx="5461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Alibaba PuHuiTi Regular"/>
                <a:ea typeface="Alibaba PuHuiTi Regular"/>
                <a:cs typeface="Alibaba PuHuiTi Regular"/>
                <a:sym typeface="Alibaba PuHuiTi Regular"/>
              </a:rPr>
              <a:t>为什么 work-control 是一个 skill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" y="1892300"/>
            <a:ext cx="58039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7200" b="0" i="0" u="none" strike="noStrike">
                <a:latin typeface="Alibaba PuHuiTi Medium"/>
                <a:ea typeface="Alibaba PuHuiTi Medium"/>
                <a:cs typeface="Alibaba PuHuiTi Medium"/>
                <a:sym typeface="Alibaba PuHuiTi Medium"/>
              </a:rPr>
              <a:t>PART 01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0" y="0"/>
            <a:ext cx="11633200" cy="609600"/>
          </a:xfrm>
          <a:prstGeom prst="roundRect">
            <a:avLst>
              <a:gd name="adj" fmla="val 0"/>
            </a:avLst>
          </a:prstGeom>
          <a:gradFill rotWithShape="1">
            <a:gsLst>
              <a:gs pos="50000">
                <a:srgbClr val="64DBFF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2C6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7940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66DA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42600" y="127000"/>
            <a:ext cx="13335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08000" y="825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 work-control 是一个 skill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460500"/>
            <a:ext cx="11176000" cy="762000"/>
          </a:xfrm>
          <a:prstGeom prst="roundRect">
            <a:avLst>
              <a:gd name="adj" fmla="val 16666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64DB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16891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1651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核心观点：入口治理的重点不是多记，而是少记错。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2413000"/>
            <a:ext cx="11176000" cy="508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2540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43000" y="25146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它处理的不是“存放位置”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3048000"/>
            <a:ext cx="11176000" cy="508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500" y="3175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143000" y="31496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它处理的是“路由规则”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" y="3683000"/>
            <a:ext cx="11176000" cy="508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500" y="3810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143000" y="37846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负责判断一句话是什么：事项、专项、提醒，还是要先补追问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8000" y="4318000"/>
            <a:ext cx="11176000" cy="508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8500" y="4445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143000" y="44196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所以更适合做成 skill + SOP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8000" y="4953000"/>
            <a:ext cx="11176000" cy="508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50800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143000" y="50546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而不是一个普通目录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0" y="0"/>
            <a:ext cx="11633200" cy="609600"/>
          </a:xfrm>
          <a:prstGeom prst="roundRect">
            <a:avLst>
              <a:gd name="adj" fmla="val 0"/>
            </a:avLst>
          </a:prstGeom>
          <a:gradFill rotWithShape="1">
            <a:gsLst>
              <a:gs pos="50000">
                <a:srgbClr val="64DBFF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2C6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7940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66DA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42600" y="127000"/>
            <a:ext cx="13335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0800000">
            <a:off x="0" y="-25400"/>
            <a:ext cx="12293600" cy="692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 rot="-5400000">
            <a:off x="10198100" y="4508500"/>
            <a:ext cx="20828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rot="-5400000">
            <a:off x="10934700" y="3594100"/>
            <a:ext cx="6096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rot="-5400000">
            <a:off x="10566400" y="2755900"/>
            <a:ext cx="13335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 rot="-5400000">
            <a:off x="10210800" y="1409700"/>
            <a:ext cx="19812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 rot="-5400000">
            <a:off x="10248900" y="-279400"/>
            <a:ext cx="19812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0100" y="660400"/>
            <a:ext cx="2260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38200" y="3670300"/>
            <a:ext cx="39624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Alibaba PuHuiTi Regular"/>
                <a:ea typeface="Alibaba PuHuiTi Regular"/>
                <a:cs typeface="Alibaba PuHuiTi Regular"/>
                <a:sym typeface="Alibaba PuHuiTi Regular"/>
              </a:rPr>
              <a:t>`work-system` 解决的是运行问题，不只是记录问题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" y="1892300"/>
            <a:ext cx="58039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7200" b="0" i="0" u="none" strike="noStrike">
                <a:latin typeface="Alibaba PuHuiTi Medium"/>
                <a:ea typeface="Alibaba PuHuiTi Medium"/>
                <a:cs typeface="Alibaba PuHuiTi Medium"/>
                <a:sym typeface="Alibaba PuHuiTi Medium"/>
              </a:rPr>
              <a:t>PART 02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0" y="0"/>
            <a:ext cx="11633200" cy="609600"/>
          </a:xfrm>
          <a:prstGeom prst="roundRect">
            <a:avLst>
              <a:gd name="adj" fmla="val 0"/>
            </a:avLst>
          </a:prstGeom>
          <a:gradFill rotWithShape="1">
            <a:gsLst>
              <a:gs pos="50000">
                <a:srgbClr val="64DBFF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2C6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7940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66DA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42600" y="127000"/>
            <a:ext cx="13335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work-system 解决的是运行问题，不只是记录问题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889000"/>
            <a:ext cx="11176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0668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70000" y="889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核心观点：好的工作系统，核心是稳定产出下一步。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1905000"/>
            <a:ext cx="5461000" cy="1651000"/>
          </a:xfrm>
          <a:prstGeom prst="roundRect">
            <a:avLst>
              <a:gd name="adj" fmla="val 7692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095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430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系统价值：承接正式推进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2476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B5563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目标不是“记下来”，而是：今天能推进、明天能续上、以后能回看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关键要素：今日聚焦、每日总结、项目档案、提醒、交付物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1905000"/>
            <a:ext cx="5461000" cy="1651000"/>
          </a:xfrm>
          <a:prstGeom prst="roundRect">
            <a:avLst>
              <a:gd name="adj" fmla="val 7692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095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580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核心组件功能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476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B5563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reminders：负责“别忘”，确保任务不遗漏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今日聚焦：负责“今天先抓什么”，明确优先级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每日总结：负责“提前感知准备压力”，预判风险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08000" y="3810000"/>
            <a:ext cx="11176000" cy="1270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1910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39370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运行逻辑闭环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通过“聚焦”明确当下优先级 → 通过“提醒”保障执行力 → 通过“总结”消除未来隐患，从而实现工作的持续、稳定运行。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0" y="0"/>
            <a:ext cx="11633200" cy="609600"/>
          </a:xfrm>
          <a:prstGeom prst="roundRect">
            <a:avLst>
              <a:gd name="adj" fmla="val 0"/>
            </a:avLst>
          </a:prstGeom>
          <a:gradFill rotWithShape="1">
            <a:gsLst>
              <a:gs pos="50000">
                <a:srgbClr val="64DBFF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2C6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7940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66DA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42600" y="127000"/>
            <a:ext cx="13335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0800000">
            <a:off x="0" y="-25400"/>
            <a:ext cx="12293600" cy="692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 rot="-5400000">
            <a:off x="10198100" y="4508500"/>
            <a:ext cx="20828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rot="-5400000">
            <a:off x="10934700" y="3594100"/>
            <a:ext cx="6096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rot="-5400000">
            <a:off x="10566400" y="2755900"/>
            <a:ext cx="13335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 rot="-5400000">
            <a:off x="10210800" y="1409700"/>
            <a:ext cx="19812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 rot="-5400000">
            <a:off x="10248900" y="-279400"/>
            <a:ext cx="1981200" cy="248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0100" y="660400"/>
            <a:ext cx="2260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38200" y="3670300"/>
            <a:ext cx="49911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Alibaba PuHuiTi Regular"/>
                <a:ea typeface="Alibaba PuHuiTi Regular"/>
                <a:cs typeface="Alibaba PuHuiTi Regular"/>
                <a:sym typeface="Alibaba PuHuiTi Regular"/>
              </a:rPr>
              <a:t>复杂任务的执行与沉淀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" y="1892300"/>
            <a:ext cx="58039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7200" b="0" i="0" u="none" strike="noStrike">
                <a:latin typeface="Alibaba PuHuiTi Medium"/>
                <a:ea typeface="Alibaba PuHuiTi Medium"/>
                <a:cs typeface="Alibaba PuHuiTi Medium"/>
                <a:sym typeface="Alibaba PuHuiTi Medium"/>
              </a:rPr>
              <a:t>PART 03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0" y="0"/>
            <a:ext cx="11633200" cy="609600"/>
          </a:xfrm>
          <a:prstGeom prst="roundRect">
            <a:avLst>
              <a:gd name="adj" fmla="val 0"/>
            </a:avLst>
          </a:prstGeom>
          <a:gradFill rotWithShape="1">
            <a:gsLst>
              <a:gs pos="50000">
                <a:srgbClr val="64DBFF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2C6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7940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66DA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35000" y="762000"/>
            <a:ext cx="5359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为什么还需要 executor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397000"/>
            <a:ext cx="10922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1625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15875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核心观点：复杂任务不能没有承接层就直接上。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2413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2603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260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主会话的局限性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" y="3048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374151"/>
              </a:buClr>
              <a:buChar char="•"/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擅长：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目标澄清、问题收口、优先级判断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处理复杂任务时容易发散、混乱、难回收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2413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603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260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复杂任务的特殊需求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3048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374151"/>
              </a:buClr>
              <a:buChar char="•"/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需要处理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长上下文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与连续读文件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涉及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跨模块分析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与生成结构化结果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" y="4572000"/>
            <a:ext cx="10922000" cy="1270000"/>
          </a:xfrm>
          <a:prstGeom prst="roundRect">
            <a:avLst>
              <a:gd name="adj" fmla="val 100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9000" y="4762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476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Executor：执行承接层的价值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9000" y="520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作为连接主会话与复杂任务的桥梁，Executor 将主会话做出的“判断”转化为可持续处理的具体“任务”，确保工作有序推进。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0" y="0"/>
            <a:ext cx="11633200" cy="609600"/>
          </a:xfrm>
          <a:prstGeom prst="roundRect">
            <a:avLst>
              <a:gd name="adj" fmla="val 0"/>
            </a:avLst>
          </a:prstGeom>
          <a:gradFill rotWithShape="1">
            <a:gsLst>
              <a:gs pos="50000">
                <a:srgbClr val="64DBFF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2C6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7940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66DA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42600" y="127000"/>
            <a:ext cx="13335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71500" y="101600"/>
            <a:ext cx="330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为什么用 ACP + Codex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2900" y="762000"/>
            <a:ext cx="11506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真正的价值不只是分析能力强，而是执行结果可回收、可接续。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2900" y="1397000"/>
            <a:ext cx="11506200" cy="4064000"/>
          </a:xfrm>
          <a:prstGeom prst="roundRect">
            <a:avLst>
              <a:gd name="adj" fmla="val 312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08000" y="1524000"/>
            <a:ext cx="11176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2C67FF"/>
              </a:buClr>
              <a:buChar char="•"/>
              <a:defRPr/>
            </a:pPr>
            <a:r>
              <a:rPr lang="en-US" sz="14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执行流程优化：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主会话先将问题梳理成更专业的执行提示，提升分析准确性。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2C67FF"/>
              </a:buClr>
              <a:buChar char="•"/>
            </a:pPr>
            <a:r>
              <a:rPr lang="en-US" sz="14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深度分析能力：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ACP + Codex 负责深入文件现场、连续分析、多模块追踪，并输出结构化结果。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2C67FF"/>
              </a:buClr>
              <a:buChar char="•"/>
            </a:pPr>
            <a:r>
              <a:rPr lang="en-US" sz="14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不仅是“会看代码”，更在于提示词更专业、执行更稳定、输出结果可直接回写专项进度。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2C67FF"/>
              </a:buClr>
              <a:buChar char="•"/>
            </a:pPr>
            <a:r>
              <a:rPr lang="en-US" sz="14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事故驱动分析、多模块代码上下文关联分析、技术方案草案快速形成。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42900" y="6096000"/>
            <a:ext cx="115062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C67FF">
                  <a:alpha val="100000"/>
                </a:srgbClr>
              </a:gs>
              <a:gs pos="100000">
                <a:srgbClr val="66DAF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0" y="0"/>
            <a:ext cx="11633200" cy="609600"/>
          </a:xfrm>
          <a:prstGeom prst="roundRect">
            <a:avLst>
              <a:gd name="adj" fmla="val 0"/>
            </a:avLst>
          </a:prstGeom>
          <a:gradFill rotWithShape="1">
            <a:gsLst>
              <a:gs pos="50000">
                <a:srgbClr val="64DBFF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2C6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7940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66DA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42600" y="127000"/>
            <a:ext cx="13335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08000" y="76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为什么还要补记忆层和认知层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397000"/>
            <a:ext cx="11176000" cy="762000"/>
          </a:xfrm>
          <a:prstGeom prst="roundRect">
            <a:avLst>
              <a:gd name="adj" fmla="val 16666"/>
            </a:avLst>
          </a:prstGeom>
          <a:solidFill>
            <a:srgbClr val="F0F5FF">
              <a:alpha val="100000"/>
            </a:srgbClr>
          </a:solidFill>
          <a:ln w="12700" cap="flat" cmpd="sng">
            <a:solidFill>
              <a:srgbClr val="2C67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1625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1524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核心观点：长期协作的关键，不只是能记录，而是能召回、能解释、能迁移。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2413000"/>
            <a:ext cx="5461000" cy="2540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667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2667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Memory Search 记忆层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175000"/>
            <a:ext cx="495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374151"/>
              </a:buClr>
              <a:buChar char="•"/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痛点：仅有文件存档是“被动存放”，难以高效利用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374151"/>
              </a:buClr>
              <a:buChar char="•"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价值：解决“找得到、少漏、接得上”的问题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374151"/>
              </a:buClr>
              <a:buChar char="•"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技术：本地</a:t>
            </a:r>
            <a:r>
              <a:rPr lang="en-US" sz="14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GGUF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向量模型支撑语义级召回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374151"/>
              </a:buClr>
              <a:buChar char="•"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成果：将历史信息转化为可重新调用的资产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2413000"/>
            <a:ext cx="5461000" cy="2540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667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2667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Cognition System 认知层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3175000"/>
            <a:ext cx="495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374151"/>
              </a:buClr>
              <a:buChar char="•"/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定位：不是简单的感想库或备忘录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374151"/>
              </a:buClr>
              <a:buChar char="•"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核心职责：沉淀可复用的判断规则与决策逻辑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374151"/>
              </a:buClr>
              <a:buChar char="•"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目标：支持经验的迁移，避免重复造轮子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374151"/>
              </a:buClr>
              <a:buChar char="•"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效果：让系统具备“解释”能力，提升协作深度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08000" y="5207000"/>
            <a:ext cx="11176000" cy="508000"/>
          </a:xfrm>
          <a:prstGeom prst="roundRect">
            <a:avLst>
              <a:gd name="adj" fmla="val 25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35000" y="52705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从“被动存放”到“主动调用”，构建可持续进化的协作智能体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0" y="0"/>
            <a:ext cx="11633200" cy="609600"/>
          </a:xfrm>
          <a:prstGeom prst="roundRect">
            <a:avLst>
              <a:gd name="adj" fmla="val 0"/>
            </a:avLst>
          </a:prstGeom>
          <a:gradFill rotWithShape="1">
            <a:gsLst>
              <a:gs pos="50000">
                <a:srgbClr val="64DBFF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2C6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7940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66DA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42600" y="127000"/>
            <a:ext cx="13335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71500" y="508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为什么用 `日志猎人` 做主案例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889000"/>
            <a:ext cx="11176000" cy="762000"/>
          </a:xfrm>
          <a:prstGeom prst="roundRect">
            <a:avLst>
              <a:gd name="adj" fmla="val 16666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66DA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10668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06500" y="101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核心观点：真正有价值的不是“分析了一次”，而是形成了可接力的正式产物。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1905000"/>
            <a:ext cx="5461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2095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43000" y="2057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项目定位：不止于巡检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143000" y="2413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它不只是一个简单的日志巡检项目，而是具备了更复杂的系统能力。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905000"/>
            <a:ext cx="5461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2095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58000" y="2057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能力生长：长出核心模块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0" y="2413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已经长出：主专项承接、子任务扩展、执行 agent 介入、共享回写等关键能力。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08000" y="3556000"/>
            <a:ext cx="11176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500" y="3746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143000" y="3708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真实链路：闭环验证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143000" y="4127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遇到真实问题时，走的是完整链路：</a:t>
            </a:r>
            <a:r>
              <a:rPr lang="en-US" sz="14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主会话收口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4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executor 承接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4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ACP + Codex 深度分析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4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结果回写专项进度和共享产物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8000" y="5334000"/>
            <a:ext cx="11176000" cy="1016000"/>
          </a:xfrm>
          <a:prstGeom prst="roundRect">
            <a:avLst>
              <a:gd name="adj" fmla="val 12500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66DA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8500" y="56642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143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价值验证：它证明了这条链路不是概念，而是能真正跑起来并产生实效的系统。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0" y="0"/>
            <a:ext cx="11633200" cy="609600"/>
          </a:xfrm>
          <a:prstGeom prst="roundRect">
            <a:avLst>
              <a:gd name="adj" fmla="val 0"/>
            </a:avLst>
          </a:prstGeom>
          <a:gradFill rotWithShape="1">
            <a:gsLst>
              <a:gs pos="50000">
                <a:srgbClr val="64DBFF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2C6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7940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66DA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35000" y="762000"/>
            <a:ext cx="647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如果你也想尝试，建议从这 4 步开始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3335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今天最想分享的，不是一个现成答案，而是一种可复用的搭建顺序。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905000"/>
            <a:ext cx="5270500" cy="1079500"/>
          </a:xfrm>
          <a:prstGeom prst="roundRect">
            <a:avLst>
              <a:gd name="adj" fmla="val 11764"/>
            </a:avLst>
          </a:prstGeom>
          <a:solidFill>
            <a:srgbClr val="F5F9FF">
              <a:alpha val="100000"/>
            </a:srgbClr>
          </a:solidFill>
          <a:ln w="12700" cap="flat" cmpd="sng">
            <a:solidFill>
              <a:srgbClr val="DCE6F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5500" y="22352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057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第一步：输入分流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97000" y="2413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先做输入分流，别让入口太脏，确保信息有序进入。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1905000"/>
            <a:ext cx="5270500" cy="1079500"/>
          </a:xfrm>
          <a:prstGeom prst="roundRect">
            <a:avLst>
              <a:gd name="adj" fmla="val 11764"/>
            </a:avLst>
          </a:prstGeom>
          <a:solidFill>
            <a:srgbClr val="F5F9FF">
              <a:alpha val="100000"/>
            </a:srgbClr>
          </a:solidFill>
          <a:ln w="12700" cap="flat" cmpd="sng">
            <a:solidFill>
              <a:srgbClr val="DCE6F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2352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2057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第二步：固定落点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048500" y="2413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给推进建立固定落点，先让事情能续上，避免流程断裂。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" y="3175000"/>
            <a:ext cx="5270500" cy="1079500"/>
          </a:xfrm>
          <a:prstGeom prst="roundRect">
            <a:avLst>
              <a:gd name="adj" fmla="val 11764"/>
            </a:avLst>
          </a:prstGeom>
          <a:solidFill>
            <a:srgbClr val="F5F9FF">
              <a:alpha val="100000"/>
            </a:srgbClr>
          </a:solidFill>
          <a:ln w="12700" cap="flat" cmpd="sng">
            <a:solidFill>
              <a:srgbClr val="DCE6F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" y="35052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3327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第三步：执行承接层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397000" y="3683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复杂任务加执行承接层，不要全压在主会话，减轻核心压力。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86500" y="3175000"/>
            <a:ext cx="5270500" cy="1079500"/>
          </a:xfrm>
          <a:prstGeom prst="roundRect">
            <a:avLst>
              <a:gd name="adj" fmla="val 11764"/>
            </a:avLst>
          </a:prstGeom>
          <a:solidFill>
            <a:srgbClr val="F5F9FF">
              <a:alpha val="100000"/>
            </a:srgbClr>
          </a:solidFill>
          <a:ln w="12700" cap="flat" cmpd="sng">
            <a:solidFill>
              <a:srgbClr val="DCE6F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5052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048500" y="3327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第四步：记忆升级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048500" y="3683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把记忆从存档升级成召回能力，再慢慢沉淀规则，实现智能化。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" y="4572000"/>
            <a:ext cx="10922000" cy="762000"/>
          </a:xfrm>
          <a:prstGeom prst="roundRect">
            <a:avLst>
              <a:gd name="adj" fmla="val 16666"/>
            </a:avLst>
          </a:prstGeom>
          <a:solidFill>
            <a:srgbClr val="2C67FF">
              <a:alpha val="8000"/>
            </a:srgbClr>
          </a:solidFill>
          <a:ln w="12700" cap="flat" cmpd="sng">
            <a:solidFill>
              <a:srgbClr val="2C67FF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9000" y="47752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397000" y="4699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C6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落地建议：</a:t>
            </a:r>
            <a:r>
              <a:rPr lang="en-US" sz="15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先跑通一条最小链路，再逐步补执行层、记忆层和认知层。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0" y="0"/>
            <a:ext cx="11633200" cy="609600"/>
          </a:xfrm>
          <a:prstGeom prst="roundRect">
            <a:avLst>
              <a:gd name="adj" fmla="val 0"/>
            </a:avLst>
          </a:prstGeom>
          <a:gradFill rotWithShape="1">
            <a:gsLst>
              <a:gs pos="50000">
                <a:srgbClr val="64DBFF">
                  <a:alpha val="17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2C6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79400" y="0"/>
            <a:ext cx="152400" cy="609600"/>
          </a:xfrm>
          <a:prstGeom prst="roundRect">
            <a:avLst>
              <a:gd name="adj" fmla="val 0"/>
            </a:avLst>
          </a:prstGeom>
          <a:solidFill>
            <a:srgbClr val="66DA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42600" y="127000"/>
            <a:ext cx="13335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0800000">
            <a:off x="0" y="-25400"/>
            <a:ext cx="12293600" cy="692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768600" y="1930400"/>
            <a:ext cx="6248400" cy="194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0" b="0" i="0" u="none" strike="noStrike">
                <a:latin typeface="Alibaba PuHuiTi Medium"/>
                <a:ea typeface="Alibaba PuHuiTi Medium"/>
                <a:cs typeface="Alibaba PuHuiTi Medium"/>
                <a:sym typeface="Alibaba PuHuiTi Medium"/>
              </a:rPr>
              <a:t>THANKS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16300" y="3568700"/>
            <a:ext cx="50419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dist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阿里巴巴普惠体 R"/>
                <a:ea typeface="阿里巴巴普惠体 R"/>
                <a:cs typeface="阿里巴巴普惠体 R"/>
                <a:sym typeface="阿里巴巴普惠体 R"/>
              </a:rPr>
              <a:t>学无止境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19700" y="5651500"/>
            <a:ext cx="1663700" cy="444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2076</Words>
  <Application>WPS 演示</Application>
  <PresentationFormat/>
  <Paragraphs>193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Noto Sans SC</vt:lpstr>
      <vt:lpstr>Alibaba PuHuiTi Bold</vt:lpstr>
      <vt:lpstr>Segoe Print</vt:lpstr>
      <vt:lpstr>Alibaba PuHuiTi Regular</vt:lpstr>
      <vt:lpstr>Alibaba PuHuiTi Medium</vt:lpstr>
      <vt:lpstr>阿里巴巴普惠体 R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谭晓雯</cp:lastModifiedBy>
  <cp:revision>1</cp:revision>
  <dcterms:created xsi:type="dcterms:W3CDTF">2026-04-01T15:30:12Z</dcterms:created>
  <dcterms:modified xsi:type="dcterms:W3CDTF">2026-04-01T15:30:12Z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E062881C1D1D4297A9A0C03E267513CE_12</vt:lpwstr>
  </property>
</Properties>
</file>