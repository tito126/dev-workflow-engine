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89" r:id="rId5"/>
    <p:sldId id="292" r:id="rId6"/>
    <p:sldId id="277" r:id="rId7"/>
    <p:sldId id="278" r:id="rId8"/>
    <p:sldId id="297" r:id="rId9"/>
    <p:sldId id="279" r:id="rId10"/>
    <p:sldId id="280" r:id="rId11"/>
    <p:sldId id="314" r:id="rId12"/>
    <p:sldId id="281" r:id="rId13"/>
    <p:sldId id="276" r:id="rId14"/>
  </p:sldIdLst>
  <p:sldSz cx="12192000" cy="6858000"/>
  <p:notesSz cx="7103745" cy="1023429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0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pxiao" initials="victor TP" lastIdx="1" clrIdx="0"/>
  <p:cmAuthor id="1" name="Thomas Zeng" initials="TZ" lastIdx="2" clrIdx="0"/>
  <p:cmAuthor id="2" name="Fire" initials="F" lastIdx="1" clrIdx="1"/>
  <p:cmAuthor id="3" name="Bing Xue" initials="B" lastIdx="3" clrIdx="2"/>
  <p:cmAuthor id="4" name="核保" initials="核" lastIdx="2" clrIdx="0"/>
  <p:cmAuthor id="5" name="yangyang175" initials="y" lastIdx="1" clrIdx="4"/>
  <p:cmAuthor id="6" name="肖婧" initials="肖" lastIdx="6" clrIdx="0"/>
  <p:cmAuthor id="7" name="daiyi06" initials="d" lastIdx="0" clrIdx="2"/>
  <p:cmAuthor id="8" name="董晔" initials="董" lastIdx="9" clrIdx="0"/>
  <p:cmAuthor id="9" name="未知用户4" initials="未" lastIdx="0" clrIdx="0"/>
  <p:cmAuthor id="10" name="kingsoft" initials="k" lastIdx="1" clrIdx="0"/>
  <p:cmAuthor id="11" name="Admin" initials="A" lastIdx="0" clrIdx="0"/>
  <p:cmAuthor id="12" name="宋昆" initials="宋" lastIdx="0" clrIdx="0"/>
  <p:cmAuthor id="13" name="杨国" initials="杨" lastIdx="3" clrIdx="0"/>
  <p:cmAuthor id="14" name="tkuser" initials="t" lastIdx="1" clrIdx="0"/>
  <p:cmAuthor id="15" name="王丹（法律）" initials="王" lastIdx="28" clrIdx="0"/>
  <p:cmAuthor id="16" name="Lenovo User" initials="L" lastIdx="1" clrIdx="0"/>
  <p:cmAuthor id="17" name="杨迟" initials="杨" lastIdx="11" clrIdx="0"/>
  <p:cmAuthor id="18" name="sx_xuzx" initials="s" lastIdx="26" clrIdx="17"/>
  <p:cmAuthor id="19" name="tplife" initials="t" lastIdx="2" clrIdx="0"/>
  <p:cmAuthor id="20" name="孟 昕" initials="孟" lastIdx="1" clrIdx="18"/>
  <p:cmAuthor id="21" name="localadmin" initials="l" lastIdx="1" clrIdx="0"/>
  <p:cmAuthor id="22" name="陈 橙橙" initials="陈" lastIdx="1" clrIdx="21"/>
  <p:cmAuthor id="23" name="gaojg02" initials="g" lastIdx="0" clrIdx="0"/>
  <p:cmAuthor id="24" name="ZJL" initials="Z" lastIdx="1" clrIdx="0"/>
  <p:cmAuthor id="25" name="home pc" initials="h" lastIdx="4" clrIdx="0"/>
  <p:cmAuthor id="26" name="Hi_ Young" initials="H" lastIdx="20" clrIdx="0"/>
  <p:cmAuthor id="27" name="余潇迎" initials="余" lastIdx="2" clrIdx="0"/>
  <p:cmAuthor id="28" name="Jinyi" initials="J" lastIdx="42" clrIdx="2"/>
  <p:cmAuthor id="29" name="gao yu" initials="gy" lastIdx="1" clrIdx="22"/>
  <p:cmAuthor id="31" name="phoenixdhz" initials="p" lastIdx="11" clrIdx="0"/>
  <p:cmAuthor id="32" name="卫天一" initials="卫" lastIdx="1" clrIdx="0"/>
  <p:cmAuthor id="33" name="杨涛-lah" initials="杨" lastIdx="1" clrIdx="0"/>
  <p:cmAuthor id="34" name="kp l" initials="k" lastIdx="2" clrIdx="0"/>
  <p:cmAuthor id="35" name="asuse" initials="a" lastIdx="1" clrIdx="0"/>
  <p:cmAuthor id="36" name="樊星" initials="樊" lastIdx="1" clrIdx="0"/>
  <p:cmAuthor id="37" name="未知用户20" initials="未" lastIdx="3" clrIdx="0"/>
  <p:cmAuthor id="38" name="季玉洁" initials="季" lastIdx="22" clrIdx="0"/>
  <p:cmAuthor id="39" name="姜文静" initials="姜" lastIdx="1" clrIdx="0"/>
  <p:cmAuthor id="40" name="陈依依" initials="陈" lastIdx="7" clrIdx="0"/>
  <p:cmAuthor id="41" name="姓 汤旭铭" initials="姓" lastIdx="1" clrIdx="0"/>
  <p:cmAuthor id="42" name="user" initials="u" lastIdx="1" clrIdx="0"/>
  <p:cmAuthor id="43" name="dingenshi" initials="d" lastIdx="1" clrIdx="0"/>
  <p:cmAuthor id="44" name="未知用户15" initials="未" lastIdx="1" clrIdx="0"/>
  <p:cmAuthor id="45" name="未知用户16" initials="未" lastIdx="1" clrIdx="0"/>
  <p:cmAuthor id="46" name="未知用户17" initials="未" lastIdx="14" clrIdx="1"/>
  <p:cmAuthor id="47" name="未知用户18" initials="未" lastIdx="0" clrIdx="0"/>
  <p:cmAuthor id="48" name="实习生_严政宇" initials="实" lastIdx="2" clrIdx="1"/>
  <p:cmAuthor id="49" name="未知用户21" initials="未" lastIdx="1" clrIdx="0"/>
  <p:cmAuthor id="50" name="未知用户22" initials="未" lastIdx="1" clrIdx="0"/>
  <p:cmAuthor id="51" name="ZhangYu" initials="Z" lastIdx="1" clrIdx="0"/>
  <p:cmAuthor id="52" name="jing.xue" initials="j" lastIdx="23" clrIdx="0"/>
  <p:cmAuthor id="53" name="grace" initials="g" lastIdx="1" clrIdx="1"/>
  <p:cmAuthor id="54" name="刘思蜀" initials="刘" lastIdx="1" clrIdx="0"/>
  <p:cmAuthor id="55" name="tkqd" initials="t" lastIdx="1" clrIdx="0"/>
  <p:cmAuthor id="56" name="方方" initials="方" lastIdx="1" clrIdx="0"/>
  <p:cmAuthor id="57" name="tuhh" initials="t" lastIdx="1" clrIdx="0"/>
  <p:cmAuthor id="58" name="jxgy15" initials="j" lastIdx="0" clrIdx="0"/>
  <p:cmAuthor id="59" name="朱粒" initials="朱" lastIdx="1" clrIdx="2"/>
  <p:cmAuthor id="61" name="H1900" initials="H" lastIdx="1" clrIdx="0"/>
  <p:cmAuthor id="62" name="先生 叶" initials="先" lastIdx="1" clrIdx="22"/>
  <p:cmAuthor id="63" name="Microsoft" initials="M" lastIdx="1" clrIdx="3"/>
  <p:cmAuthor id="64" name="吴晓梅" initials="吴" lastIdx="2" clrIdx="0"/>
  <p:cmAuthor id="65" name="pangyt" initials="p" lastIdx="1" clrIdx="0"/>
  <p:cmAuthor id="66" name="tang ff" initials="tf" lastIdx="3" clrIdx="22"/>
  <p:cmAuthor id="67" name="HaoshuaiWu" initials="H" lastIdx="1" clrIdx="0"/>
  <p:cmAuthor id="68" name="zhenwb" initials="z" lastIdx="1" clrIdx="17"/>
  <p:cmAuthor id="69" name="w00100437" initials="w" lastIdx="1" clrIdx="0"/>
  <p:cmAuthor id="70" name="changxl05" initials="c" lastIdx="1" clrIdx="69"/>
  <p:cmAuthor id="71" name="Sky123.Org" initials="S" lastIdx="1" clrIdx="0"/>
  <p:cmAuthor id="72" name="崔冶鸣（内蒙古英才管培生）" initials="崔" lastIdx="1" clrIdx="0"/>
  <p:cmAuthor id="73" name="zhaoling23" initials="z" lastIdx="1" clrIdx="62"/>
  <p:cmAuthor id="74" name="回校" initials="回" lastIdx="1" clrIdx="0"/>
  <p:cmAuthor id="75" name="作者" initials="A" lastIdx="0" clrIdx="24"/>
  <p:cmAuthor id="76" name="未知用户7" initials="未" lastIdx="1" clrIdx="0"/>
  <p:cmAuthor id="77" name="程康平" initials="程" lastIdx="2" clrIdx="0"/>
  <p:cmAuthor id="78" name="Huangx" initials="H" lastIdx="1" clrIdx="22"/>
  <p:cmAuthor id="79" name="孙青云" initials="孙" lastIdx="1" clrIdx="78"/>
  <p:cmAuthor id="80" name="未知用户9" initials="未" lastIdx="7" clrIdx="0"/>
  <p:cmAuthor id="81" name="Tracy" initials="T" lastIdx="1" clrIdx="80"/>
  <p:cmAuthor id="82" name="yangdi" initials="y" lastIdx="8" clrIdx="0"/>
  <p:cmAuthor id="83" name="Microsoft Office 用户" initials="M" lastIdx="0" clrIdx="0"/>
  <p:cmAuthor id="84" name="sunxp002" initials="s" lastIdx="7" clrIdx="13"/>
  <p:cmAuthor id="85" name="sunlj002" initials="s" lastIdx="5" clrIdx="1"/>
  <p:cmAuthor id="87" name="徐 宁" initials="徐" lastIdx="1" clrIdx="0"/>
  <p:cmAuthor id="88" name="QBOSSCHEN" initials="Q" lastIdx="1" clrIdx="0"/>
  <p:cmAuthor id="89" name="未知用户33" initials="未" lastIdx="1" clrIdx="0"/>
  <p:cmAuthor id="90" name="未知用户34" initials="未" lastIdx="1" clrIdx="0"/>
  <p:cmAuthor id="91" name="mawei19" initials="m" lastIdx="1" clrIdx="21"/>
  <p:cmAuthor id="92" name="Han Bo" initials="HB" lastIdx="7" clrIdx="22"/>
  <p:cmAuthor id="93" name="未知用户37" initials="未" lastIdx="1" clrIdx="0"/>
  <p:cmAuthor id="94" name="未知用户38" initials="未" lastIdx="0" clrIdx="0"/>
  <p:cmAuthor id="95" name="未知用户39" initials="未" lastIdx="1" clrIdx="0"/>
  <p:cmAuthor id="96" name="未知用户40" initials="未" lastIdx="0" clrIdx="0"/>
  <p:cmAuthor id="97" name="李鹏飞" initials="李" lastIdx="1" clrIdx="1"/>
  <p:cmAuthor id="98" name="Calvin G" initials="C" lastIdx="1" clrIdx="0"/>
  <p:cmAuthor id="99" name="lp" initials="l" lastIdx="1" clrIdx="0"/>
  <p:cmAuthor id="100" name="MC SYSTEM" initials="M" lastIdx="2" clrIdx="0"/>
  <p:cmAuthor id="101" name="spring_ren" initials="s" lastIdx="2" clrIdx="1"/>
  <p:cmAuthor id="102" name="viola_yang" initials="v" lastIdx="2" clrIdx="2"/>
  <p:cmAuthor id="103" name="未知用户89" initials="未" lastIdx="0" clrIdx="0"/>
  <p:cmAuthor id="104" name="李璐---寿险总公司营销管理部" initials="李" lastIdx="0" clrIdx="0"/>
  <p:cmAuthor id="105" name="xuqing" initials="x" lastIdx="4" clrIdx="0"/>
  <p:cmAuthor id="106" name="王顶" initials="王" lastIdx="1" clrIdx="0"/>
  <p:cmAuthor id="107" name="minty minty" initials="m" lastIdx="1" clrIdx="0"/>
  <p:cmAuthor id="108" name="未知用户87" initials="未" lastIdx="2" clrIdx="0"/>
  <p:cmAuthor id="109" name="CHEN LONG" initials="C" lastIdx="1" clrIdx="21"/>
  <p:cmAuthor id="110" name="彬 罗" initials="彬" lastIdx="1" clrIdx="1"/>
  <p:cmAuthor id="111" name="cuizijin01" initials="c" lastIdx="6" clrIdx="2"/>
  <p:cmAuthor id="112" name="罗彬" initials="罗" lastIdx="1" clrIdx="0"/>
  <p:cmAuthor id="113" name="刘盛潮" initials="刘" lastIdx="8" clrIdx="0"/>
  <p:cmAuthor id="114" name="1 mac" initials="1" lastIdx="1" clrIdx="0"/>
  <p:cmAuthor id="115" name="未知用户86" initials="未" lastIdx="1" clrIdx="0"/>
  <p:cmAuthor id="116" name="新萝卜家园" initials="新" lastIdx="0" clrIdx="0"/>
  <p:cmAuthor id="117" name="songchunhua" initials="s" lastIdx="0" clrIdx="0"/>
  <p:cmAuthor id="118" name="宋春华" initials="宋" lastIdx="12" clrIdx="1"/>
  <p:cmAuthor id="119" name="lixiaosong" initials="l" lastIdx="0" clrIdx="2"/>
  <p:cmAuthor id="120" name="未知用户78" initials="未" lastIdx="1" clrIdx="0"/>
  <p:cmAuthor id="121" name="马妍" initials="马" lastIdx="1" clrIdx="0"/>
  <p:cmAuthor id="122" name="yanqiqi-lgd" initials="y" lastIdx="2" clrIdx="5"/>
  <p:cmAuthor id="123" name="番茄花园" initials="番" lastIdx="4" clrIdx="0"/>
  <p:cmAuthor id="124" name="caoyq0624" initials="c" lastIdx="2" clrIdx="0"/>
  <p:cmAuthor id="125" name="方朝军/产品推动室/产品开发推广部/总公司" initials="方" lastIdx="2" clrIdx="0"/>
  <p:cmAuthor id="126" name="zq" initials="z" lastIdx="1" clrIdx="0"/>
  <p:cmAuthor id="127" name="未知用户28" initials="未" lastIdx="1" clrIdx="1"/>
  <p:cmAuthor id="128" name="temp" initials="t" lastIdx="2" clrIdx="0"/>
  <p:cmAuthor id="129" name="Q Q" initials="Q" lastIdx="1" clrIdx="3"/>
  <p:cmAuthor id="130" name="柳 先涛" initials="柳" lastIdx="8" clrIdx="0"/>
  <p:cmAuthor id="131" name="liquanxi" initials="l" lastIdx="0" clrIdx="0"/>
  <p:cmAuthor id="132" name="王怀璋" initials="王" lastIdx="1" clrIdx="0"/>
  <p:cmAuthor id="133" name="YANQING BAO" initials="Y" lastIdx="3" clrIdx="0"/>
  <p:cmAuthor id="134" name="Tracy Chen" initials="T" lastIdx="1" clrIdx="0"/>
  <p:cmAuthor id="49837067" name="刘浩" initials="刘" lastIdx="180431" clrIdx="0"/>
  <p:cmAuthor id="135" name="dongwc0205" initials="d" lastIdx="1" clrIdx="15"/>
  <p:cmAuthor id="49837068" name="Vivian Liu" initials="VL" lastIdx="1" clrIdx="1"/>
  <p:cmAuthor id="136" name="yuancc04" initials="y" lastIdx="3" clrIdx="0"/>
  <p:cmAuthor id="49837069" name="he zhirui" initials="hz" lastIdx="1" clrIdx="82"/>
  <p:cmAuthor id="137" name="Xinyi" initials="X" lastIdx="1" clrIdx="136"/>
  <p:cmAuthor id="49837070" name="伟哥" initials="伟哥" lastIdx="1" clrIdx="138"/>
  <p:cmAuthor id="138" name="万户网络" initials="万" lastIdx="1" clrIdx="0"/>
  <p:cmAuthor id="139" name="未知用户92" initials="未" lastIdx="0" clrIdx="0"/>
  <p:cmAuthor id="140" name="levy" initials="l" lastIdx="2" clrIdx="0"/>
  <p:cmAuthor id="142" name="未知用户35" initials="未" lastIdx="1" clrIdx="0"/>
  <p:cmAuthor id="143" name="李 惠" initials="李" lastIdx="1" clrIdx="81"/>
  <p:cmAuthor id="144" name="庞宝国" initials="庞" lastIdx="2" clrIdx="0"/>
  <p:cmAuthor id="145" name="gongxuan" initials="g" lastIdx="1" clrIdx="0"/>
  <p:cmAuthor id="146" name="zhuqy3" initials="z" lastIdx="1" clrIdx="0"/>
  <p:cmAuthor id="147" name="njlife" initials="n" lastIdx="2" clrIdx="0"/>
  <p:cmAuthor id="148" name="未知用户19" initials="未" lastIdx="3" clrIdx="0"/>
  <p:cmAuthor id="149" name="未知用户12" initials="未" lastIdx="1" clrIdx="0"/>
  <p:cmAuthor id="150" name="Lenovo" initials="L" lastIdx="1" clrIdx="149"/>
  <p:cmAuthor id="151" name="吕永朋" initials="吕" lastIdx="1" clrIdx="0"/>
  <p:cmAuthor id="152" name="lgp" initials="l" lastIdx="1" clrIdx="0"/>
  <p:cmAuthor id="153" name="未知用户23" initials="未" lastIdx="4" clrIdx="2"/>
  <p:cmAuthor id="154" name="未知用户27" initials="未" lastIdx="7" clrIdx="0"/>
  <p:cmAuthor id="155" name="49254" initials="4" lastIdx="1" clrIdx="0"/>
  <p:cmAuthor id="156" name="未知用户26" initials="未" lastIdx="1" clrIdx="3"/>
  <p:cmAuthor id="157" name="贺龙" initials="贺" lastIdx="1" clrIdx="0"/>
  <p:cmAuthor id="158" name="林 声洋" initials="林" lastIdx="1" clrIdx="0"/>
  <p:cmAuthor id="159" name="Ray" initials="R" lastIdx="0" clrIdx="0"/>
  <p:cmAuthor id="160" name="未知用户10" initials="未" lastIdx="1" clrIdx="20"/>
  <p:cmAuthor id="161" name="ydx2003new@163.com" initials="y" lastIdx="1" clrIdx="0"/>
  <p:cmAuthor id="162" name="岳文甲" initials="岳" lastIdx="1" clrIdx="1"/>
  <p:cmAuthor id="163" name="91huhang" initials="9" lastIdx="1" clrIdx="0"/>
  <p:cmAuthor id="165" name="Ms" initials="M" lastIdx="1" clrIdx="0"/>
  <p:cmAuthor id="166" name="clic" initials="c" lastIdx="0" clrIdx="0"/>
  <p:cmAuthor id="167" name="ProMedican" initials="P" lastIdx="2" clrIdx="1"/>
  <p:cmAuthor id="168" name="侯清英" initials="侯" lastIdx="1" clrIdx="0"/>
  <p:cmAuthor id="169" name="齐登宝" initials="齐" lastIdx="1" clrIdx="1"/>
  <p:cmAuthor id="170" name="zhangqi" initials="L" lastIdx="1" clrIdx="81"/>
  <p:cmAuthor id="171" name="瑶" initials="瑶" lastIdx="1" clrIdx="97"/>
  <p:cmAuthor id="172" name="赵 婷婷" initials="赵" lastIdx="1" clrIdx="82"/>
  <p:cmAuthor id="173" name="雷庭" initials="雷" lastIdx="8" clrIdx="0"/>
  <p:cmAuthor id="174" name="f n" initials="fn" lastIdx="1" clrIdx="35"/>
  <p:cmAuthor id="175" name="郭禹希" initials="郭" lastIdx="3" clrIdx="0"/>
  <p:cmAuthor id="176" name="YZB" initials="Y" lastIdx="1" clrIdx="15"/>
  <p:cmAuthor id="177" name="超乎想象" initials="超" lastIdx="1" clrIdx="176"/>
  <p:cmAuthor id="178" name="未知用户52" initials="未" lastIdx="0" clrIdx="1"/>
  <p:cmAuthor id="179" name="未知用户85" initials="未" lastIdx="1" clrIdx="0"/>
  <p:cmAuthor id="180" name="Windows" initials="W" lastIdx="1" clrIdx="3"/>
  <p:cmAuthor id="181" name="松 李" initials="松" lastIdx="1" clrIdx="4"/>
  <p:cmAuthor id="182" name="547716734@qq.com" initials="5" lastIdx="0" clrIdx="0"/>
  <p:cmAuthor id="183" name="郭书含" initials="郭" lastIdx="1" clrIdx="0"/>
  <p:cmAuthor id="184" name="sivaram" initials="s" lastIdx="1" clrIdx="0"/>
  <p:cmAuthor id="185" name="пользователь Microsoft Office" initials="п" lastIdx="1" clrIdx="0"/>
  <p:cmAuthor id="186" name="刘淼" initials="刘" lastIdx="4" clrIdx="6"/>
  <p:cmAuthor id="187" name="Office 365" initials="O" lastIdx="1" clrIdx="0"/>
  <p:cmAuthor id="188" name="1716266060@qq.com" initials="1" lastIdx="1" clrIdx="0"/>
  <p:cmAuthor id="189" name="程学春 cxc" initials="程" lastIdx="1" clrIdx="0"/>
  <p:cmAuthor id="190" name="chenli8" initials="c" lastIdx="10" clrIdx="0"/>
  <p:cmAuthor id="191" name="448097321@qq.com" initials="4" lastIdx="0" clrIdx="0"/>
  <p:cmAuthor id="192" name="zhumin1" initials="z" lastIdx="1" clrIdx="1"/>
  <p:cmAuthor id="193" name="FS" initials="F" lastIdx="1" clrIdx="0"/>
  <p:cmAuthor id="194" name="Temp" initials="T" lastIdx="0" clrIdx="0"/>
  <p:cmAuthor id="195" name="刘岸亮" initials="刘" lastIdx="1" clrIdx="0"/>
  <p:cmAuthor id="196" name="雍中婧" initials="雍" lastIdx="26" clrIdx="0"/>
  <p:cmAuthor id="197" name="任斐" initials="任" lastIdx="1" clrIdx="1"/>
  <p:cmAuthor id="199" name="肖 雷" initials="肖" lastIdx="1" clrIdx="0"/>
  <p:cmAuthor id="200" name="lin lin" initials="l" lastIdx="1" clrIdx="0"/>
  <p:cmAuthor id="201" name="邓蓉榕" initials="邓" lastIdx="1" clrIdx="0"/>
  <p:cmAuthor id="202" name="Sky.Wang" initials="S" lastIdx="10" clrIdx="0"/>
  <p:cmAuthor id="203" name="时方赛" initials="时" lastIdx="1" clrIdx="202"/>
  <p:cmAuthor id="204" name="李明强" initials="李" lastIdx="1" clrIdx="203"/>
  <p:cmAuthor id="206" name="itw_chenfy01" initials="i" lastIdx="1" clrIdx="205"/>
  <p:cmAuthor id="207" name="wangll132" initials="w" lastIdx="1" clrIdx="206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4FF"/>
    <a:srgbClr val="595959"/>
    <a:srgbClr val="C6D5F9"/>
    <a:srgbClr val="2D5AFA"/>
    <a:srgbClr val="2E5DFA"/>
    <a:srgbClr val="2F5EFA"/>
    <a:srgbClr val="3C5ED0"/>
    <a:srgbClr val="D4DDE4"/>
    <a:srgbClr val="B2B2B2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270"/>
        <p:guide pos="38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9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397000"/>
            <a:ext cx="12192635" cy="3017520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3" hasCustomPrompt="1"/>
          </p:nvPr>
        </p:nvSpPr>
        <p:spPr>
          <a:xfrm>
            <a:off x="501015" y="2571115"/>
            <a:ext cx="11143615" cy="669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4800"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项目</a:t>
            </a:r>
            <a:r>
              <a:rPr lang="zh-CN" altLang="en-US" dirty="0"/>
              <a:t>汇报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2592705" y="2828290"/>
            <a:ext cx="914400" cy="914400"/>
          </a:xfrm>
          <a:prstGeom prst="rect">
            <a:avLst/>
          </a:prstGeom>
          <a:noFill/>
        </p:spPr>
        <p:txBody>
          <a:bodyPr wrap="none">
            <a:noAutofit/>
          </a:bodyPr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65473" y="4863647"/>
            <a:ext cx="45719" cy="719664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4" hasCustomPrompt="1"/>
          </p:nvPr>
        </p:nvSpPr>
        <p:spPr>
          <a:xfrm>
            <a:off x="501015" y="3639185"/>
            <a:ext cx="11143615" cy="410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XXXX.XX</a:t>
            </a:r>
            <a:r>
              <a:rPr lang="en-US" altLang="zh-CN" dirty="0">
                <a:sym typeface="+mn-ea"/>
              </a:rPr>
              <a:t>.XX</a:t>
            </a:r>
            <a:r>
              <a:rPr lang="en-US" altLang="zh-CN" dirty="0"/>
              <a:t>-XXXX</a:t>
            </a:r>
            <a:r>
              <a:rPr lang="en-US" altLang="zh-CN" dirty="0">
                <a:sym typeface="+mn-ea"/>
              </a:rPr>
              <a:t>.XX.XX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5" hasCustomPrompt="1"/>
          </p:nvPr>
        </p:nvSpPr>
        <p:spPr>
          <a:xfrm>
            <a:off x="875030" y="4839335"/>
            <a:ext cx="10769600" cy="410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0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 fontAlgn="base">
              <a:lnSpc>
                <a:spcPct val="11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汇报人：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医院卫宁交付团队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" hasCustomPrompt="1"/>
          </p:nvPr>
        </p:nvSpPr>
        <p:spPr>
          <a:xfrm>
            <a:off x="875030" y="5251450"/>
            <a:ext cx="10769600" cy="410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日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7" hasCustomPrompt="1"/>
          </p:nvPr>
        </p:nvSpPr>
        <p:spPr>
          <a:xfrm>
            <a:off x="875030" y="6269990"/>
            <a:ext cx="10769600" cy="351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sym typeface="+mn-ea"/>
              </a:rPr>
              <a:t>卫</a:t>
            </a:r>
            <a:r>
              <a:rPr lang="zh-CN" altLang="en-US" dirty="0" smtClean="0">
                <a:sym typeface="+mn-ea"/>
              </a:rPr>
              <a:t>宁健康科技集团股份有限公司</a:t>
            </a:r>
            <a:endParaRPr lang="zh-CN" altLang="en-US" dirty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8" hasCustomPrompt="1"/>
          </p:nvPr>
        </p:nvSpPr>
        <p:spPr>
          <a:xfrm>
            <a:off x="501015" y="1764665"/>
            <a:ext cx="11143615" cy="615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4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XXXXXXXXXXXXXX</a:t>
            </a:r>
            <a:r>
              <a:rPr lang="zh-CN" altLang="en-US" dirty="0"/>
              <a:t>医院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 hasCustomPrompt="1"/>
          </p:nvPr>
        </p:nvSpPr>
        <p:spPr>
          <a:xfrm>
            <a:off x="1367155" y="1186815"/>
            <a:ext cx="1964690" cy="9994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dist">
              <a:defRPr sz="6000">
                <a:solidFill>
                  <a:srgbClr val="2D5AFA"/>
                </a:solidFill>
              </a:defRPr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19" name="文本占位符 18"/>
          <p:cNvSpPr>
            <a:spLocks noGrp="1"/>
          </p:cNvSpPr>
          <p:nvPr>
            <p:ph type="body" idx="14" hasCustomPrompt="1"/>
          </p:nvPr>
        </p:nvSpPr>
        <p:spPr>
          <a:xfrm>
            <a:off x="7348220" y="3234690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en-US" altLang="zh-CN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5" hasCustomPrompt="1"/>
          </p:nvPr>
        </p:nvSpPr>
        <p:spPr>
          <a:xfrm>
            <a:off x="8285480" y="3397885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" hasCustomPrompt="1"/>
          </p:nvPr>
        </p:nvSpPr>
        <p:spPr>
          <a:xfrm>
            <a:off x="1456055" y="4777740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7" hasCustomPrompt="1"/>
          </p:nvPr>
        </p:nvSpPr>
        <p:spPr>
          <a:xfrm>
            <a:off x="2393315" y="4940935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8" hasCustomPrompt="1"/>
          </p:nvPr>
        </p:nvSpPr>
        <p:spPr>
          <a:xfrm>
            <a:off x="7330440" y="4777740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9" hasCustomPrompt="1"/>
          </p:nvPr>
        </p:nvSpPr>
        <p:spPr>
          <a:xfrm>
            <a:off x="8267700" y="4940935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6" name="文本占位符 25"/>
          <p:cNvSpPr>
            <a:spLocks noGrp="1"/>
          </p:cNvSpPr>
          <p:nvPr>
            <p:ph type="body" idx="20" hasCustomPrompt="1"/>
          </p:nvPr>
        </p:nvSpPr>
        <p:spPr>
          <a:xfrm>
            <a:off x="1456055" y="3235325"/>
            <a:ext cx="971550" cy="76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en-US" altLang="zh-CN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1" hasCustomPrompt="1"/>
          </p:nvPr>
        </p:nvSpPr>
        <p:spPr>
          <a:xfrm>
            <a:off x="2393315" y="3398520"/>
            <a:ext cx="1492250" cy="4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8" name="文本占位符 27"/>
          <p:cNvSpPr>
            <a:spLocks noGrp="1"/>
          </p:cNvSpPr>
          <p:nvPr>
            <p:ph type="body" idx="22" hasCustomPrompt="1"/>
          </p:nvPr>
        </p:nvSpPr>
        <p:spPr>
          <a:xfrm>
            <a:off x="1473835" y="2030730"/>
            <a:ext cx="2235200" cy="377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400" b="0">
                <a:solidFill>
                  <a:srgbClr val="2D5AF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>
                <a:sym typeface="+mn-ea"/>
              </a:rPr>
              <a:t>CONTENTS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单元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7"/>
          <p:cNvSpPr>
            <a:spLocks noGrp="1"/>
          </p:cNvSpPr>
          <p:nvPr>
            <p:ph type="body" idx="13" hasCustomPrompt="1"/>
          </p:nvPr>
        </p:nvSpPr>
        <p:spPr>
          <a:xfrm>
            <a:off x="5290185" y="2993390"/>
            <a:ext cx="5513070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60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单元</a:t>
            </a:r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4" name="圆角矩形 13"/>
          <p:cNvSpPr/>
          <p:nvPr userDrawn="1"/>
        </p:nvSpPr>
        <p:spPr>
          <a:xfrm>
            <a:off x="3298190" y="2674620"/>
            <a:ext cx="1447800" cy="147701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4" hasCustomPrompt="1"/>
          </p:nvPr>
        </p:nvSpPr>
        <p:spPr>
          <a:xfrm>
            <a:off x="3455670" y="2971800"/>
            <a:ext cx="1139825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6000"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-带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324485" y="899795"/>
            <a:ext cx="11658600" cy="921385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649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20000"/>
              </a:lnSpc>
              <a:defRPr>
                <a:solidFill>
                  <a:srgbClr val="2D5AFA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480483" y="1031018"/>
            <a:ext cx="673289" cy="650050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88950" y="1024890"/>
            <a:ext cx="647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3" hasCustomPrompt="1"/>
          </p:nvPr>
        </p:nvSpPr>
        <p:spPr>
          <a:xfrm>
            <a:off x="494030" y="1031240"/>
            <a:ext cx="647065" cy="649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dist">
              <a:lnSpc>
                <a:spcPct val="110000"/>
              </a:lnSpc>
              <a:defRPr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二</a:t>
            </a:r>
            <a:r>
              <a:rPr lang="zh-CN" altLang="en-US" dirty="0"/>
              <a:t>级标题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7" hasCustomPrompt="1"/>
          </p:nvPr>
        </p:nvSpPr>
        <p:spPr>
          <a:xfrm>
            <a:off x="324485" y="188595"/>
            <a:ext cx="10308590" cy="544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32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zh-CN" altLang="en-US" dirty="0"/>
              <a:t>名称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  <p:sp>
        <p:nvSpPr>
          <p:cNvPr id="22" name="文本占位符 21"/>
          <p:cNvSpPr>
            <a:spLocks noGrp="1"/>
          </p:cNvSpPr>
          <p:nvPr>
            <p:ph type="body" idx="17" hasCustomPrompt="1"/>
          </p:nvPr>
        </p:nvSpPr>
        <p:spPr>
          <a:xfrm>
            <a:off x="324485" y="188595"/>
            <a:ext cx="10308590" cy="544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3200" b="1">
                <a:solidFill>
                  <a:srgbClr val="2D5AFA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zh-CN" altLang="en-US" dirty="0"/>
              <a:t>名称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920240"/>
            <a:ext cx="12192635" cy="3017520"/>
          </a:xfrm>
          <a:prstGeom prst="rect">
            <a:avLst/>
          </a:prstGeom>
          <a:gradFill>
            <a:gsLst>
              <a:gs pos="0">
                <a:srgbClr val="2F5EFA"/>
              </a:gs>
              <a:gs pos="100000">
                <a:srgbClr val="2E5D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3" hasCustomPrompt="1"/>
          </p:nvPr>
        </p:nvSpPr>
        <p:spPr>
          <a:xfrm>
            <a:off x="4408805" y="2971800"/>
            <a:ext cx="3373755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lvl="0"/>
            <a:r>
              <a:rPr lang="zh-CN" altLang="en-US" dirty="0"/>
              <a:t>谢谢</a:t>
            </a:r>
            <a:r>
              <a:rPr lang="zh-CN" altLang="en-US" dirty="0"/>
              <a:t>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资源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730230" y="295275"/>
            <a:ext cx="1139825" cy="3314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3C5ED0"/>
          </a:solidFill>
          <a:latin typeface="Microsoft YaHei Bold" panose="020B0503020204020204" charset="-122"/>
          <a:ea typeface="Microsoft YaHei Bold" panose="020B050302020402020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rgbClr val="3C5ED0"/>
          </a:solidFill>
          <a:latin typeface="Microsoft YaHei Regular" panose="020B0503020204020204" charset="-122"/>
          <a:ea typeface="Microsoft YaHei Regular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tags" Target="../tags/tag25.xml"/><Relationship Id="rId2" Type="http://schemas.openxmlformats.org/officeDocument/2006/relationships/image" Target="../media/image4.png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从消息流到工作流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如何把零散协作变成持续推进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/>
        <p:txBody>
          <a:bodyPr/>
          <a:p>
            <a:r>
              <a:rPr lang="en-US" altLang="zh-CN"/>
              <a:t>分享人：第别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2026年4月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8"/>
          </p:nvPr>
        </p:nvSpPr>
        <p:spPr/>
        <p:txBody>
          <a:bodyPr/>
          <a:p>
            <a:r>
              <a:rPr lang="zh-CN" altLang="en-US" b="1">
                <a:latin typeface="Microsoft YaHei Bold" panose="020B0503020204020204" charset="-122"/>
                <a:ea typeface="Microsoft YaHei Bold" panose="020B0503020204020204" charset="-122"/>
              </a:rPr>
              <a:t>卫宁健康</a:t>
            </a:r>
            <a:endParaRPr lang="zh-CN" altLang="en-US" b="1">
              <a:latin typeface="Microsoft YaHei Bold" panose="020B0503020204020204" charset="-122"/>
              <a:ea typeface="Microsoft YaHei Bold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目录</a:t>
            </a:r>
            <a:endParaRPr lang="zh-CN" altLang="en-US" sz="1800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为什么不是只做聊天 AI</a:t>
            </a:r>
            <a:endParaRPr lang="zh-CN" altLang="en-US"/>
          </a:p>
        </p:txBody>
      </p:sp>
      <p:sp>
        <p:nvSpPr>
          <p:cNvPr id="6" name="标题 6"/>
          <p:cNvSpPr>
            <a:spLocks noGrp="1"/>
          </p:cNvSpPr>
          <p:nvPr>
            <p:custDataLst>
              <p:tags ns2:id="rId1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r>
              <a:rPr lang="zh-CN" altLang="en-US" dirty="0"/>
              <a:t>01</a:t>
            </a:r>
            <a:endParaRPr lang="zh-CN" altLang="en-US" dirty="0"/>
          </a:p>
        </p:txBody>
      </p:sp>
      <p:sp>
        <p:nvSpPr>
          <p:cNvPr id="8" name="圆角矩形 7"/>
          <p:cNvSpPr/>
          <p:nvPr>
            <p:custDataLst>
              <p:tags ns2:id="rId2"/>
            </p:custDataLst>
          </p:nvPr>
        </p:nvSpPr>
        <p:spPr>
          <a:xfrm>
            <a:off x="4382770" y="2000397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r>
              <a:rPr/>
              <a:t>四层协作链路怎么搭起来</a:t>
            </a:r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序号"/>
          <p:cNvSpPr txBox="1"/>
          <p:nvPr>
            <p:custDataLst>
              <p:tags ns2:id="rId3"/>
            </p:custDataLst>
          </p:nvPr>
        </p:nvSpPr>
        <p:spPr>
          <a:xfrm>
            <a:off x="4382770" y="2004691"/>
            <a:ext cx="888991" cy="89205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02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6" name="标题"/>
          <p:cNvSpPr txBox="1"/>
          <p:nvPr>
            <p:custDataLst>
              <p:tags ns2:id="rId4"/>
            </p:custDataLst>
          </p:nvPr>
        </p:nvSpPr>
        <p:spPr>
          <a:xfrm>
            <a:off x="5582202" y="2004691"/>
            <a:ext cx="3697688" cy="902489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日志猎人案例怎么把链路跑通</a:t>
            </a:r>
            <a:endParaRPr lang="zh-CN" altLang="en-US" sz="24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ns2:id="rId5"/>
            </p:custDataLst>
          </p:nvPr>
        </p:nvSpPr>
        <p:spPr>
          <a:xfrm>
            <a:off x="4382770" y="3208418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r>
              <a:rPr/>
              <a:t>03</a:t>
            </a:r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序号"/>
          <p:cNvSpPr txBox="1"/>
          <p:nvPr>
            <p:custDataLst>
              <p:tags ns2:id="rId6"/>
            </p:custDataLst>
          </p:nvPr>
        </p:nvSpPr>
        <p:spPr>
          <a:xfrm>
            <a:off x="4382770" y="3212713"/>
            <a:ext cx="888991" cy="89205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边界、教训与下一步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4" name="标题"/>
          <p:cNvSpPr txBox="1"/>
          <p:nvPr>
            <p:custDataLst>
              <p:tags ns2:id="rId7"/>
            </p:custDataLst>
          </p:nvPr>
        </p:nvSpPr>
        <p:spPr>
          <a:xfrm>
            <a:off x="5582202" y="3217008"/>
            <a:ext cx="3697688" cy="896353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04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ns2:id="rId8"/>
            </p:custDataLst>
          </p:nvPr>
        </p:nvSpPr>
        <p:spPr>
          <a:xfrm>
            <a:off x="4382770" y="4416440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5" name="序号"/>
          <p:cNvSpPr txBox="1"/>
          <p:nvPr>
            <p:custDataLst>
              <p:tags ns2:id="rId9"/>
            </p:custDataLst>
          </p:nvPr>
        </p:nvSpPr>
        <p:spPr>
          <a:xfrm>
            <a:off x="4382770" y="4420735"/>
            <a:ext cx="888991" cy="89205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03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36" name="标题"/>
          <p:cNvSpPr txBox="1"/>
          <p:nvPr>
            <p:custDataLst>
              <p:tags ns2:id="rId10"/>
            </p:custDataLst>
          </p:nvPr>
        </p:nvSpPr>
        <p:spPr>
          <a:xfrm>
            <a:off x="5582202" y="4423802"/>
            <a:ext cx="3697688" cy="894513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院端异常信息提示说明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ns2:id="rId11"/>
            </p:custDataLst>
          </p:nvPr>
        </p:nvSpPr>
        <p:spPr>
          <a:xfrm>
            <a:off x="4382770" y="5624462"/>
            <a:ext cx="4896507" cy="896353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序号"/>
          <p:cNvSpPr txBox="1"/>
          <p:nvPr>
            <p:custDataLst>
              <p:tags ns2:id="rId12"/>
            </p:custDataLst>
          </p:nvPr>
        </p:nvSpPr>
        <p:spPr>
          <a:xfrm>
            <a:off x="4382770" y="5628756"/>
            <a:ext cx="888991" cy="89205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04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40" name="标题"/>
          <p:cNvSpPr txBox="1"/>
          <p:nvPr>
            <p:custDataLst>
              <p:tags ns2:id="rId13"/>
            </p:custDataLst>
          </p:nvPr>
        </p:nvSpPr>
        <p:spPr>
          <a:xfrm>
            <a:off x="5582202" y="5628756"/>
            <a:ext cx="3697688" cy="885924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业务前端对接说明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目录</a:t>
            </a:r>
            <a:endParaRPr lang="zh-CN" altLang="en-US" sz="1800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为什么不是只做聊天 AI</a:t>
            </a:r>
            <a:endParaRPr lang="zh-CN" altLang="en-US"/>
          </a:p>
        </p:txBody>
      </p:sp>
      <p:sp>
        <p:nvSpPr>
          <p:cNvPr id="6" name="标题 6"/>
          <p:cNvSpPr>
            <a:spLocks noGrp="1"/>
          </p:cNvSpPr>
          <p:nvPr>
            <p:custDataLst>
              <p:tags ns2:id="rId1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r>
              <a:rPr/>
              <a:t>01</a:t>
            </a:r>
            <a:endParaRPr lang="en-US" altLang="zh-CN" dirty="0"/>
          </a:p>
        </p:txBody>
      </p:sp>
      <p:sp>
        <p:nvSpPr>
          <p:cNvPr id="8" name="圆角矩形 7"/>
          <p:cNvSpPr/>
          <p:nvPr>
            <p:custDataLst>
              <p:tags ns2:id="rId2"/>
            </p:custDataLst>
          </p:nvPr>
        </p:nvSpPr>
        <p:spPr>
          <a:xfrm>
            <a:off x="4480560" y="3034665"/>
            <a:ext cx="5570855" cy="166179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r>
              <a:rPr/>
              <a:t>问题不是 AI 会不会答</a:t>
            </a:r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序号"/>
          <p:cNvSpPr txBox="1"/>
          <p:nvPr>
            <p:custDataLst>
              <p:tags ns2:id="rId3"/>
            </p:custDataLst>
          </p:nvPr>
        </p:nvSpPr>
        <p:spPr>
          <a:xfrm>
            <a:off x="4480560" y="3039110"/>
            <a:ext cx="1010920" cy="165354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1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6" name="标题"/>
          <p:cNvSpPr txBox="1"/>
          <p:nvPr>
            <p:custDataLst>
              <p:tags ns2:id="rId4"/>
            </p:custDataLst>
          </p:nvPr>
        </p:nvSpPr>
        <p:spPr>
          <a:xfrm>
            <a:off x="5680075" y="3039110"/>
            <a:ext cx="4206875" cy="167195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功能简介</a:t>
            </a:r>
            <a:endParaRPr lang="zh-CN" altLang="en-US" sz="32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2" name="八角星 1"/>
          <p:cNvSpPr/>
          <p:nvPr/>
        </p:nvSpPr>
        <p:spPr>
          <a:xfrm>
            <a:off x="1310005" y="3319145"/>
            <a:ext cx="1500505" cy="1353820"/>
          </a:xfrm>
          <a:prstGeom prst="star8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1</a:t>
            </a:r>
            <a:endParaRPr lang="en-US" altLang="zh-CN"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我们真正遇到的问题，不是 AI 回答得够不够聪明，而是很多工作天然发生在聊天里：需求确认、专项推进、提醒、会议结论、经验教训都会经过消息流。消息流的问题也很明显——容易散、容易断、第二天不容易无损接上。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90000"/>
              </a:lnSpc>
            </a:pPr>
            <a:r>
              <a:rPr lang="zh-CN" altLang="en-US"/>
              <a:t>总览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为什么不是只做聊天 AI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41930" y="38398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原问题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ns2:id="rId1"/>
            </p:custDataLst>
          </p:nvPr>
        </p:nvPicPr>
        <p:blipFill>
          <a:blip ns2:embed="rId2"/>
          <a:stretch>
            <a:fillRect/>
          </a:stretch>
        </p:blipFill>
        <p:spPr>
          <a:xfrm>
            <a:off x="3826510" y="2066925"/>
            <a:ext cx="7687945" cy="4233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四层协作链路说明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为什么不是只做聊天 AI</a:t>
            </a:r>
            <a:endParaRPr lang="zh-CN" altLang="en-US"/>
          </a:p>
        </p:txBody>
      </p:sp>
      <p:pic>
        <p:nvPicPr>
          <p:cNvPr id="5" name="图片 4" descr="异常提示收集下发应用-流程图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5418455" y="1886585"/>
            <a:ext cx="5537835" cy="4781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0705" y="2488565"/>
            <a:ext cx="4445635" cy="328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1.work-control：入口层 / 路由层，决定信息怎么进</a:t>
            </a:r>
            <a:endParaRPr lang="zh-CN" altLang="en-US"/>
          </a:p>
          <a:p>
            <a:r>
              <a:rPr lang="en-US" altLang="zh-CN"/>
              <a:t>2.work-system：执行层 / 运行层，决定事情怎么跑</a:t>
            </a:r>
            <a:endParaRPr lang="zh-CN" altLang="en-US"/>
          </a:p>
          <a:p>
            <a:r>
              <a:rPr lang="en-US" altLang="zh-CN"/>
              <a:t>3.executor：执行承接层，复杂任务再通过 ACP 连到 Codex</a:t>
            </a:r>
            <a:endParaRPr lang="zh-CN" altLang="en-US"/>
          </a:p>
          <a:p>
            <a:r>
              <a:rPr lang="en-US" altLang="zh-CN"/>
              <a:t>4.memory + cognition：负责把历史找回来、把规则沉淀下来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86350" y="24720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全景图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800" dirty="0">
                <a:sym typeface="+mn-ea"/>
              </a:rPr>
              <a:t>目录</a:t>
            </a:r>
            <a:endParaRPr lang="zh-CN" altLang="en-US" sz="1800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四层协作链路怎么搭起来</a:t>
            </a:r>
            <a:endParaRPr lang="zh-CN" altLang="en-US"/>
          </a:p>
        </p:txBody>
      </p:sp>
      <p:sp>
        <p:nvSpPr>
          <p:cNvPr id="6" name="标题 6"/>
          <p:cNvSpPr>
            <a:spLocks noGrp="1"/>
          </p:cNvSpPr>
          <p:nvPr>
            <p:custDataLst>
              <p:tags ns2:id="rId1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r>
              <a:rPr/>
              <a:t>02</a:t>
            </a:r>
            <a:endParaRPr lang="en-US" altLang="zh-CN" dirty="0"/>
          </a:p>
        </p:txBody>
      </p:sp>
      <p:sp>
        <p:nvSpPr>
          <p:cNvPr id="10" name="圆角矩形 9"/>
          <p:cNvSpPr/>
          <p:nvPr>
            <p:custDataLst>
              <p:tags ns2:id="rId2"/>
            </p:custDataLst>
          </p:nvPr>
        </p:nvSpPr>
        <p:spPr>
          <a:xfrm>
            <a:off x="4382770" y="3208655"/>
            <a:ext cx="5840095" cy="146494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r>
              <a:rPr/>
              <a:t>从接信息到可持续推进</a:t>
            </a:r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序号"/>
          <p:cNvSpPr txBox="1"/>
          <p:nvPr>
            <p:custDataLst>
              <p:tags ns2:id="rId3"/>
            </p:custDataLst>
          </p:nvPr>
        </p:nvSpPr>
        <p:spPr>
          <a:xfrm>
            <a:off x="4382770" y="3212465"/>
            <a:ext cx="1059815" cy="1457325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2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4" name="标题"/>
          <p:cNvSpPr txBox="1"/>
          <p:nvPr>
            <p:custDataLst>
              <p:tags ns2:id="rId4"/>
            </p:custDataLst>
          </p:nvPr>
        </p:nvSpPr>
        <p:spPr>
          <a:xfrm>
            <a:off x="5582285" y="3216910"/>
            <a:ext cx="4410075" cy="146494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云端系统服务功能介绍</a:t>
            </a:r>
            <a:endParaRPr lang="zh-CN" altLang="en-US" sz="28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2" name="八角星 1"/>
          <p:cNvSpPr/>
          <p:nvPr/>
        </p:nvSpPr>
        <p:spPr>
          <a:xfrm>
            <a:off x="1310005" y="3319145"/>
            <a:ext cx="1500505" cy="1353820"/>
          </a:xfrm>
          <a:prstGeom prst="star8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2</a:t>
            </a:r>
            <a:endParaRPr lang="en-US" altLang="zh-CN"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第一层：work-control   - 信息怎么进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 algn="ctr">
              <a:lnSpc>
                <a:spcPct val="160000"/>
              </a:lnSpc>
            </a:pPr>
            <a:r>
              <a:rPr lang="zh-CN" altLang="en-US"/>
              <a:t>路由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四层协作链路怎么搭起来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9135" y="23126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1. 先判断一句话是临时事项、专项、提醒，还是需要补追问</a:t>
            </a:r>
            <a:endParaRPr lang="en-US" altLang="zh-CN" b="1"/>
          </a:p>
          <a:p>
            <a:r>
              <a:rPr lang="en-US" altLang="zh-CN" b="1"/>
              <a:t>2. 避免一上来就把模糊信息硬塞进系统</a:t>
            </a:r>
            <a:endParaRPr lang="en-US" altLang="zh-CN" b="1"/>
          </a:p>
          <a:p>
            <a:r>
              <a:rPr lang="en-US" altLang="zh-CN" b="1"/>
              <a:t>3. 核心作用：把聊天里的有效输入正确送到该去的地方</a:t>
            </a:r>
            <a:endParaRPr lang="en-US" altLang="zh-CN" b="1"/>
          </a:p>
        </p:txBody>
      </p:sp>
      <p:sp>
        <p:nvSpPr>
          <p:cNvPr id="10" name="文本框 9"/>
          <p:cNvSpPr txBox="1"/>
          <p:nvPr/>
        </p:nvSpPr>
        <p:spPr>
          <a:xfrm>
            <a:off x="756285" y="36277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2. </a:t>
            </a:r>
            <a:r>
              <a:rPr lang="zh-CN" altLang="en-US" b="1"/>
              <a:t>登录账号说明</a:t>
            </a:r>
            <a:endParaRPr lang="zh-CN" altLang="en-US" b="1"/>
          </a:p>
          <a:p>
            <a:r>
              <a:rPr lang="en-US" altLang="zh-CN" b="1"/>
              <a:t>     </a:t>
            </a:r>
            <a:r>
              <a:rPr lang="zh-CN" altLang="en-US" b="1"/>
              <a:t>使用</a:t>
            </a:r>
            <a:r>
              <a:rPr lang="en-US" altLang="zh-CN" b="1"/>
              <a:t>pmis </a:t>
            </a:r>
            <a:r>
              <a:rPr lang="zh-CN" altLang="en-US" b="1"/>
              <a:t>的工号</a:t>
            </a:r>
            <a:r>
              <a:rPr lang="en-US" altLang="zh-CN" b="1"/>
              <a:t>+</a:t>
            </a:r>
            <a:r>
              <a:rPr lang="zh-CN" altLang="en-US" b="1"/>
              <a:t>密码登录</a:t>
            </a:r>
            <a:endParaRPr lang="zh-CN" altLang="en-US" b="1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ns2:id="rId1"/>
            </p:custDataLst>
          </p:nvPr>
        </p:nvPicPr>
        <p:blipFill>
          <a:blip ns2:embed="rId2"/>
          <a:stretch>
            <a:fillRect/>
          </a:stretch>
        </p:blipFill>
        <p:spPr>
          <a:xfrm>
            <a:off x="5359400" y="1093470"/>
            <a:ext cx="4450080" cy="3283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ns2:id="rId3"/>
            </p:custDataLst>
          </p:nvPr>
        </p:nvPicPr>
        <p:blipFill>
          <a:blip ns2:embed="rId4"/>
          <a:stretch>
            <a:fillRect/>
          </a:stretch>
        </p:blipFill>
        <p:spPr>
          <a:xfrm>
            <a:off x="5737225" y="3221355"/>
            <a:ext cx="6435725" cy="3727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5650" y="5015865"/>
            <a:ext cx="4316730" cy="62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3.</a:t>
            </a:r>
            <a:r>
              <a:rPr lang="zh-CN" altLang="en-US" b="1"/>
              <a:t>通过</a:t>
            </a:r>
            <a:r>
              <a:rPr lang="en-US" altLang="zh-CN" b="1"/>
              <a:t>wxp-</a:t>
            </a:r>
            <a:r>
              <a:rPr lang="zh-CN" altLang="en-US" b="1"/>
              <a:t>》研发中心</a:t>
            </a:r>
            <a:r>
              <a:rPr lang="en-US" altLang="zh-CN" b="1"/>
              <a:t>-</a:t>
            </a:r>
            <a:r>
              <a:rPr lang="zh-CN" altLang="en-US" b="1"/>
              <a:t>》异常信息模版</a:t>
            </a:r>
            <a:endParaRPr lang="zh-CN" alt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第二层：work-system  - 事情怎么跑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运行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四层协作链路怎么搭起来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ns2:id="rId1"/>
            </p:custDataLst>
          </p:nvPr>
        </p:nvPicPr>
        <p:blipFill>
          <a:blip ns2:embed="rId2"/>
          <a:stretch>
            <a:fillRect/>
          </a:stretch>
        </p:blipFill>
        <p:spPr>
          <a:xfrm>
            <a:off x="4249420" y="2586990"/>
            <a:ext cx="7560945" cy="38754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7390" y="2374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承接 Daily Focus、Daily Summary、项目档案、风险、里程碑、交付物</a:t>
            </a:r>
            <a:endParaRPr lang="zh-CN" altLang="en-US"/>
          </a:p>
          <a:p>
            <a:r>
              <a:rPr lang="en-US" altLang="zh-CN"/>
              <a:t>2. 让事情不再只停留在“聊过了”，而是能今天推进、明天续上、以后回看</a:t>
            </a:r>
            <a:endParaRPr lang="zh-CN" altLang="en-US"/>
          </a:p>
          <a:p>
            <a:r>
              <a:rPr lang="en-US" altLang="zh-CN"/>
              <a:t>3. 核心作用：把零散协作变成可追踪、可持续的工作流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0875" y="32778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新增：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</a:t>
            </a:r>
            <a:r>
              <a:rPr lang="zh-CN" altLang="en-US"/>
              <a:t>点击</a:t>
            </a:r>
            <a:r>
              <a:rPr lang="en-US" altLang="zh-CN"/>
              <a:t> </a:t>
            </a:r>
            <a:r>
              <a:rPr lang="zh-CN" altLang="en-US"/>
              <a:t>新增按钮进行新增模版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340" y="42525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维护修改：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点击列表的维护按钮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第三层：executor + ACP + Codex  - 复杂任务怎么被稳定执行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四层协作链路怎么搭起来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7390" y="2374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主会话负责判断和收口，不直接陷进所有执行细节</a:t>
            </a:r>
            <a:endParaRPr lang="zh-CN" altLang="en-US"/>
          </a:p>
          <a:p>
            <a:r>
              <a:rPr lang="en-US" altLang="zh-CN"/>
              <a:t>2. executor 负责把问题转成可持续处理的执行任务</a:t>
            </a:r>
            <a:endParaRPr lang="zh-CN" altLang="en-US"/>
          </a:p>
          <a:p>
            <a:r>
              <a:rPr lang="en-US" altLang="zh-CN"/>
              <a:t>3. 事故驱动、多模块代码追踪、需要结构化结论时，再通过 ACP 连 Codex</a:t>
            </a:r>
            <a:endParaRPr lang="zh-CN" altLang="en-US"/>
          </a:p>
          <a:p>
            <a:r>
              <a:rPr lang="en-US" altLang="zh-CN"/>
              <a:t>4. 结果必须回写共享区，否则第二天容易断片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0875" y="32778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导入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</a:t>
            </a:r>
            <a:r>
              <a:rPr lang="zh-CN" altLang="en-US"/>
              <a:t>之前导出的异常代码</a:t>
            </a:r>
            <a:r>
              <a:rPr lang="en-US" altLang="zh-CN"/>
              <a:t>-</a:t>
            </a:r>
            <a:r>
              <a:rPr lang="zh-CN" altLang="en-US"/>
              <a:t>维护好解决方案，在这里导入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61340" y="42525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导入成功后，与之前导出的信息进行关联通过异常编码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ns2:id="rId1"/>
            </p:custDataLst>
          </p:nvPr>
        </p:nvPicPr>
        <p:blipFill>
          <a:blip ns2:embed="rId2"/>
          <a:stretch>
            <a:fillRect/>
          </a:stretch>
        </p:blipFill>
        <p:spPr>
          <a:xfrm>
            <a:off x="4866005" y="2312670"/>
            <a:ext cx="7053580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252855" y="1031240"/>
            <a:ext cx="10617835" cy="982980"/>
          </a:xfrm>
        </p:spPr>
        <p:txBody>
          <a:bodyPr>
            <a:normAutofit/>
          </a:bodyPr>
          <a:p>
            <a:pPr algn="l">
              <a:lnSpc>
                <a:spcPct val="160000"/>
              </a:lnSpc>
              <a:defRPr/>
            </a:pPr>
            <a:r>
              <a:rPr lang="zh-CN" altLang="en-US" sz="1665" b="1" kern="0" noProof="0" dirty="0">
                <a:ln>
                  <a:noFill/>
                </a:ln>
                <a:effectLst/>
                <a:uLnTx/>
                <a:uFillTx/>
                <a:cs typeface="+mn-ea"/>
                <a:sym typeface="Arial" panose="020B0604020202020204" pitchFamily="34" charset="0"/>
              </a:rPr>
              <a:t>第四层：memory_search + gguf + cognition-system</a:t>
            </a:r>
            <a:endParaRPr lang="zh-CN" altLang="en-US" sz="1665" b="1" kern="0" noProof="0" dirty="0">
              <a:ln>
                <a:noFill/>
              </a:ln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494030" y="1031240"/>
            <a:ext cx="647065" cy="982980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记忆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7"/>
          </p:nvPr>
        </p:nvSpPr>
        <p:spPr/>
        <p:txBody>
          <a:bodyPr/>
          <a:p>
            <a:r>
              <a:rPr lang="zh-CN" altLang="en-US"/>
              <a:t>四层协作链路怎么搭起来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ns2:id="rId1"/>
            </p:custDataLst>
          </p:nvPr>
        </p:nvPicPr>
        <p:blipFill>
          <a:blip ns2:embed="rId2"/>
          <a:stretch>
            <a:fillRect/>
          </a:stretch>
        </p:blipFill>
        <p:spPr>
          <a:xfrm>
            <a:off x="4725035" y="2312670"/>
            <a:ext cx="6875780" cy="4100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2730" y="2219960"/>
            <a:ext cx="4364355" cy="728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 记忆检索解决的不是“搜文件更快”，而是找得到、少漏、接得上</a:t>
            </a:r>
            <a:endParaRPr lang="zh-CN" altLang="en-US"/>
          </a:p>
          <a:p>
            <a:r>
              <a:rPr lang="en-US" altLang="zh-CN"/>
              <a:t>2. 本地 gguf 向量模型支撑长期记忆的语义召回</a:t>
            </a:r>
            <a:endParaRPr lang="zh-CN" altLang="en-US"/>
          </a:p>
          <a:p>
            <a:r>
              <a:rPr lang="en-US" altLang="zh-CN"/>
              <a:t>3. cognition-system 不记感想，沉淀的是可复用的判断规则、教训和迁移经验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 rot="10800000" flipV="1">
            <a:off x="266065" y="2778125"/>
            <a:ext cx="4064000" cy="366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提醒文案：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4485" y="32499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</a:t>
            </a:r>
            <a:r>
              <a:rPr lang="zh-CN" altLang="en-US"/>
              <a:t>异常编码：手动录入异常编码，唯一不可重复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4485" y="3939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2.2</a:t>
            </a:r>
            <a:r>
              <a:rPr lang="zh-CN" altLang="en-US"/>
              <a:t>简要文案：异常提示标题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24485" y="4396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2.3</a:t>
            </a:r>
            <a:r>
              <a:rPr lang="zh-CN" altLang="en-US"/>
              <a:t>帮助文案：简要方案说明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3205" y="4810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辅助文案</a:t>
            </a:r>
            <a:r>
              <a:rPr lang="en-US" altLang="zh-CN"/>
              <a:t> </a:t>
            </a:r>
            <a:r>
              <a:rPr lang="zh-CN" altLang="en-US"/>
              <a:t>：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49885" y="5316855"/>
            <a:ext cx="4218940" cy="723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</a:t>
            </a:r>
            <a:r>
              <a:rPr lang="zh-CN" altLang="en-US"/>
              <a:t>辅助文案类型：</a:t>
            </a:r>
            <a:r>
              <a:rPr lang="en-US" altLang="zh-CN"/>
              <a:t> API</a:t>
            </a:r>
            <a:r>
              <a:rPr lang="zh-CN" altLang="en-US"/>
              <a:t>、</a:t>
            </a:r>
            <a:r>
              <a:rPr lang="en-US" altLang="zh-CN"/>
              <a:t>SQL</a:t>
            </a:r>
            <a:r>
              <a:rPr lang="zh-CN" altLang="en-US"/>
              <a:t>、菜单跳转、辅助文本（当前版本支持辅助文本）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9405" y="60947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</a:t>
            </a:r>
            <a:r>
              <a:rPr lang="zh-CN" altLang="en-US"/>
              <a:t>面向用户：勾选后前端弹框解决方案不弹异常堆栈信息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"/>
  <p:tag name="KSO_WM_DIAGRAM_GROUP_CODE" val="l1-1"/>
</p:tagLst>
</file>

<file path=ppt/tags/tag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1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314_4*l_h_i*1_1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1_1"/>
  <p:tag name="KSO_WM_DIAGRAM_VERSION" val="3"/>
  <p:tag name="KSO_WM_DIAGRAM_COLOR_TRICK" val="2"/>
  <p:tag name="KSO_WM_DIAGRAM_COLOR_TEXT_CAN_REMOVE" val="n"/>
  <p:tag name="KSO_WM_UNIT_VALUE" val="28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2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314_4*l_h_i*1_2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3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314_4*l_h_i*1_3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1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4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314_4*l_h_i*1_4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1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"/>
  <p:tag name="KSO_WM_DIAGRAM_GROUP_CODE" val="l1-1"/>
</p:tagLst>
</file>

<file path=ppt/tags/tag1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1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314_4*l_h_i*1_1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1_1"/>
  <p:tag name="KSO_WM_DIAGRAM_VERSION" val="3"/>
  <p:tag name="KSO_WM_DIAGRAM_COLOR_TRICK" val="2"/>
  <p:tag name="KSO_WM_DIAGRAM_COLOR_TEXT_CAN_REMOVE" val="n"/>
  <p:tag name="KSO_WM_UNIT_VALUE" val="28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"/>
  <p:tag name="KSO_WM_DIAGRAM_GROUP_CODE" val="l1-1"/>
</p:tagLst>
</file>

<file path=ppt/tags/tag2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custom20230314_4*l_h_i*1_2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314_4*l_h_i*1_2_2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4"/>
  <p:tag name="KSO_WM_UNIT_LAYERLEVEL" val="1_1_1"/>
  <p:tag name="KSO_WM_TAG_VERSION" val="3.0"/>
  <p:tag name="KSO_WM_BEAUTIFY_FLAG" val=""/>
  <p:tag name="KSO_WM_DIAGRAM_GROUP_CODE" val="l1-1"/>
  <p:tag name="KSO_WM_UNIT_TYPE" val="l_h_a"/>
  <p:tag name="KSO_WM_UNIT_ID" val="custom20230314_4*l_h_a*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59.29999389648435,&quot;left&quot;:345.09999694824216,&quot;top&quot;:156.07500305175782,&quot;width&quot;:386.25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commondata" val="eyJoZGlkIjoiMDkxZTNkYTE4MzcwZjBiNTE3ZTU5YTYxZWM3NjgzODMifQ=="/>
</p:tagLst>
</file>

<file path=ppt/theme/theme1.xml><?xml version="1.0" encoding="utf-8"?>
<a:theme xmlns:a="http://schemas.openxmlformats.org/drawingml/2006/main" name="汇报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WPS 演示</Application>
  <PresentationFormat>宽屏</PresentationFormat>
  <Paragraphs>146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Microsoft YaHei Bold</vt:lpstr>
      <vt:lpstr>Microsoft YaHei Regular</vt:lpstr>
      <vt:lpstr>微软雅黑</vt:lpstr>
      <vt:lpstr>MiSans Normal</vt:lpstr>
      <vt:lpstr>Calibri</vt:lpstr>
      <vt:lpstr>Arial Unicode MS</vt:lpstr>
      <vt:lpstr>汇报PPT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卫宁健康科技集团股份有限公司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汇报PPT</dc:title>
  <dc:creator>卫宁健康科技集团股份有限公司</dc:creator>
  <cp:lastModifiedBy>谭晓雯</cp:lastModifiedBy>
  <cp:revision>90</cp:revision>
  <dcterms:created xsi:type="dcterms:W3CDTF">2023-04-23T06:09:00Z</dcterms:created>
  <dcterms:modified xsi:type="dcterms:W3CDTF">2026-04-01T08:55:33Z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4A5DDDD88C9C4D39A88A382D9C379568_12</vt:lpwstr>
  </property>
</Properties>
</file>