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slideLayouts/slideLayout16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3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7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  <p:sldMasterId id="2147483662" r:id="rId3"/>
    <p:sldMasterId id="2147483664" r:id="rId4"/>
    <p:sldMasterId id="2147483666" r:id="rId5"/>
    <p:sldMasterId id="2147483668" r:id="rId6"/>
  </p:sldMasterIdLst>
  <p:notesMasterIdLst>
    <p:notesMasterId r:id="rId19"/>
  </p:notesMasterIdLst>
  <p:sldIdLst>
    <p:sldId id="305" r:id="rId7"/>
    <p:sldId id="323" r:id="rId8"/>
    <p:sldId id="306" r:id="rId9"/>
    <p:sldId id="307" r:id="rId10"/>
    <p:sldId id="308" r:id="rId11"/>
    <p:sldId id="309" r:id="rId12"/>
    <p:sldId id="310" r:id="rId13"/>
    <p:sldId id="311" r:id="rId14"/>
    <p:sldId id="320" r:id="rId15"/>
    <p:sldId id="321" r:id="rId16"/>
    <p:sldId id="322" r:id="rId17"/>
    <p:sldId id="312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00" userDrawn="1">
          <p15:clr>
            <a:srgbClr val="747775"/>
          </p15:clr>
        </p15:guide>
        <p15:guide id="2" pos="2942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00"/>
        <p:guide pos="2942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20.03.2026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大家好，我是姚云，来自日志猎人团队。今天由我来汇报我们的项目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《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日志猎人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》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
这次汇报我会围绕四个部分展开：第一，项目为什么做；第二，这套能力是怎么实现的；第三，我们已经做成了什么、能带来什么价值；第四，后续如何进一步走向治理闭环。
我们这次项目的核心，不是做一个单纯的查日志工具，而是希望把日志从事后排障材料，变成主动发现问题、支撑系统治理的抓手。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先介绍一下团队情况。
我本人，也就是姚云，主要负责整个项目的统筹、方案设计、能力实现、联调验证以及本次答辩材料整理。
徐晓飞、李荣军、郭兴尚、黄钢几位老师，更多从业务指导、方案评审、场景梳理、落地推进和应用优化等方面给了持续支持。
另外，运维部也提供了关键协同支持，主要包括连接能力和日志文件下载能力，这为项目联调和落地验证提供了必要条件。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接下来进入汇报议程。
第一部分，我会先讲我们为什么做日志猎人，它真正想解决的核心问题是什么。
第二部分，我会讲这套日志巡检和分析能力是怎么搭起来的。
第三部分，我会展示目前已经形成的成果，以及它在实际工作中的价值。
最后，我会对这一阶段做一个总结，并说明后续如何继续走向治理闭环。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先讲项目背景与目标。
我们做这件事的初衷，并不是因为现在完全没法排查日志，也不是单纯因为环境不统一，而是希望从被动排障走向主动巡检和持续治理。
在实际工作里，很多问题发现还是偏事后响应，往往依赖人工经验和临时排查。日志虽然很多，但长期停留在可查看层面，没有真正转化成持续治理的抓手。
所以我们的目标，是建设一套可投入使用的日志巡检与分析能力，能够自动采集日志、结构化分析结果，主动识别异常风险、性能瓶颈和日志质量问题。
它的价值在于，让日志不仅能帮助定位问题，还能反哺日志质量建设，进一步支撑系统健壮性和性能的持续提升。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这一页讲技术方案与实现。
我们整体是按一条完整链路来设计的。第一步，是先把日志稳定拿到；第二步，是对日志做结构化分析；第三步，是把结果直接沉淀成可用的输出。
在输入侧，我们兼顾了 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K8s 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和传统服务器两类场景，核心目标不是炫技术，而是保证不同环境下都能稳定接入同一套分析流程。
在分析侧，我们重点围绕异常、慢接口和代表 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trace 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做处理，解决的其实是三个问题：看不清、分不出、追不全。
在输出侧，我们直接生成 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HTML 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报告和结构化结果，让巡检结论可以被查看、被复盘、被继续使用，而不是停留在原始日志层面。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这一页重点讲能力亮点。
第一，是两阶段日志拉取。我们不是一上来就把所有链路全量拉满，而是先抓重点问题，再针对代表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trace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补完整链路，这样能兼顾效率和效果。
第二，是四级分组分析。我们把零散异常按统一维度聚合，这样报告出来的结果更清晰，也更利于后续治理。
第三，是调用方识别。它可以帮助我们快速判断问题来自本服务、跨服务、还是异步和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RPC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场景，这对分析影响范围非常有帮助。
另外，我们还强调代表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trace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优先、完整内容保留，以及影响级别、线程、时间范围、耗时等多维结果呈现。
所以这套能力的价值，不只是看得到问题，还能讲得清问题、用得上结果。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这一页讲成果展示与应用价值。
目前，这个项目已经形成了从日志获取、分析处理到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HTML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报告输出的完整链路，现阶段已经可以投入使用。
它的直接价值，是帮助团队更早发现风险、更快识别瓶颈，并把分析结果沉淀为可复盘、可复用的治理材料，降低对个人经验的依赖。
它适合用在日常巡检、异常复盘、性能分析、专项汇报和跨环境问题定位这些场景中。
同时，这套能力也具备复用价值，未来可以推广到更多服务、更多医院环境和更多巡检场景，逐步形成统一的日志巡检与治理能力底座。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这里先做一个阶段性总结。
到当前阶段，我们已经形成了可投入使用的日志巡检能力，也沉淀了跨环境分析和报告输出的经验。
更重要的是，这个项目推动了一种能力转变：从过去更偏被动排障，逐步走向主动巡检和质量治理。
下一步，我们希望进一步强化问题发现之后的优化闭环，让这套能力在更多场景持续复用。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这一页是能力证据页。
这里展示的是我们真实生成的分析报告页面。想说明的一点是，这套能力并不是停留在日志抓取层面，而是已经能够把异常定位、链路追踪和结果呈现做成可直接使用的输出。
换句话说，它不是把原始日志搬运出来，而是已经开始形成可读、可复盘、可汇报的分析结果。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这一页展示成果收获。
左边这张图是日志质量分析页面，可以直接看到缺少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API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入口、异常信息完整性以及影响级别分布等内容，这说明我们已经可以利用分析结果反哺日志质量建设。
右边这张图是异常统计概览页面，可以快速看到高频异常类型和慢接口分布，这对于问题聚类分析和巡检判断都很有价值。
这两张图想证明的是，我们的输出已经不只是发现问题，而是在形成一套可以持续使用的治理材料。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最后讲未来规划。
后续我们会继续围绕分析结果，反哺系统优化和日志规范建设，逐步形成发现问题、分析问题、优化问题、验证效果的闭环机制。
我们希望把这套能力继续推广到更多服务、更多环境和更多治理场景中，让它从一个项目能力，逐步成长为更通用的质量治理能力。
这里也想强调，我们后续的方向不是单纯继续发现问题，而是让发现、分析、优化、验证真正闭合起来。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我的汇报就到这里。
感谢各位老师的聆听，下面进入提问环节。大家如果对项目背景、技术方案、落地方式，或者后续规划有兴趣，我都可以继续展开。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notesSlide" Target="../notesSlides/notesSlide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slideLayout" Target="../slideLayouts/slideLayout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9.xml"/><Relationship Id="rId13" Type="http://schemas.openxmlformats.org/officeDocument/2006/relationships/tags" Target="../tags/tag24.xml"/><Relationship Id="rId3" Type="http://schemas.openxmlformats.org/officeDocument/2006/relationships/tags" Target="../tags/tag14.xml"/><Relationship Id="rId7" Type="http://schemas.openxmlformats.org/officeDocument/2006/relationships/tags" Target="../tags/tag18.xml"/><Relationship Id="rId12" Type="http://schemas.openxmlformats.org/officeDocument/2006/relationships/tags" Target="../tags/tag23.xml"/><Relationship Id="rId17" Type="http://schemas.openxmlformats.org/officeDocument/2006/relationships/image" Target="../media/image4.png"/><Relationship Id="rId2" Type="http://schemas.openxmlformats.org/officeDocument/2006/relationships/tags" Target="../tags/tag13.xml"/><Relationship Id="rId16" Type="http://schemas.openxmlformats.org/officeDocument/2006/relationships/image" Target="../media/image3.jpeg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tags" Target="../tags/tag22.xml"/><Relationship Id="rId5" Type="http://schemas.openxmlformats.org/officeDocument/2006/relationships/tags" Target="../tags/tag16.xml"/><Relationship Id="rId15" Type="http://schemas.openxmlformats.org/officeDocument/2006/relationships/notesSlide" Target="../notesSlides/notesSlide4.xml"/><Relationship Id="rId10" Type="http://schemas.openxmlformats.org/officeDocument/2006/relationships/tags" Target="../tags/tag21.xml"/><Relationship Id="rId4" Type="http://schemas.openxmlformats.org/officeDocument/2006/relationships/tags" Target="../tags/tag15.xml"/><Relationship Id="rId9" Type="http://schemas.openxmlformats.org/officeDocument/2006/relationships/tags" Target="../tags/tag20.xml"/><Relationship Id="rId14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32.xml"/><Relationship Id="rId13" Type="http://schemas.openxmlformats.org/officeDocument/2006/relationships/tags" Target="../tags/tag37.xml"/><Relationship Id="rId18" Type="http://schemas.openxmlformats.org/officeDocument/2006/relationships/notesSlide" Target="../notesSlides/notesSlide7.xml"/><Relationship Id="rId26" Type="http://schemas.openxmlformats.org/officeDocument/2006/relationships/image" Target="../media/image18.svg"/><Relationship Id="rId3" Type="http://schemas.openxmlformats.org/officeDocument/2006/relationships/tags" Target="../tags/tag27.xml"/><Relationship Id="rId21" Type="http://schemas.openxmlformats.org/officeDocument/2006/relationships/image" Target="../media/image13.png"/><Relationship Id="rId7" Type="http://schemas.openxmlformats.org/officeDocument/2006/relationships/tags" Target="../tags/tag31.xml"/><Relationship Id="rId12" Type="http://schemas.openxmlformats.org/officeDocument/2006/relationships/tags" Target="../tags/tag36.xml"/><Relationship Id="rId17" Type="http://schemas.openxmlformats.org/officeDocument/2006/relationships/slideLayout" Target="../slideLayouts/slideLayout12.xml"/><Relationship Id="rId25" Type="http://schemas.openxmlformats.org/officeDocument/2006/relationships/image" Target="../media/image17.png"/><Relationship Id="rId2" Type="http://schemas.openxmlformats.org/officeDocument/2006/relationships/tags" Target="../tags/tag26.xml"/><Relationship Id="rId16" Type="http://schemas.openxmlformats.org/officeDocument/2006/relationships/tags" Target="../tags/tag40.xml"/><Relationship Id="rId20" Type="http://schemas.openxmlformats.org/officeDocument/2006/relationships/image" Target="../media/image4.png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tags" Target="../tags/tag35.xml"/><Relationship Id="rId24" Type="http://schemas.openxmlformats.org/officeDocument/2006/relationships/image" Target="../media/image16.svg"/><Relationship Id="rId5" Type="http://schemas.openxmlformats.org/officeDocument/2006/relationships/tags" Target="../tags/tag29.xml"/><Relationship Id="rId15" Type="http://schemas.openxmlformats.org/officeDocument/2006/relationships/tags" Target="../tags/tag39.xml"/><Relationship Id="rId23" Type="http://schemas.openxmlformats.org/officeDocument/2006/relationships/image" Target="../media/image15.png"/><Relationship Id="rId28" Type="http://schemas.openxmlformats.org/officeDocument/2006/relationships/image" Target="../media/image20.svg"/><Relationship Id="rId10" Type="http://schemas.openxmlformats.org/officeDocument/2006/relationships/tags" Target="../tags/tag34.xml"/><Relationship Id="rId19" Type="http://schemas.openxmlformats.org/officeDocument/2006/relationships/image" Target="../media/image3.jpeg"/><Relationship Id="rId4" Type="http://schemas.openxmlformats.org/officeDocument/2006/relationships/tags" Target="../tags/tag28.xml"/><Relationship Id="rId9" Type="http://schemas.openxmlformats.org/officeDocument/2006/relationships/tags" Target="../tags/tag33.xml"/><Relationship Id="rId14" Type="http://schemas.openxmlformats.org/officeDocument/2006/relationships/tags" Target="../tags/tag38.xml"/><Relationship Id="rId22" Type="http://schemas.openxmlformats.org/officeDocument/2006/relationships/image" Target="../media/image14.svg"/><Relationship Id="rId27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48.xml"/><Relationship Id="rId3" Type="http://schemas.openxmlformats.org/officeDocument/2006/relationships/tags" Target="../tags/tag43.xml"/><Relationship Id="rId7" Type="http://schemas.openxmlformats.org/officeDocument/2006/relationships/tags" Target="../tags/tag47.xml"/><Relationship Id="rId12" Type="http://schemas.openxmlformats.org/officeDocument/2006/relationships/image" Target="../media/image3.jpeg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11" Type="http://schemas.openxmlformats.org/officeDocument/2006/relationships/notesSlide" Target="../notesSlides/notesSlide8.xml"/><Relationship Id="rId5" Type="http://schemas.openxmlformats.org/officeDocument/2006/relationships/tags" Target="../tags/tag45.xml"/><Relationship Id="rId10" Type="http://schemas.openxmlformats.org/officeDocument/2006/relationships/slideLayout" Target="../slideLayouts/slideLayout12.xml"/><Relationship Id="rId4" Type="http://schemas.openxmlformats.org/officeDocument/2006/relationships/tags" Target="../tags/tag44.xml"/><Relationship Id="rId9" Type="http://schemas.openxmlformats.org/officeDocument/2006/relationships/tags" Target="../tags/tag4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1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00100" y="609600"/>
            <a:ext cx="1333500" cy="393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49300" y="2159000"/>
            <a:ext cx="9512300" cy="1917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altLang="zh-CN" sz="5400" b="1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</a:t>
            </a:r>
            <a:r>
              <a:rPr lang="zh-CN" altLang="en-US" sz="5400" b="1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智能运维</a:t>
            </a:r>
            <a:r>
              <a:rPr lang="en-US" altLang="zh-CN" sz="5400" b="1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]
AI</a:t>
            </a:r>
            <a:r>
              <a:rPr lang="zh-CN" altLang="en-US" sz="5400" b="1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技术大赛汇报演示</a:t>
            </a:r>
            <a:endParaRPr lang="en-US" sz="24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800100" y="4559300"/>
            <a:ext cx="54356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zh-CN" altLang="en-US" sz="1400" b="0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队伍名称：日志猎人
汇报人：第别
日期：</a:t>
            </a:r>
            <a:r>
              <a:rPr lang="en-US" altLang="zh-CN" sz="1400" b="0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</a:t>
            </a:r>
            <a:r>
              <a:rPr lang="zh-CN" altLang="en-US" sz="1400" b="0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年</a:t>
            </a:r>
            <a:r>
              <a:rPr lang="en-US" altLang="zh-CN" sz="1400" b="0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</a:t>
            </a:r>
            <a:r>
              <a:rPr lang="zh-CN" altLang="en-US" sz="1400" b="0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132715" y="143510"/>
            <a:ext cx="40005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32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团队介绍</a:t>
            </a:r>
          </a:p>
        </p:txBody>
      </p:sp>
      <p:sp>
        <p:nvSpPr>
          <p:cNvPr id="22" name="AutoShape 21"/>
          <p:cNvSpPr/>
          <p:nvPr/>
        </p:nvSpPr>
        <p:spPr>
          <a:xfrm>
            <a:off x="202565" y="838200"/>
            <a:ext cx="115824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核心成员
姚云（队长）：负责项目统筹、方向把控、核心方案设计、能力实现、联调验证与答辩材料整理
徐晓飞：负责业务指导、方案评审与关键路径支持
李荣军：负责业务把关、场景梳理与推进支持
郭兴尚：负责业务协同、落地建议与推进支持
黄钢：负责业务协同、应用优化与推进支持
协同支持
运维部：提供连接能力，以及日志文件下载能力支持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4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609600" y="393700"/>
            <a:ext cx="7848600" cy="144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8800" b="1" i="0" u="none" strike="noStrike">
                <a:solidFill>
                  <a:srgbClr val="FEFFFF">
                    <a:alpha val="8235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汇报议程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" y="1206500"/>
            <a:ext cx="10922000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zh-CN" altLang="en-US" sz="3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汇报议程 </a:t>
            </a:r>
            <a:r>
              <a:rPr lang="en-US" altLang="zh-CN" sz="3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 AGENDA 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1041400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875DE6">
                  <a:alpha val="51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1993900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3657600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875DE6">
                  <a:alpha val="51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4610100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5"/>
            </p:custDataLst>
          </p:nvPr>
        </p:nvSpPr>
        <p:spPr>
          <a:xfrm>
            <a:off x="6261100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875DE6">
                  <a:alpha val="64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>
            <p:custDataLst>
              <p:tags r:id="rId6"/>
            </p:custDataLst>
          </p:nvPr>
        </p:nvSpPr>
        <p:spPr>
          <a:xfrm>
            <a:off x="7213600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7"/>
            </p:custDataLst>
          </p:nvPr>
        </p:nvSpPr>
        <p:spPr>
          <a:xfrm>
            <a:off x="8864600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FE5D83">
                  <a:alpha val="47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>
            <p:custDataLst>
              <p:tags r:id="rId8"/>
            </p:custDataLst>
          </p:nvPr>
        </p:nvSpPr>
        <p:spPr>
          <a:xfrm>
            <a:off x="9817100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9"/>
            </p:custDataLst>
          </p:nvPr>
        </p:nvSpPr>
        <p:spPr>
          <a:xfrm>
            <a:off x="1003300" y="2425700"/>
            <a:ext cx="2590800" cy="4991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项目背景与目标
为什么要做“日志猎人”，它要解决的核心问题是什么</a:t>
            </a:r>
            <a:endParaRPr lang="en-US" sz="18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3632200" y="2425700"/>
            <a:ext cx="2463800" cy="4673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技术方案与实现
这套日志巡检与分析能力是怎么搭起来的</a:t>
            </a:r>
            <a:endParaRPr lang="en-US" sz="18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0"/>
            </p:custDataLst>
          </p:nvPr>
        </p:nvSpPr>
        <p:spPr>
          <a:xfrm>
            <a:off x="6248400" y="2425700"/>
            <a:ext cx="2489200" cy="3594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成果展示与应用价值
现在已经做成了什么，能为实际工作带来什么价值</a:t>
            </a:r>
            <a:endParaRPr lang="en-US" sz="18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>
            <p:custDataLst>
              <p:tags r:id="rId11"/>
            </p:custDataLst>
          </p:nvPr>
        </p:nvSpPr>
        <p:spPr>
          <a:xfrm>
            <a:off x="8890000" y="2425700"/>
            <a:ext cx="2374900" cy="3911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
这一阶段的收获是什么，后续如何走向治理闭环</a:t>
            </a:r>
            <a:endParaRPr lang="en-US" sz="18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ns2:embed="rId16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ns2:embed="rId17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38100"/>
            <a:ext cx="40005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altLang="zh-CN" sz="3200" b="0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项目背景与目标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991610" y="254000"/>
            <a:ext cx="996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zh-CN" altLang="en-US" sz="20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日志巡检要解决的，不只是"有没有报错"</a:t>
            </a:r>
            <a:endParaRPr lang="en-US" sz="1100"/>
          </a:p>
        </p:txBody>
      </p:sp>
      <p:sp>
        <p:nvSpPr>
          <p:cNvPr id="7" name="Freeform 7"/>
          <p:cNvSpPr/>
          <p:nvPr>
            <p:custDataLst>
              <p:tags ns2:id="rId1"/>
            </p:custDataLst>
          </p:nvPr>
        </p:nvSpPr>
        <p:spPr>
          <a:xfrm>
            <a:off x="283210" y="3454400"/>
            <a:ext cx="4752340" cy="1264285"/>
          </a:xfrm>
          <a:custGeom>
            <a:avLst/>
            <a:gdLst/>
            <a:ahLst/>
            <a:cxnLst/>
            <a:rect l="l" t="t" r="r" b="b"/>
            <a:pathLst>
              <a:path w="4752340" h="1264285">
                <a:moveTo>
                  <a:pt x="0" y="0"/>
                </a:moveTo>
                <a:lnTo>
                  <a:pt x="4551338" y="0"/>
                </a:lnTo>
                <a:cubicBezTo>
                  <a:pt x="4608031" y="213158"/>
                  <a:pt x="4695647" y="426190"/>
                  <a:pt x="4752340" y="639348"/>
                </a:cubicBezTo>
                <a:cubicBezTo>
                  <a:pt x="4695647" y="847703"/>
                  <a:pt x="4608031" y="1055931"/>
                  <a:pt x="4551338" y="1264285"/>
                </a:cubicBezTo>
                <a:lnTo>
                  <a:pt x="0" y="1264285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1000">
                <a:srgbClr val="02297F">
                  <a:alpha val="0"/>
                </a:srgbClr>
              </a:gs>
              <a:gs pos="100000">
                <a:srgbClr val="0654FC">
                  <a:alpha val="45000"/>
                </a:srgbClr>
              </a:gs>
            </a:gsLst>
            <a:lin ang="0"/>
          </a:gradFill>
          <a:ln w="12700" cap="flat" cmpd="sng">
            <a:gradFill rotWithShape="0">
              <a:gsLst>
                <a:gs pos="0">
                  <a:srgbClr val="0654FC">
                    <a:alpha val="0"/>
                  </a:srgbClr>
                </a:gs>
                <a:gs pos="59000">
                  <a:srgbClr val="0654FC">
                    <a:alpha val="100000"/>
                  </a:srgbClr>
                </a:gs>
                <a:gs pos="98000">
                  <a:srgbClr val="0654FC">
                    <a:alpha val="0"/>
                  </a:srgbClr>
                </a:gs>
              </a:gsLst>
              <a:lin ang="0"/>
            </a:gra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>
            <p:custDataLst>
              <p:tags ns2:id="rId2"/>
            </p:custDataLst>
          </p:nvPr>
        </p:nvSpPr>
        <p:spPr>
          <a:xfrm>
            <a:off x="979805" y="1873885"/>
            <a:ext cx="1803400" cy="1117600"/>
          </a:xfrm>
          <a:prstGeom prst="roundRect">
            <a:avLst>
              <a:gd name="adj" fmla="val 5681"/>
            </a:avLst>
          </a:prstGeom>
          <a:gradFill rotWithShape="0">
            <a:gsLst>
              <a:gs pos="0">
                <a:srgbClr val="0654FC">
                  <a:alpha val="36000"/>
                </a:srgbClr>
              </a:gs>
              <a:gs pos="100000">
                <a:srgbClr val="0654FC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>
            <p:custDataLst>
              <p:tags ns2:id="rId3"/>
            </p:custDataLst>
          </p:nvPr>
        </p:nvSpPr>
        <p:spPr>
          <a:xfrm>
            <a:off x="979805" y="1950085"/>
            <a:ext cx="1803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400" b="1" i="0" u="none" strike="noStrike">
                <a:solidFill>
                  <a:srgbClr val="FE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痛点背景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ns2:id="rId4"/>
            </p:custDataLst>
          </p:nvPr>
        </p:nvSpPr>
        <p:spPr>
          <a:xfrm>
            <a:off x="1056005" y="2267585"/>
            <a:ext cx="165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100" b="0" i="0" u="none" strike="noStrike">
                <a:solidFill>
                  <a:srgbClr val="6A98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医院现场日志量大、来源杂，很多问题并不是没有日志，而是日志太散、太多、太难看清。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ns2:id="rId5"/>
            </p:custDataLst>
          </p:nvPr>
        </p:nvSpPr>
        <p:spPr>
          <a:xfrm>
            <a:off x="5589270" y="1873250"/>
            <a:ext cx="1803400" cy="1117600"/>
          </a:xfrm>
          <a:prstGeom prst="roundRect">
            <a:avLst>
              <a:gd name="adj" fmla="val 5681"/>
            </a:avLst>
          </a:prstGeom>
          <a:gradFill rotWithShape="0">
            <a:gsLst>
              <a:gs pos="0">
                <a:srgbClr val="FF833B">
                  <a:alpha val="43000"/>
                </a:srgbClr>
              </a:gs>
              <a:gs pos="100000">
                <a:srgbClr val="FF833B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>
            <p:custDataLst>
              <p:tags ns2:id="rId6"/>
            </p:custDataLst>
          </p:nvPr>
        </p:nvSpPr>
        <p:spPr>
          <a:xfrm>
            <a:off x="5589270" y="1936750"/>
            <a:ext cx="1803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400" b="1" i="0" u="none" strike="noStrike">
                <a:solidFill>
                  <a:srgbClr val="FE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核心判断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ns2:id="rId7"/>
            </p:custDataLst>
          </p:nvPr>
        </p:nvSpPr>
        <p:spPr>
          <a:xfrm>
            <a:off x="5665470" y="2254250"/>
            <a:ext cx="165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100" b="0" i="0" u="none" strike="noStrike">
                <a:solidFill>
                  <a:srgbClr val="FFE6D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真正有价值的巡检，不是把 ERROR 拉出来，而是把问题从海量日志里快速识别出来。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ns2:id="rId8"/>
            </p:custDataLst>
          </p:nvPr>
        </p:nvSpPr>
        <p:spPr>
          <a:xfrm>
            <a:off x="2527300" y="5181600"/>
            <a:ext cx="1803400" cy="1117600"/>
          </a:xfrm>
          <a:prstGeom prst="roundRect">
            <a:avLst>
              <a:gd name="adj" fmla="val 5681"/>
            </a:avLst>
          </a:prstGeom>
          <a:gradFill rotWithShape="0">
            <a:gsLst>
              <a:gs pos="0">
                <a:srgbClr val="0654FC">
                  <a:alpha val="36000"/>
                </a:srgbClr>
              </a:gs>
              <a:gs pos="100000">
                <a:srgbClr val="0654FC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>
            <p:custDataLst>
              <p:tags ns2:id="rId9"/>
            </p:custDataLst>
          </p:nvPr>
        </p:nvSpPr>
        <p:spPr>
          <a:xfrm>
            <a:off x="2527300" y="5257800"/>
            <a:ext cx="1803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400" b="1" i="0" u="none" strike="noStrike">
                <a:solidFill>
                  <a:srgbClr val="FE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项目目标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ns2:id="rId10"/>
            </p:custDataLst>
          </p:nvPr>
        </p:nvSpPr>
        <p:spPr>
          <a:xfrm>
            <a:off x="2603500" y="5575300"/>
            <a:ext cx="165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100" b="0" i="0" u="none" strike="noStrike">
                <a:solidFill>
                  <a:srgbClr val="6A98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建立一套能稳定复用的日志巡检方案，覆盖发现问题、归类问题、定位问题三个关键动作。</a:t>
            </a:r>
            <a:endParaRPr lang="en-US" sz="1100"/>
          </a:p>
        </p:txBody>
      </p:sp>
      <p:sp>
        <p:nvSpPr>
          <p:cNvPr id="17" name="AutoShape 17"/>
          <p:cNvSpPr/>
          <p:nvPr>
            <p:custDataLst>
              <p:tags ns2:id="rId11"/>
            </p:custDataLst>
          </p:nvPr>
        </p:nvSpPr>
        <p:spPr>
          <a:xfrm>
            <a:off x="7653020" y="5181600"/>
            <a:ext cx="1803400" cy="1117600"/>
          </a:xfrm>
          <a:prstGeom prst="roundRect">
            <a:avLst>
              <a:gd name="adj" fmla="val 5681"/>
            </a:avLst>
          </a:prstGeom>
          <a:gradFill rotWithShape="0">
            <a:gsLst>
              <a:gs pos="0">
                <a:srgbClr val="FF833B">
                  <a:alpha val="43000"/>
                </a:srgbClr>
              </a:gs>
              <a:gs pos="100000">
                <a:srgbClr val="FF833B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>
            <p:custDataLst>
              <p:tags ns2:id="rId12"/>
            </p:custDataLst>
          </p:nvPr>
        </p:nvSpPr>
        <p:spPr>
          <a:xfrm>
            <a:off x="7653020" y="5257800"/>
            <a:ext cx="1803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400" b="1" i="0" u="none" strike="noStrike">
                <a:solidFill>
                  <a:srgbClr val="FE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价值导向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ns2:id="rId13"/>
            </p:custDataLst>
          </p:nvPr>
        </p:nvSpPr>
        <p:spPr>
          <a:xfrm>
            <a:off x="7729220" y="5575300"/>
            <a:ext cx="165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100" b="0" i="0" u="none" strike="noStrike">
                <a:solidFill>
                  <a:srgbClr val="FFE6D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让日志从排查材料升级为行动依据，支撑异常治理、性能优化和日志规范改进。</a:t>
            </a:r>
            <a:endParaRPr lang="en-US" sz="1100"/>
          </a:p>
        </p:txBody>
      </p:sp>
      <p:sp>
        <p:nvSpPr>
          <p:cNvPr id="20" name="Freeform 20"/>
          <p:cNvSpPr/>
          <p:nvPr/>
        </p:nvSpPr>
        <p:spPr>
          <a:xfrm rot="5400000">
            <a:off x="7194550" y="520700"/>
            <a:ext cx="2042160" cy="7206615"/>
          </a:xfrm>
          <a:custGeom>
            <a:avLst/>
            <a:gdLst/>
            <a:ahLst/>
            <a:cxnLst/>
            <a:rect l="l" t="t" r="r" b="b"/>
            <a:pathLst>
              <a:path w="2042160" h="7206615">
                <a:moveTo>
                  <a:pt x="0" y="1486306"/>
                </a:moveTo>
                <a:lnTo>
                  <a:pt x="1021080" y="0"/>
                </a:lnTo>
                <a:lnTo>
                  <a:pt x="2042160" y="1486306"/>
                </a:lnTo>
                <a:lnTo>
                  <a:pt x="1610357" y="1486306"/>
                </a:lnTo>
                <a:lnTo>
                  <a:pt x="1610357" y="7206615"/>
                </a:lnTo>
                <a:lnTo>
                  <a:pt x="978306" y="6770607"/>
                </a:lnTo>
                <a:lnTo>
                  <a:pt x="346254" y="7206615"/>
                </a:lnTo>
                <a:lnTo>
                  <a:pt x="346254" y="1486306"/>
                </a:lnTo>
                <a:close/>
              </a:path>
            </a:pathLst>
          </a:custGeom>
          <a:gradFill rotWithShape="0">
            <a:gsLst>
              <a:gs pos="0">
                <a:srgbClr val="FF833B">
                  <a:alpha val="69000"/>
                </a:srgbClr>
              </a:gs>
              <a:gs pos="98000">
                <a:srgbClr val="EC5700">
                  <a:alpha val="14000"/>
                </a:srgbClr>
              </a:gs>
            </a:gsLst>
            <a:lin ang="5400000"/>
          </a:gradFill>
          <a:ln w="12700" cap="flat" cmpd="sng">
            <a:gradFill rotWithShape="0">
              <a:gsLst>
                <a:gs pos="0">
                  <a:srgbClr val="EC5700">
                    <a:alpha val="0"/>
                  </a:srgbClr>
                </a:gs>
                <a:gs pos="98000">
                  <a:srgbClr val="FF833B">
                    <a:alpha val="100000"/>
                  </a:srgbClr>
                </a:gs>
              </a:gsLst>
              <a:lin ang="16200000"/>
            </a:gra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292100" y="838200"/>
            <a:ext cx="115824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我们的目标不是单次排查提效，而是把日志巡检沉淀为一条稳定流程：既能看见问题，也能分清问题，还能继续追到关键链路。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ns2="http://schemas.openxmlformats.org/officeDocument/2006/relationships" xmlns:ns3="http://schemas.microsoft.com/office/drawing/2010/main" xmlns:ns4="http://schemas.microsoft.com/office/drawing/2016/SVG/main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ns2:embed="rId3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ns2:embed="rId4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241300"/>
            <a:ext cx="29083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altLang="zh-CN" sz="2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技术方案与实现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698500"/>
            <a:ext cx="1076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核心方案不是全量展开，而是分阶段识别与补全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47700" y="1498600"/>
            <a:ext cx="5334000" cy="2120900"/>
          </a:xfrm>
          <a:prstGeom prst="roundRect">
            <a:avLst>
              <a:gd name="adj" fmla="val 8383"/>
            </a:avLst>
          </a:prstGeom>
          <a:gradFill rotWithShape="1">
            <a:gsLst>
              <a:gs pos="0">
                <a:srgbClr val="0654FC">
                  <a:alpha val="21000"/>
                </a:srgbClr>
              </a:gs>
              <a:gs pos="96000">
                <a:srgbClr val="0654FC">
                  <a:alpha val="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12700" cap="flat" cmpd="sng">
            <a:gradFill rotWithShape="0">
              <a:gsLst>
                <a:gs pos="0">
                  <a:srgbClr val="0654FC">
                    <a:alpha val="65000"/>
                  </a:srgbClr>
                </a:gs>
                <a:gs pos="99000">
                  <a:srgbClr val="022F8F">
                    <a:alpha val="0"/>
                  </a:srgbClr>
                </a:gs>
              </a:gsLst>
              <a:lin ang="0"/>
            </a:gradFill>
            <a:prstDash val="solid"/>
            <a:miter lim="10000000"/>
          </a:ln>
          <a:effectLst>
            <a:outerShdw blurRad="254000" dist="127000" dir="5400000" sx="99000" sy="99000" algn="ctr" rotWithShape="0">
              <a:srgbClr val="02297F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876300" y="2006600"/>
            <a:ext cx="901700" cy="901700"/>
          </a:xfrm>
          <a:prstGeom prst="ellipse">
            <a:avLst/>
          </a:prstGeom>
          <a:solidFill>
            <a:srgbClr val="0654FC">
              <a:alpha val="2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977900" y="2095500"/>
            <a:ext cx="711200" cy="711200"/>
          </a:xfrm>
          <a:prstGeom prst="ellipse">
            <a:avLst/>
          </a:prstGeom>
          <a:gradFill rotWithShape="1">
            <a:gsLst>
              <a:gs pos="0">
                <a:srgbClr val="023EBF">
                  <a:alpha val="100000"/>
                </a:srgbClr>
              </a:gs>
              <a:gs pos="51000">
                <a:srgbClr val="0654FC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50800" dist="50800" dir="5400000" algn="ctr" rotWithShape="0">
              <a:srgbClr val="0654FC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ns2:embed="rId5">
            <a:extLst>
              <a:ext uri="{28A0092B-C50C-407E-A947-70E740481C1C}">
                <ns3:useLocalDpi val="0"/>
              </a:ext>
              <a:ext uri="{96DAC541-7B7A-43D3-8B79-37D633B846F1}">
                <ns4:svgBlip ns2:embed="rId6"/>
              </a:ext>
            </a:extLst>
          </a:blip>
          <a:stretch>
            <a:fillRect/>
          </a:stretch>
        </p:blipFill>
        <p:spPr>
          <a:xfrm>
            <a:off x="1130300" y="22479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816100" y="1778000"/>
            <a:ext cx="3937000" cy="419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问题识别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790700" y="2184400"/>
            <a:ext cx="3937000" cy="876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第一阶段先抓 ERROR 和业务处理耗时，快速识别异常类别和慢接口入口。</a:t>
            </a:r>
            <a:endParaRPr lang="en-US" sz="12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159500" y="1498600"/>
            <a:ext cx="5334000" cy="2120900"/>
          </a:xfrm>
          <a:prstGeom prst="roundRect">
            <a:avLst>
              <a:gd name="adj" fmla="val 8383"/>
            </a:avLst>
          </a:prstGeom>
          <a:gradFill rotWithShape="1">
            <a:gsLst>
              <a:gs pos="0">
                <a:srgbClr val="0654FC">
                  <a:alpha val="21000"/>
                </a:srgbClr>
              </a:gs>
              <a:gs pos="96000">
                <a:srgbClr val="0654FC">
                  <a:alpha val="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12700" cap="flat" cmpd="sng">
            <a:gradFill rotWithShape="0">
              <a:gsLst>
                <a:gs pos="0">
                  <a:srgbClr val="0654FC">
                    <a:alpha val="65000"/>
                  </a:srgbClr>
                </a:gs>
                <a:gs pos="99000">
                  <a:srgbClr val="022F8F">
                    <a:alpha val="0"/>
                  </a:srgbClr>
                </a:gs>
              </a:gsLst>
              <a:lin ang="0"/>
            </a:gradFill>
            <a:prstDash val="solid"/>
            <a:miter lim="10000000"/>
          </a:ln>
          <a:effectLst>
            <a:outerShdw blurRad="254000" dist="127000" dir="5400000" sx="99000" sy="99000" algn="ctr" rotWithShape="0">
              <a:srgbClr val="02297F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400800" y="2006600"/>
            <a:ext cx="901700" cy="901700"/>
          </a:xfrm>
          <a:prstGeom prst="ellipse">
            <a:avLst/>
          </a:prstGeom>
          <a:solidFill>
            <a:srgbClr val="0654FC">
              <a:alpha val="2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489700" y="2095500"/>
            <a:ext cx="711200" cy="711200"/>
          </a:xfrm>
          <a:prstGeom prst="ellipse">
            <a:avLst/>
          </a:prstGeom>
          <a:gradFill rotWithShape="1">
            <a:gsLst>
              <a:gs pos="0">
                <a:srgbClr val="023EBF">
                  <a:alpha val="100000"/>
                </a:srgbClr>
              </a:gs>
              <a:gs pos="51000">
                <a:srgbClr val="0654FC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50800" dist="50800" dir="5400000" algn="ctr" rotWithShape="0">
              <a:srgbClr val="0654FC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ns2:embed="rId7">
            <a:extLst>
              <a:ext uri="{28A0092B-C50C-407E-A947-70E740481C1C}">
                <ns3:useLocalDpi val="0"/>
              </a:ext>
              <a:ext uri="{96DAC541-7B7A-43D3-8B79-37D633B846F1}">
                <ns4:svgBlip ns2:embed="rId8"/>
              </a:ext>
            </a:extLst>
          </a:blip>
          <a:stretch>
            <a:fillRect/>
          </a:stretch>
        </p:blipFill>
        <p:spPr>
          <a:xfrm>
            <a:off x="6642100" y="22479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327900" y="1778000"/>
            <a:ext cx="3937000" cy="419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链路补全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327900" y="2209800"/>
            <a:ext cx="3937000" cy="876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第二阶段围绕代表 trace 回拉完整上下文，把 INFO 等关键链路补齐。</a:t>
            </a:r>
            <a:endParaRPr lang="en-US" sz="12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60400" y="3860800"/>
            <a:ext cx="5334000" cy="2120900"/>
          </a:xfrm>
          <a:prstGeom prst="roundRect">
            <a:avLst>
              <a:gd name="adj" fmla="val 8383"/>
            </a:avLst>
          </a:prstGeom>
          <a:gradFill rotWithShape="1">
            <a:gsLst>
              <a:gs pos="0">
                <a:srgbClr val="0654FC">
                  <a:alpha val="21000"/>
                </a:srgbClr>
              </a:gs>
              <a:gs pos="96000">
                <a:srgbClr val="0654FC">
                  <a:alpha val="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12700" cap="flat" cmpd="sng">
            <a:gradFill rotWithShape="0">
              <a:gsLst>
                <a:gs pos="0">
                  <a:srgbClr val="0654FC">
                    <a:alpha val="65000"/>
                  </a:srgbClr>
                </a:gs>
                <a:gs pos="99000">
                  <a:srgbClr val="022F8F">
                    <a:alpha val="0"/>
                  </a:srgbClr>
                </a:gs>
              </a:gsLst>
              <a:lin ang="0"/>
            </a:gradFill>
            <a:prstDash val="solid"/>
            <a:miter lim="10000000"/>
          </a:ln>
          <a:effectLst>
            <a:outerShdw blurRad="254000" dist="127000" dir="5400000" sx="99000" sy="99000" algn="ctr" rotWithShape="0">
              <a:srgbClr val="02297F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889000" y="4368800"/>
            <a:ext cx="901700" cy="901700"/>
          </a:xfrm>
          <a:prstGeom prst="ellipse">
            <a:avLst/>
          </a:prstGeom>
          <a:solidFill>
            <a:srgbClr val="0654FC">
              <a:alpha val="2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990600" y="4457700"/>
            <a:ext cx="711200" cy="711200"/>
          </a:xfrm>
          <a:prstGeom prst="ellipse">
            <a:avLst/>
          </a:prstGeom>
          <a:gradFill rotWithShape="1">
            <a:gsLst>
              <a:gs pos="0">
                <a:srgbClr val="023EBF">
                  <a:alpha val="100000"/>
                </a:srgbClr>
              </a:gs>
              <a:gs pos="51000">
                <a:srgbClr val="0654FC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50800" dist="50800" dir="5400000" algn="ctr" rotWithShape="0">
              <a:srgbClr val="0654FC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ns2:embed="rId9">
            <a:extLst>
              <a:ext uri="{28A0092B-C50C-407E-A947-70E740481C1C}">
                <ns3:useLocalDpi val="0"/>
              </a:ext>
              <a:ext uri="{96DAC541-7B7A-43D3-8B79-37D633B846F1}">
                <ns4:svgBlip ns2:embed="rId10"/>
              </a:ext>
            </a:extLst>
          </a:blip>
          <a:stretch>
            <a:fillRect/>
          </a:stretch>
        </p:blipFill>
        <p:spPr>
          <a:xfrm>
            <a:off x="1143000" y="4610100"/>
            <a:ext cx="406400" cy="406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828800" y="4127500"/>
            <a:ext cx="3937000" cy="419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设计思路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828800" y="4559300"/>
            <a:ext cx="3937000" cy="876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不是一开始就全量展开，而是先锁定高价值问题，再补全最值得追的链路。</a:t>
            </a:r>
            <a:endParaRPr lang="en-US" sz="12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6172200" y="3860800"/>
            <a:ext cx="5334000" cy="2120900"/>
          </a:xfrm>
          <a:prstGeom prst="roundRect">
            <a:avLst>
              <a:gd name="adj" fmla="val 8383"/>
            </a:avLst>
          </a:prstGeom>
          <a:gradFill rotWithShape="1">
            <a:gsLst>
              <a:gs pos="0">
                <a:srgbClr val="0654FC">
                  <a:alpha val="21000"/>
                </a:srgbClr>
              </a:gs>
              <a:gs pos="96000">
                <a:srgbClr val="0654FC">
                  <a:alpha val="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12700" cap="flat" cmpd="sng">
            <a:gradFill rotWithShape="0">
              <a:gsLst>
                <a:gs pos="0">
                  <a:srgbClr val="0654FC">
                    <a:alpha val="65000"/>
                  </a:srgbClr>
                </a:gs>
                <a:gs pos="99000">
                  <a:srgbClr val="022F8F">
                    <a:alpha val="0"/>
                  </a:srgbClr>
                </a:gs>
              </a:gsLst>
              <a:lin ang="0"/>
            </a:gradFill>
            <a:prstDash val="solid"/>
            <a:miter lim="10000000"/>
          </a:ln>
          <a:effectLst>
            <a:outerShdw blurRad="254000" dist="127000" dir="5400000" sx="99000" sy="99000" algn="ctr" rotWithShape="0">
              <a:srgbClr val="02297F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6413500" y="4368800"/>
            <a:ext cx="901700" cy="901700"/>
          </a:xfrm>
          <a:prstGeom prst="ellipse">
            <a:avLst/>
          </a:prstGeom>
          <a:solidFill>
            <a:srgbClr val="0654FC">
              <a:alpha val="2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6502400" y="4457700"/>
            <a:ext cx="711200" cy="711200"/>
          </a:xfrm>
          <a:prstGeom prst="ellipse">
            <a:avLst/>
          </a:prstGeom>
          <a:gradFill rotWithShape="1">
            <a:gsLst>
              <a:gs pos="0">
                <a:srgbClr val="023EBF">
                  <a:alpha val="100000"/>
                </a:srgbClr>
              </a:gs>
              <a:gs pos="51000">
                <a:srgbClr val="0654FC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50800" dist="50800" dir="5400000" algn="ctr" rotWithShape="0">
              <a:srgbClr val="0654FC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ns2:embed="rId11">
            <a:extLst>
              <a:ext uri="{28A0092B-C50C-407E-A947-70E740481C1C}">
                <ns3:useLocalDpi val="0"/>
              </a:ext>
              <a:ext uri="{96DAC541-7B7A-43D3-8B79-37D633B846F1}">
                <ns4:svgBlip ns2:embed="rId12"/>
              </a:ext>
            </a:extLst>
          </a:blip>
          <a:stretch>
            <a:fillRect/>
          </a:stretch>
        </p:blipFill>
        <p:spPr>
          <a:xfrm>
            <a:off x="6654800" y="4610100"/>
            <a:ext cx="406400" cy="4064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7340600" y="4140200"/>
            <a:ext cx="3937000" cy="419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方案价值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340600" y="4699000"/>
            <a:ext cx="3937000" cy="876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这套两阶段分析策略兼顾分析效率与定位深度，更适合海量日志场景的工程化落地。</a:t>
            </a:r>
            <a:endParaRPr lang="en-US" sz="12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ns2:embed="rId3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ns2:embed="rId4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241300"/>
            <a:ext cx="6172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altLang="zh-CN" sz="2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技术方案与实现 - 环境适配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39700" y="889000"/>
            <a:ext cx="11671300" cy="990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2000" b="0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同一巡检目标，需要适配不同环境的数据链路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47700" y="1943100"/>
            <a:ext cx="3378200" cy="571500"/>
          </a:xfrm>
          <a:prstGeom prst="round2SameRect">
            <a:avLst>
              <a:gd name="adj1" fmla="val 16667"/>
              <a:gd name="adj2" fmla="val 0"/>
            </a:avLst>
          </a:prstGeom>
          <a:gradFill rotWithShape="0">
            <a:gsLst>
              <a:gs pos="0">
                <a:srgbClr val="5351F5">
                  <a:alpha val="100000"/>
                </a:srgbClr>
              </a:gs>
              <a:gs pos="100000">
                <a:srgbClr val="0654FC">
                  <a:alpha val="100000"/>
                </a:srgbClr>
              </a:gs>
            </a:gsLst>
            <a:lin ang="11400000"/>
          </a:gradFill>
          <a:ln w="25400" cap="flat" cmpd="sng">
            <a:noFill/>
            <a:prstDash val="solid"/>
            <a:round/>
          </a:ln>
          <a:effectLst>
            <a:outerShdw blurRad="1041400" dist="76200" dir="3480000" algn="t" rotWithShape="0">
              <a:srgbClr val="0654FC">
                <a:alpha val="47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 rot="10800000">
            <a:off x="660400" y="2501900"/>
            <a:ext cx="3365500" cy="4267200"/>
          </a:xfrm>
          <a:prstGeom prst="round2SameRect">
            <a:avLst>
              <a:gd name="adj1" fmla="val 1775"/>
              <a:gd name="adj2" fmla="val 0"/>
            </a:avLst>
          </a:prstGeom>
          <a:gradFill rotWithShape="0">
            <a:gsLst>
              <a:gs pos="0">
                <a:srgbClr val="5351F5">
                  <a:alpha val="50000"/>
                </a:srgbClr>
              </a:gs>
              <a:gs pos="28000">
                <a:srgbClr val="02297F">
                  <a:alpha val="0"/>
                </a:srgbClr>
              </a:gs>
            </a:gsLst>
            <a:lin ang="15000000"/>
          </a:gradFill>
          <a:ln w="12700" cap="flat" cmpd="sng">
            <a:solidFill>
              <a:srgbClr val="0654FC">
                <a:alpha val="5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977900" y="2095500"/>
            <a:ext cx="27813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统一入口能力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11200" y="2565400"/>
            <a:ext cx="3302000" cy="3644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用户以自然语言提出巡检需求后，系统先提取医院、服务、时间范围和分析目标，再自动判断进入哪条业务线。</a:t>
            </a:r>
            <a:endParaRPr lang="en-US" sz="14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699000" y="1943100"/>
            <a:ext cx="3162300" cy="571500"/>
          </a:xfrm>
          <a:prstGeom prst="round2SameRect">
            <a:avLst>
              <a:gd name="adj1" fmla="val 16667"/>
              <a:gd name="adj2" fmla="val 0"/>
            </a:avLst>
          </a:prstGeom>
          <a:gradFill rotWithShape="0">
            <a:gsLst>
              <a:gs pos="0">
                <a:srgbClr val="875DE6">
                  <a:alpha val="100000"/>
                </a:srgbClr>
              </a:gs>
              <a:gs pos="100000">
                <a:srgbClr val="5351F5">
                  <a:alpha val="100000"/>
                </a:srgbClr>
              </a:gs>
            </a:gsLst>
            <a:lin ang="11400000"/>
          </a:gradFill>
          <a:ln w="25400" cap="flat" cmpd="sng">
            <a:noFill/>
            <a:prstDash val="solid"/>
            <a:round/>
          </a:ln>
          <a:effectLst>
            <a:outerShdw blurRad="1041400" dist="76200" dir="3480000" algn="t" rotWithShape="0">
              <a:srgbClr val="875DE6">
                <a:alpha val="47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 rot="10800000">
            <a:off x="4699000" y="2489200"/>
            <a:ext cx="3162300" cy="4267200"/>
          </a:xfrm>
          <a:prstGeom prst="round2SameRect">
            <a:avLst>
              <a:gd name="adj1" fmla="val 1775"/>
              <a:gd name="adj2" fmla="val 0"/>
            </a:avLst>
          </a:prstGeom>
          <a:gradFill rotWithShape="0">
            <a:gsLst>
              <a:gs pos="0">
                <a:srgbClr val="5351F5">
                  <a:alpha val="50000"/>
                </a:srgbClr>
              </a:gs>
              <a:gs pos="28000">
                <a:srgbClr val="02297F">
                  <a:alpha val="0"/>
                </a:srgbClr>
              </a:gs>
            </a:gsLst>
            <a:lin ang="15000000"/>
          </a:gradFill>
          <a:ln w="12700" cap="flat" cmpd="sng">
            <a:solidFill>
              <a:srgbClr val="0654FC">
                <a:alpha val="5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978400" y="2095500"/>
            <a:ext cx="26289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双业务线适配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86300" y="2654300"/>
            <a:ext cx="3073400" cy="3644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K8s 场景走 fetch -&gt; analyze -&gt; fetch2 -&gt; re-analyze -&gt; report；传统服务器走查节点、下载日志、过滤分析再出报告。</a:t>
            </a:r>
            <a:endParaRPr lang="en-US" sz="14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382000" y="1917700"/>
            <a:ext cx="3289300" cy="558800"/>
          </a:xfrm>
          <a:prstGeom prst="round2SameRect">
            <a:avLst>
              <a:gd name="adj1" fmla="val 16484"/>
              <a:gd name="adj2" fmla="val 0"/>
            </a:avLst>
          </a:prstGeom>
          <a:gradFill rotWithShape="0">
            <a:gsLst>
              <a:gs pos="0">
                <a:srgbClr val="5351F5">
                  <a:alpha val="100000"/>
                </a:srgbClr>
              </a:gs>
              <a:gs pos="100000">
                <a:srgbClr val="0654FC">
                  <a:alpha val="100000"/>
                </a:srgbClr>
              </a:gs>
            </a:gsLst>
            <a:lin ang="11400000"/>
          </a:gradFill>
          <a:ln w="25400" cap="flat" cmpd="sng">
            <a:noFill/>
            <a:prstDash val="solid"/>
            <a:round/>
          </a:ln>
          <a:effectLst>
            <a:outerShdw blurRad="1041400" dist="76200" dir="3480000" algn="t" rotWithShape="0">
              <a:srgbClr val="0654FC">
                <a:alpha val="47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 rot="10800000">
            <a:off x="8382000" y="2476500"/>
            <a:ext cx="3276600" cy="4267200"/>
          </a:xfrm>
          <a:prstGeom prst="round2SameRect">
            <a:avLst>
              <a:gd name="adj1" fmla="val 1774"/>
              <a:gd name="adj2" fmla="val 0"/>
            </a:avLst>
          </a:prstGeom>
          <a:gradFill rotWithShape="0">
            <a:gsLst>
              <a:gs pos="0">
                <a:srgbClr val="5351F5">
                  <a:alpha val="50000"/>
                </a:srgbClr>
              </a:gs>
              <a:gs pos="28000">
                <a:srgbClr val="02297F">
                  <a:alpha val="0"/>
                </a:srgbClr>
              </a:gs>
            </a:gsLst>
            <a:lin ang="15000000"/>
          </a:gradFill>
          <a:ln w="12700" cap="flat" cmpd="sng">
            <a:solidFill>
              <a:srgbClr val="0654FC">
                <a:alpha val="5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521700" y="2082800"/>
            <a:ext cx="29845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成熟度体现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521700" y="2578100"/>
            <a:ext cx="2857500" cy="3644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两条路径取数方式不同，但最终都汇聚到统一分析框架；像桐乡先问集群、K8s 默认 ±60s 补链窗口，都是经过验证的稳定规则。</a:t>
            </a:r>
            <a:endParaRPr lang="en-US" sz="14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ns2="http://schemas.openxmlformats.org/officeDocument/2006/relationships" xmlns:ns3="http://schemas.microsoft.com/office/drawing/2010/main" xmlns:ns4="http://schemas.microsoft.com/office/drawing/2016/SVG/main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ns2:embed="rId19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ns2:embed="rId20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2413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altLang="zh-CN" sz="2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能力延展与应用价值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42900" y="6985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25400" rIns="88900" bIns="25400" rtlCol="0" anchor="ctr" anchorCtr="0"/>
          <a:lstStyle/>
          <a:p>
            <a:pPr indent="0" algn="l">
              <a:lnSpc>
                <a:spcPct val="100000"/>
              </a:lnSpc>
              <a:defRPr/>
            </a:pPr>
            <a:endParaRPr lang="en-US" sz="1100"/>
          </a:p>
        </p:txBody>
      </p:sp>
      <p:sp>
        <p:nvSpPr>
          <p:cNvPr id="7" name="AutoShape 7"/>
          <p:cNvSpPr/>
          <p:nvPr>
            <p:custDataLst>
              <p:tags ns2:id="rId1"/>
            </p:custDataLst>
          </p:nvPr>
        </p:nvSpPr>
        <p:spPr>
          <a:xfrm>
            <a:off x="381000" y="1270000"/>
            <a:ext cx="5461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ns2:id="rId2"/>
            </p:custDataLst>
          </p:nvPr>
        </p:nvPicPr>
        <p:blipFill>
          <a:blip ns2:embed="rId21">
            <a:extLst>
              <a:ext uri="{28A0092B-C50C-407E-A947-70E740481C1C}">
                <ns3:useLocalDpi val="0"/>
              </a:ext>
              <a:ext uri="{96DAC541-7B7A-43D3-8B79-37D633B846F1}">
                <ns4:svgBlip ns2:embed="rId22"/>
              </a:ext>
            </a:extLst>
          </a:blip>
          <a:stretch>
            <a:fillRect/>
          </a:stretch>
        </p:blipFill>
        <p:spPr>
          <a:xfrm>
            <a:off x="571500" y="14605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>
            <p:custDataLst>
              <p:tags ns2:id="rId3"/>
            </p:custDataLst>
          </p:nvPr>
        </p:nvSpPr>
        <p:spPr>
          <a:xfrm>
            <a:off x="1079500" y="1422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当前能力边界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ns2:id="rId4"/>
            </p:custDataLst>
          </p:nvPr>
        </p:nvSpPr>
        <p:spPr>
          <a:xfrm>
            <a:off x="571500" y="1905000"/>
            <a:ext cx="495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1400" b="0" i="0" u="none" strike="noStrike">
                <a:solidFill>
                  <a:srgbClr val="DCE6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当前已覆盖异常分析、慢接口分析、代表 trace 补链和 HTML 报告输出，能够支撑日常巡检与专题排查。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ns2:id="rId5"/>
            </p:custDataLst>
          </p:nvPr>
        </p:nvSpPr>
        <p:spPr>
          <a:xfrm>
            <a:off x="6350000" y="1270000"/>
            <a:ext cx="5461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ns2:id="rId6"/>
            </p:custDataLst>
          </p:nvPr>
        </p:nvPicPr>
        <p:blipFill>
          <a:blip ns2:embed="rId23">
            <a:extLst>
              <a:ext uri="{28A0092B-C50C-407E-A947-70E740481C1C}">
                <ns3:useLocalDpi val="0"/>
              </a:ext>
              <a:ext uri="{96DAC541-7B7A-43D3-8B79-37D633B846F1}">
                <ns4:svgBlip ns2:embed="rId24"/>
              </a:ext>
            </a:extLst>
          </a:blip>
          <a:stretch>
            <a:fillRect/>
          </a:stretch>
        </p:blipFill>
        <p:spPr>
          <a:xfrm>
            <a:off x="6540500" y="1460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ns2:id="rId7"/>
            </p:custDataLst>
          </p:nvPr>
        </p:nvSpPr>
        <p:spPr>
          <a:xfrm>
            <a:off x="7048500" y="1422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能力扩展示例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ns2:id="rId8"/>
            </p:custDataLst>
          </p:nvPr>
        </p:nvSpPr>
        <p:spPr>
          <a:xfrm>
            <a:off x="6540500" y="1905000"/>
            <a:ext cx="495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1400" b="0" i="0" u="none" strike="noStrike">
                <a:solidFill>
                  <a:srgbClr val="DCE6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在传统服务器场景下，已支持通过 getServiceLogs(type=gc) 拉取 GC 日志，能力边界可从业务异常延展到 JVM 运行状态诊断。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ns2:id="rId9"/>
            </p:custDataLst>
          </p:nvPr>
        </p:nvSpPr>
        <p:spPr>
          <a:xfrm>
            <a:off x="381000" y="3746500"/>
            <a:ext cx="5461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>
            <p:custDataLst>
              <p:tags ns2:id="rId10"/>
            </p:custDataLst>
          </p:nvPr>
        </p:nvPicPr>
        <p:blipFill>
          <a:blip ns2:embed="rId25">
            <a:extLst>
              <a:ext uri="{28A0092B-C50C-407E-A947-70E740481C1C}">
                <ns3:useLocalDpi val="0"/>
              </a:ext>
              <a:ext uri="{96DAC541-7B7A-43D3-8B79-37D633B846F1}">
                <ns4:svgBlip ns2:embed="rId26"/>
              </a:ext>
            </a:extLst>
          </a:blip>
          <a:stretch>
            <a:fillRect/>
          </a:stretch>
        </p:blipFill>
        <p:spPr>
          <a:xfrm>
            <a:off x="571500" y="3937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>
            <p:custDataLst>
              <p:tags ns2:id="rId11"/>
            </p:custDataLst>
          </p:nvPr>
        </p:nvSpPr>
        <p:spPr>
          <a:xfrm>
            <a:off x="1079500" y="38989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落地场景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ns2:id="rId12"/>
            </p:custDataLst>
          </p:nvPr>
        </p:nvSpPr>
        <p:spPr>
          <a:xfrm>
            <a:off x="571500" y="4381500"/>
            <a:ext cx="495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1400" b="0" i="0" u="none" strike="noStrike">
                <a:solidFill>
                  <a:srgbClr val="DCE6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适用于日常巡检、异常复盘、性能排查和专题汇报等场景，既能服务现场排障，也能支撑阶段成果展示。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ns2:id="rId13"/>
            </p:custDataLst>
          </p:nvPr>
        </p:nvSpPr>
        <p:spPr>
          <a:xfrm>
            <a:off x="6350000" y="3746500"/>
            <a:ext cx="5461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>
            <p:custDataLst>
              <p:tags ns2:id="rId14"/>
            </p:custDataLst>
          </p:nvPr>
        </p:nvPicPr>
        <p:blipFill>
          <a:blip ns2:embed="rId27">
            <a:extLst>
              <a:ext uri="{28A0092B-C50C-407E-A947-70E740481C1C}">
                <ns3:useLocalDpi val="0"/>
              </a:ext>
              <a:ext uri="{96DAC541-7B7A-43D3-8B79-37D633B846F1}">
                <ns4:svgBlip ns2:embed="rId28"/>
              </a:ext>
            </a:extLst>
          </a:blip>
          <a:stretch>
            <a:fillRect/>
          </a:stretch>
        </p:blipFill>
        <p:spPr>
          <a:xfrm>
            <a:off x="6540500" y="39370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>
            <p:custDataLst>
              <p:tags ns2:id="rId15"/>
            </p:custDataLst>
          </p:nvPr>
        </p:nvSpPr>
        <p:spPr>
          <a:xfrm>
            <a:off x="7048500" y="38989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应用价值</a:t>
            </a:r>
            <a:endParaRPr lang="en-US" sz="1100"/>
          </a:p>
        </p:txBody>
      </p:sp>
      <p:sp>
        <p:nvSpPr>
          <p:cNvPr id="22" name="AutoShape 22"/>
          <p:cNvSpPr/>
          <p:nvPr>
            <p:custDataLst>
              <p:tags ns2:id="rId16"/>
            </p:custDataLst>
          </p:nvPr>
        </p:nvSpPr>
        <p:spPr>
          <a:xfrm>
            <a:off x="6540500" y="4381500"/>
            <a:ext cx="495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1400" b="0" i="0" u="none" strike="noStrike">
                <a:solidFill>
                  <a:srgbClr val="DCE6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巡检结果不仅用于发现问题，还能反向暴露日志埋点质量、性能瓶颈和治理重点，帮助团队形成持续优化抓手。</a:t>
            </a:r>
            <a:endParaRPr lang="en-US" sz="1100"/>
          </a:p>
        </p:txBody>
      </p:sp>
      <p:sp>
        <p:nvSpPr>
          <p:cNvPr id="23" name="AutoShape 6"/>
          <p:cNvSpPr/>
          <p:nvPr/>
        </p:nvSpPr>
        <p:spPr>
          <a:xfrm>
            <a:off x="405130" y="698500"/>
            <a:ext cx="1076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巡检能力不止于异常分析，还要具备持续扩展空间。</a:t>
            </a:r>
            <a:endParaRPr lang="en-US" sz="1800">
              <a:solidFill>
                <a:srgbClr val="FFFF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ns2:embed="rId12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609600" y="241300"/>
            <a:ext cx="10604500" cy="144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8800" b="1" i="0" u="none" strike="noStrike">
                <a:solidFill>
                  <a:srgbClr val="FEFFFF">
                    <a:alpha val="8235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总结展望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" y="368300"/>
            <a:ext cx="10795000" cy="175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altLang="zh-CN" sz="3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总结与展望</a:t>
            </a:r>
            <a:endParaRPr lang="en-US" sz="2400" b="0" i="0" u="none" strike="noStrike">
              <a:solidFill>
                <a:srgbClr val="FEFFFF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50000"/>
              </a:lnSpc>
              <a:defRPr/>
            </a:pPr>
            <a:r>
              <a:rPr lang="en-US" altLang="zh-CN" sz="3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围绕阶段成果、方案价值和后续拓展做总结</a:t>
            </a:r>
            <a:endParaRPr lang="en-US" sz="2400" b="0" i="0" u="none" strike="noStrike">
              <a:solidFill>
                <a:srgbClr val="FEFFFF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>
            <p:custDataLst>
              <p:tags ns2:id="rId1"/>
            </p:custDataLst>
          </p:nvPr>
        </p:nvSpPr>
        <p:spPr>
          <a:xfrm>
            <a:off x="6909483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875DE6">
                  <a:alpha val="64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>
            <p:custDataLst>
              <p:tags ns2:id="rId2"/>
            </p:custDataLst>
          </p:nvPr>
        </p:nvSpPr>
        <p:spPr>
          <a:xfrm>
            <a:off x="7861983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ns2:id="rId3"/>
            </p:custDataLst>
          </p:nvPr>
        </p:nvSpPr>
        <p:spPr>
          <a:xfrm>
            <a:off x="3969323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875DE6">
                  <a:alpha val="51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>
            <p:custDataLst>
              <p:tags ns2:id="rId4"/>
            </p:custDataLst>
          </p:nvPr>
        </p:nvSpPr>
        <p:spPr>
          <a:xfrm>
            <a:off x="4921823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ns2:id="rId5"/>
            </p:custDataLst>
          </p:nvPr>
        </p:nvSpPr>
        <p:spPr>
          <a:xfrm>
            <a:off x="3918523" y="2425700"/>
            <a:ext cx="2298700" cy="2705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成果收获</a:t>
            </a:r>
            <a:endParaRPr lang="en-US" sz="20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--</a:t>
            </a:r>
            <a:endParaRPr lang="en-US" sz="20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形成跨环境可落地的日志巡检能力</a:t>
            </a:r>
            <a:endParaRPr lang="en-US" sz="20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沉淀了分阶段分析与报告输出方法</a:t>
            </a:r>
            <a:endParaRPr lang="en-US" sz="20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ns2:id="rId6"/>
            </p:custDataLst>
          </p:nvPr>
        </p:nvSpPr>
        <p:spPr>
          <a:xfrm>
            <a:off x="1054100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875DE6">
                  <a:alpha val="51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>
            <p:custDataLst>
              <p:tags ns2:id="rId7"/>
            </p:custDataLst>
          </p:nvPr>
        </p:nvSpPr>
        <p:spPr>
          <a:xfrm>
            <a:off x="2006600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ns2:id="rId8"/>
            </p:custDataLst>
          </p:nvPr>
        </p:nvSpPr>
        <p:spPr>
          <a:xfrm>
            <a:off x="1028700" y="2425700"/>
            <a:ext cx="2311400" cy="2019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阶段总结</a:t>
            </a:r>
            <a:endParaRPr lang="en-US" sz="14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--</a:t>
            </a:r>
            <a:endParaRPr lang="en-US" sz="14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从单次日志排查，走向可复用的巡检流程</a:t>
            </a:r>
            <a:endParaRPr lang="en-US" sz="14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从经验驱动，走向规则化分析</a:t>
            </a:r>
            <a:endParaRPr lang="en-US" sz="14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ns2:id="rId9"/>
            </p:custDataLst>
          </p:nvPr>
        </p:nvSpPr>
        <p:spPr>
          <a:xfrm>
            <a:off x="6896783" y="2425700"/>
            <a:ext cx="2489200" cy="1943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未来规划</a:t>
            </a:r>
            <a:endParaRPr lang="en-US" sz="20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--</a:t>
            </a:r>
            <a:endParaRPr lang="en-US" sz="20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继续增强问题发现和优化建议能力</a:t>
            </a:r>
            <a:endParaRPr lang="en-US" sz="20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拓展更多日志类型与运行状态分析场景</a:t>
            </a:r>
            <a:endParaRPr lang="en-US" sz="20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8115300" y="0"/>
            <a:ext cx="40767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algn="l">
              <a:defRPr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ns2="http://schemas.openxmlformats.org/officeDocument/2006/relationships" xmlns:ns3="http://schemas.microsoft.com/office/drawing/2014/main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ns2:embed="rId3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ns2:embed="rId4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2413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l"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6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成果展示 01</a:t>
            </a:r>
            <a:endParaRPr lang="en-US" sz="26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342900" y="6985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25400" rIns="88900" bIns="254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报告首页：先建立整体问题画像；通过时间范围、日志质量和影响级别分布，帮助使用者在进入细节前快速判断问题规模、数据质量和处理优先级。</a:t>
            </a:r>
          </a:p>
        </p:txBody>
      </p:sp>
      <p:pic>
        <p:nvPicPr>
          <p:cNvPr id="8" name="图片 7">
            <a:extLst>
              <a:ext uri="{FF2B5EF4-FFF2-40B4-BE49-F238E27FC236}">
                <ns3:creationId id="{459BEC07-5589-FA87-4DC7-1DD60601B548}"/>
              </a:ext>
            </a:extLst>
          </p:cNvPr>
          <p:cNvPicPr>
            <a:picLocks/>
          </p:cNvPicPr>
          <p:nvPr/>
        </p:nvPicPr>
        <p:blipFill>
          <a:blip ns2:embed="rId5"/>
          <a:stretch>
            <a:fillRect/>
          </a:stretch>
        </p:blipFill>
        <p:spPr>
          <a:xfrm>
            <a:off x="1143000" y="1905000"/>
            <a:ext cx="96520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ns2="http://schemas.openxmlformats.org/officeDocument/2006/relationships" xmlns:ns3="http://schemas.microsoft.com/office/drawing/2014/main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ns2:embed="rId3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ns2:embed="rId4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2413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600" b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成果展示 02</a:t>
            </a:r>
            <a:endParaRPr lang="en-US" sz="2600" b="1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342900" y="6985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25400" rIns="88900" bIns="254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从异常归类到完整链路，报告不仅做统计，还给出代表 trace 和关键定位线索，减少开发与运维的二次翻日志成本。</a:t>
            </a:r>
          </a:p>
        </p:txBody>
      </p:sp>
      <p:pic>
        <p:nvPicPr>
          <p:cNvPr id="8" name="图片 7">
            <a:extLst>
              <a:ext uri="{FF2B5EF4-FFF2-40B4-BE49-F238E27FC236}">
                <ns3:creationId id="{2DAC7280-4E9A-034E-0266-AA811465ED7B}"/>
              </a:ext>
            </a:extLst>
          </p:cNvPr>
          <p:cNvPicPr>
            <a:picLocks/>
          </p:cNvPicPr>
          <p:nvPr/>
        </p:nvPicPr>
        <p:blipFill>
          <a:blip ns2:embed="rId5"/>
          <a:stretch>
            <a:fillRect/>
          </a:stretch>
        </p:blipFill>
        <p:spPr>
          <a:xfrm>
            <a:off x="762000" y="2159000"/>
            <a:ext cx="4826000" cy="3429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ns3:creationId id="{CFF56297-CCCF-52AF-32D0-4C1E835FE7D1}"/>
              </a:ext>
            </a:extLst>
          </p:cNvPr>
          <p:cNvPicPr>
            <a:picLocks/>
          </p:cNvPicPr>
          <p:nvPr/>
        </p:nvPicPr>
        <p:blipFill>
          <a:blip ns2:embed="rId6"/>
          <a:stretch>
            <a:fillRect/>
          </a:stretch>
        </p:blipFill>
        <p:spPr>
          <a:xfrm>
            <a:off x="6350000" y="2159000"/>
            <a:ext cx="4826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ns2:embed="rId3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ns2:embed="rId4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2413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600" b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未来规划</a:t>
            </a:r>
          </a:p>
        </p:txBody>
      </p:sp>
      <p:sp>
        <p:nvSpPr>
          <p:cNvPr id="6" name="AutoShape 6"/>
          <p:cNvSpPr/>
          <p:nvPr/>
        </p:nvSpPr>
        <p:spPr>
          <a:xfrm>
            <a:off x="342900" y="6985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25400" rIns="88900" bIns="254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围绕巡检结果持续推动系统优化、日志规范治理和定位效率提升。</a:t>
            </a:r>
          </a:p>
          <a:p>
            <a:pPr indent="0" algn="l">
              <a:lnSpc>
                <a:spcPct val="100000"/>
              </a:lnSpc>
              <a:defRPr/>
            </a:pP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继续完善问题发现 - 问题归类 - 链路定位 - 优化建议 - 效果验证的闭环。</a:t>
            </a:r>
          </a:p>
          <a:p>
            <a:pPr indent="0" algn="l">
              <a:lnSpc>
                <a:spcPct val="100000"/>
              </a:lnSpc>
              <a:defRPr/>
            </a:pP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在更多医院、更多环境和更多日志类型中复制落地，包括 GC 日志等扩展场景。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00100" y="609600"/>
            <a:ext cx="1333500" cy="393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571500" y="4025900"/>
            <a:ext cx="11049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571500" y="2400300"/>
            <a:ext cx="11049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sz="7200" b="1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Q&amp;A / </a:t>
            </a:r>
            <a:r>
              <a:rPr lang="zh-CN" altLang="en-US" sz="7200" b="1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5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6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7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2586</Words>
  <Application>Microsoft Office PowerPoint</Application>
  <PresentationFormat>宽屏</PresentationFormat>
  <Paragraphs>104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Noto Sans SC</vt:lpstr>
      <vt:lpstr>Arial</vt:lpstr>
      <vt:lpstr>Office 主题​​</vt:lpstr>
      <vt:lpstr>默认主题</vt:lpstr>
      <vt:lpstr>5_默认主题</vt:lpstr>
      <vt:lpstr>6_默认主题</vt:lpstr>
      <vt:lpstr>7_默认主题</vt:lpstr>
      <vt:lpstr>1_默认主题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pc</cp:lastModifiedBy>
  <cp:revision>9</cp:revision>
  <dcterms:created xsi:type="dcterms:W3CDTF">2026-03-17T08:53:00Z</dcterms:created>
  <dcterms:modified xsi:type="dcterms:W3CDTF">2026-03-20T12:47:23Z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139F70FDC2A34D38AEE1C6529F4DDE46_13</vt:lpwstr>
  </property>
</Properties>
</file>