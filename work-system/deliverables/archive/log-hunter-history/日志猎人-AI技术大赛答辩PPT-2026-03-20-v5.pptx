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</p:sldMasterIdLst>
  <p:notesMasterIdLst>
    <p:notesMasterId r:id="rId19"/>
  </p:notesMasterIdLst>
  <p:sldIdLst>
    <p:sldId id="305" r:id="rId7"/>
    <p:sldId id="323" r:id="rId8"/>
    <p:sldId id="306" r:id="rId9"/>
    <p:sldId id="307" r:id="rId10"/>
    <p:sldId id="308" r:id="rId11"/>
    <p:sldId id="309" r:id="rId12"/>
    <p:sldId id="310" r:id="rId13"/>
    <p:sldId id="311" r:id="rId14"/>
    <p:sldId id="320" r:id="rId15"/>
    <p:sldId id="321" r:id="rId16"/>
    <p:sldId id="322" r:id="rId17"/>
    <p:sldId id="31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4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大家好，欢迎参加我们团队的项目演示汇报。我是来自[团队名称]的[姓名]，今天将向各位评委展示我们的项目——[项目名称]。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我们的项目目标明确，直指技术创新的核心，并致力于将技术转化为实际的应用价值，这与大赛评审标准中的“技术创新性”和“应用潜力”维度高度契合。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本次汇报将分为四个核心部分，首先介绍项目的背景与目标，然后重点阐述我们的技术方案与实现细节，接着展示项目成果、用户体验及市场前景，最后进行总结与展望。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我们的项目目标明确，直指技术创新的核心，并致力于将技术转化为实际的应用价值，这与大赛评审标准中的“技术创新性”和“应用潜力”维度高度契合。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基于深度学习模型，采用了Transformer架构作为核心算法引擎。在技术创新方面，我们成功将VIBE动态捕捉技术融入业务场景，实现了边缘端的高效运行。系统架构采用微服务解耦设计，确保了高可用性和弹性伸缩能力。这些技术优势共同构建了我们产品的核心竞争力，实现了低延迟、高精度的卓越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在算法性能方面，我们通过一系列优化策略，在准确率、响应速度和资源消耗等关键指标上都取得了显著提升，具体数据如上所示，完全对标大赛的“算法性能”评审维度。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最后总结一下，我们的项目全面覆盖了大赛的核心评审维度，在技术创新、功能完整、算法性能、用户体验和应用潜力等方面都展现了较强的竞争力。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现在是问答环节，欢迎各位评委老师提问。再次感谢大家的时间！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4.png"/><Relationship Id="rId2" Type="http://schemas.openxmlformats.org/officeDocument/2006/relationships/tags" Target="../tags/tag13.xml"/><Relationship Id="rId16" Type="http://schemas.openxmlformats.org/officeDocument/2006/relationships/image" Target="../media/image3.jpe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18.svg"/><Relationship Id="rId3" Type="http://schemas.openxmlformats.org/officeDocument/2006/relationships/tags" Target="../tags/tag27.xml"/><Relationship Id="rId21" Type="http://schemas.openxmlformats.org/officeDocument/2006/relationships/image" Target="../media/image13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slideLayout" Target="../slideLayouts/slideLayout12.xml"/><Relationship Id="rId25" Type="http://schemas.openxmlformats.org/officeDocument/2006/relationships/image" Target="../media/image17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4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6.sv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10" Type="http://schemas.openxmlformats.org/officeDocument/2006/relationships/tags" Target="../tags/tag34.xml"/><Relationship Id="rId19" Type="http://schemas.openxmlformats.org/officeDocument/2006/relationships/image" Target="../media/image3.jpe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14.svg"/><Relationship Id="rId27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3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9300" y="2159000"/>
            <a:ext cx="9512300" cy="191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智能运维</a:t>
            </a: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
AI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技术大赛汇报演示</a:t>
            </a:r>
            <a:endParaRPr lang="en-US" sz="2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00100" y="4559300"/>
            <a:ext cx="5435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队伍名称：日志猎人
汇报人：第别
日期：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2715" y="14351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2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</a:p>
        </p:txBody>
      </p:sp>
      <p:sp>
        <p:nvSpPr>
          <p:cNvPr id="22" name="AutoShape 21"/>
          <p:cNvSpPr/>
          <p:nvPr/>
        </p:nvSpPr>
        <p:spPr>
          <a:xfrm>
            <a:off x="202565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
姚云（队长）：负责项目统筹、方向把控、核心方案设计、能力实现、联调验证与答辩材料整理
徐晓飞：负责业务指导、方案评审与关键路径支持
李荣军：负责业务把关、场景梳理与推进支持
郭兴尚：负责业务协同、落地建议与推进支持
黄钢：负责业务协同、应用优化与推进支持
协同支持
运维部：提供连接能力，以及日志文件下载能力支持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393700"/>
            <a:ext cx="78486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06500"/>
            <a:ext cx="10922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 </a:t>
            </a: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AGENDA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414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9939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657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610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61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213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864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FE5D83">
                  <a:alpha val="47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9817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03300" y="2425700"/>
            <a:ext cx="2590800" cy="499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
为什么要做“日志猎人”，它要解决的核心问题是什么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32200" y="2425700"/>
            <a:ext cx="2463800" cy="467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
这套日志巡检与分析能力是怎么搭起来的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248400" y="2425700"/>
            <a:ext cx="2489200" cy="359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成果展示与应用价值
现在已经做成了什么，能为实际工作带来什么价值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890000" y="2425700"/>
            <a:ext cx="2374900" cy="391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这一阶段的收获是什么，后续如何走向治理闭环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6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3810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91610" y="254000"/>
            <a:ext cx="996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20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从被动排障走向主动巡检与持续治理</a:t>
            </a:r>
            <a:endParaRPr lang="en-US" sz="1100"/>
          </a:p>
        </p:txBody>
      </p:sp>
      <p:sp>
        <p:nvSpPr>
          <p:cNvPr id="7" name="Freeform 7"/>
          <p:cNvSpPr/>
          <p:nvPr>
            <p:custDataLst>
              <p:tags r:id="rId1"/>
            </p:custDataLst>
          </p:nvPr>
        </p:nvSpPr>
        <p:spPr>
          <a:xfrm>
            <a:off x="283210" y="3454400"/>
            <a:ext cx="4752340" cy="1264285"/>
          </a:xfrm>
          <a:custGeom>
            <a:avLst/>
            <a:gdLst/>
            <a:ahLst/>
            <a:cxnLst/>
            <a:rect l="l" t="t" r="r" b="b"/>
            <a:pathLst>
              <a:path w="4752340" h="1264285">
                <a:moveTo>
                  <a:pt x="0" y="0"/>
                </a:moveTo>
                <a:lnTo>
                  <a:pt x="4551338" y="0"/>
                </a:lnTo>
                <a:cubicBezTo>
                  <a:pt x="4608031" y="213158"/>
                  <a:pt x="4695647" y="426190"/>
                  <a:pt x="4752340" y="639348"/>
                </a:cubicBezTo>
                <a:cubicBezTo>
                  <a:pt x="4695647" y="847703"/>
                  <a:pt x="4608031" y="1055931"/>
                  <a:pt x="4551338" y="1264285"/>
                </a:cubicBezTo>
                <a:lnTo>
                  <a:pt x="0" y="1264285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1000">
                <a:srgbClr val="02297F">
                  <a:alpha val="0"/>
                </a:srgbClr>
              </a:gs>
              <a:gs pos="100000">
                <a:srgbClr val="0654FC">
                  <a:alpha val="45000"/>
                </a:srgbClr>
              </a:gs>
            </a:gsLst>
            <a:lin ang="0"/>
          </a:gradFill>
          <a:ln w="12700" cap="flat" cmpd="sng">
            <a:gradFill rotWithShape="0">
              <a:gsLst>
                <a:gs pos="0">
                  <a:srgbClr val="0654FC">
                    <a:alpha val="0"/>
                  </a:srgbClr>
                </a:gs>
                <a:gs pos="59000">
                  <a:srgbClr val="0654FC">
                    <a:alpha val="100000"/>
                  </a:srgbClr>
                </a:gs>
                <a:gs pos="98000">
                  <a:srgbClr val="0654FC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979805" y="1873885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979805" y="1950085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痛点背景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1056005" y="2267585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系统运行中的很多问题发现仍偏事后响应，依赖人工经验和临时排查，缺少稳定、可复用的主动巡检与分析机制。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5589270" y="187325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5589270" y="193675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5665470" y="225425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日志中沉淀了大量运行信息，但长期停留在“可查看”层面，尚未充分转化为异常治理、性能优化和质量建设的持续抓手。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252730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252730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260350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建设一套可投入使用的日志巡检与分析能力，对日志进行自动化采集、结构化分析和结果输出，主动识别异常风险、性能瓶颈和日志质量问题。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765302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765302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价值意义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772922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让日志从“事后排障材料”升级为“日常治理抓手”，提升系统健壮性、性能表现和日志质量，逐步形成持续优化闭环。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 rot="5400000">
            <a:off x="7194550" y="520700"/>
            <a:ext cx="2042160" cy="7206615"/>
          </a:xfrm>
          <a:custGeom>
            <a:avLst/>
            <a:gdLst/>
            <a:ahLst/>
            <a:cxnLst/>
            <a:rect l="l" t="t" r="r" b="b"/>
            <a:pathLst>
              <a:path w="2042160" h="7206615">
                <a:moveTo>
                  <a:pt x="0" y="1486306"/>
                </a:moveTo>
                <a:lnTo>
                  <a:pt x="1021080" y="0"/>
                </a:lnTo>
                <a:lnTo>
                  <a:pt x="2042160" y="1486306"/>
                </a:lnTo>
                <a:lnTo>
                  <a:pt x="1610357" y="1486306"/>
                </a:lnTo>
                <a:lnTo>
                  <a:pt x="1610357" y="7206615"/>
                </a:lnTo>
                <a:lnTo>
                  <a:pt x="978306" y="6770607"/>
                </a:lnTo>
                <a:lnTo>
                  <a:pt x="346254" y="7206615"/>
                </a:lnTo>
                <a:lnTo>
                  <a:pt x="346254" y="1486306"/>
                </a:lnTo>
                <a:close/>
              </a:path>
            </a:pathLst>
          </a:custGeom>
          <a:gradFill rotWithShape="0">
            <a:gsLst>
              <a:gs pos="0">
                <a:srgbClr val="FF833B">
                  <a:alpha val="69000"/>
                </a:srgbClr>
              </a:gs>
              <a:gs pos="98000">
                <a:srgbClr val="EC5700">
                  <a:alpha val="14000"/>
                </a:srgbClr>
              </a:gs>
            </a:gsLst>
            <a:lin ang="5400000"/>
          </a:gradFill>
          <a:ln w="12700" cap="flat" cmpd="sng">
            <a:gradFill rotWithShape="0">
              <a:gsLst>
                <a:gs pos="0">
                  <a:srgbClr val="EC5700">
                    <a:alpha val="0"/>
                  </a:srgbClr>
                </a:gs>
                <a:gs pos="98000">
                  <a:srgbClr val="FF833B">
                    <a:alpha val="100000"/>
                  </a:srgbClr>
                </a:gs>
              </a:gsLst>
              <a:lin ang="1620000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100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项目聚焦的不是单次排障提效，而是通过日志巡检能力把系统运行数据转化为可行动的治理线索，帮助团队更早发现问题、更快定位问题，并持续反哺系统优化与日志规范建设。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083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围绕主动发现、分析输出和质量治理构建完整链路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763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300" y="2247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161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日志采集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90700" y="21844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与传统服务器两类场景的日志获取路径。
面向不同部署环境建立统一输入入口，保证巡检能力可以稳定落地。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95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008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897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2100" y="2247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279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分析引擎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27900" y="22098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围绕异常日志、慢接口和代表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进行结构化分析。
支持四级分组、调用方识别、完整链路补强和质量线索提取。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906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3000" y="46101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828800" y="41275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828800" y="45593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将分析结果沉淀为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报告和结构化结论。
输出覆盖异常概览、详细异常分析、慢接口详情、完整链路日志和日志质量观察。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1722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024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54800" y="4610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40600" y="41402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治理支撑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40600" y="46990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通过可读、可追溯、可复用的分析结果，
为系统健壮性提升、性能优化和日志质量改进提供持续支撑。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 </a:t>
            </a: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能力亮点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" y="889000"/>
            <a:ext cx="116713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0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围绕真实巡检场景打磨可投入使用的关键能力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943100"/>
            <a:ext cx="33782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>
            <a:off x="660400" y="2501900"/>
            <a:ext cx="33655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27813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核心能力亮点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2565400"/>
            <a:ext cx="33020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两阶段日志拉取：先抓重点异常，再补代表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完整链路
四级分组分析：把零散问题按统一维度聚合，提升可读性和可治理性
调用方识别：快速区分问题来源，辅助判断影响范围和处理方向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1943100"/>
            <a:ext cx="31623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875DE6">
                  <a:alpha val="100000"/>
                </a:srgbClr>
              </a:gs>
              <a:gs pos="100000">
                <a:srgbClr val="5351F5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875DE6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 rot="10800000">
            <a:off x="4699000" y="2489200"/>
            <a:ext cx="31623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78400" y="2095500"/>
            <a:ext cx="26289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关键优化设计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86300" y="2654300"/>
            <a:ext cx="30734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优先：优先展示最具代表性的异常链路，兼顾分析效率与展示效果
完整内容保留：避免关键信息在展示阶段被截断，保证可追溯性
多维结果呈现：支持影响级别、线程信息、时间范围和耗时等关键信息输出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1917700"/>
            <a:ext cx="3289300" cy="558800"/>
          </a:xfrm>
          <a:prstGeom prst="round2SameRect">
            <a:avLst>
              <a:gd name="adj1" fmla="val 16484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>
            <a:off x="8382000" y="2476500"/>
            <a:ext cx="3276600" cy="4267200"/>
          </a:xfrm>
          <a:prstGeom prst="round2SameRect">
            <a:avLst>
              <a:gd name="adj1" fmla="val 1774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21700" y="2082800"/>
            <a:ext cx="29845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治理价值体现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21700" y="2578100"/>
            <a:ext cx="28575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不只是“看日志”，而是主动发现异常和性能瓶颈
不只是“报问题”，而是提取可反哺日志规范建设的改进线索
不只是“解决一次”，而是沉淀为可持续复用的治理能力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9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成果展示与前景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381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1500" y="146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1079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现阶段成果展示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571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项目已形成从日志获取、分析处理到 </a:t>
            </a:r>
            <a:r>
              <a:rPr lang="en-US" altLang="zh-CN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报告输出的完整链路，
能够稳定支撑异常分析、慢接口识别和链路回溯，现阶段已可投入使用。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6350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40500" y="146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7048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6540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通过主动巡检与结构化分析，帮助团队更早发现风险、更快识别瓶颈，
并将分析结果沉淀为可复盘、可复用的治理材料，降低对个人经验的依赖。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381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71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1079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571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适用于日常巡检、异常复盘、性能分析、专项汇报和跨环境问题定位等场景，
既能服务真实问题治理，也能支撑成果展示与经验沉淀。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6350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5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7048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推广前景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6540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该能力具备较强复用价值，可逐步推广到更多服务、更多医院环境和更多巡检场景，
形成统一的日志巡检与治理能力底座。</a:t>
            </a:r>
            <a:endParaRPr lang="en-US" sz="1100"/>
          </a:p>
        </p:txBody>
      </p:sp>
      <p:sp>
        <p:nvSpPr>
          <p:cNvPr id="23" name="AutoShape 6"/>
          <p:cNvSpPr/>
          <p:nvPr/>
        </p:nvSpPr>
        <p:spPr>
          <a:xfrm>
            <a:off x="40513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现阶段已经具备实际使用价值，并能够持续支撑后续优化与推广。</a:t>
            </a:r>
            <a:endParaRPr lang="en-US" sz="1800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2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41300"/>
            <a:ext cx="106045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68300"/>
            <a:ext cx="107950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围绕阶段成果、治理价值与闭环方向进行总结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90948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86198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396932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492182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3918523" y="2425700"/>
            <a:ext cx="2298700" cy="2705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形成可投入使用的日志巡检能力
沉淀跨环境分析与报告经验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1054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2006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1028700" y="2425700"/>
            <a:ext cx="2311400" cy="201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实现从被动排障到主动巡检的能力转变
让日志分析开始服务于系统治理与质量提升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6896783" y="2425700"/>
            <a:ext cx="2489200" cy="194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强化问题发现后的优化闭环
推动能力在更多场景持续复用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15300" y="0"/>
            <a:ext cx="4076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阶段亮点</a:t>
            </a:r>
            <a:endParaRPr lang="en-US" sz="2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已形成日志获取、分析处理、报告输出的完整链路。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已支持异常分析、慢接口识别、代表 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展示和完整链路回溯。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已在真实环境中验证可用，能够为巡检和治理提供稳定支撑。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</a:t>
            </a:r>
            <a:endParaRPr lang="en-US" sz="26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已形成可直接输出的分析报告，结果不再停留在原始日志层面。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已能够从异常识别进一步延伸到日志质量观察与问题聚类分析。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已把巡检结果沉淀为可复盘、可展示、可持续优化的治理材料。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DAC7280-4E9A-034E-0266-AA811465ED7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159000"/>
            <a:ext cx="4826000" cy="3429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FF56297-CCCF-52AF-32D0-4C1E835FE7D1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2159000"/>
            <a:ext cx="482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围绕分析结果继续反哺系统优化和日志规范建设。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逐步形成“发现问题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验证效果”的闭环机制。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推动能力向更多服务、更多环境和更多治理场景扩展。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1500" y="40259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24003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/ </a:t>
            </a:r>
            <a:r>
              <a:rPr lang="zh-CN" alt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1405</Words>
  <Application>Microsoft Office PowerPoint</Application>
  <PresentationFormat>宽屏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5_默认主题</vt:lpstr>
      <vt:lpstr>6_默认主题</vt:lpstr>
      <vt:lpstr>7_默认主题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pc</cp:lastModifiedBy>
  <cp:revision>7</cp:revision>
  <dcterms:created xsi:type="dcterms:W3CDTF">2026-03-17T08:53:00Z</dcterms:created>
  <dcterms:modified xsi:type="dcterms:W3CDTF">2026-03-20T12:30:06Z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139F70FDC2A34D38AEE1C6529F4DDE46_13</vt:lpwstr>
  </property>
</Properties>
</file>