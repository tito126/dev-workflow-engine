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62" r:id="rId3"/>
    <p:sldMasterId id="2147483664" r:id="rId4"/>
    <p:sldMasterId id="2147483666" r:id="rId5"/>
    <p:sldMasterId id="2147483668" r:id="rId6"/>
  </p:sldMasterIdLst>
  <p:notesMasterIdLst>
    <p:notesMasterId r:id="rId19"/>
  </p:notesMasterIdLst>
  <p:sldIdLst>
    <p:sldId id="305" r:id="rId7"/>
    <p:sldId id="323" r:id="rId8"/>
    <p:sldId id="306" r:id="rId9"/>
    <p:sldId id="307" r:id="rId10"/>
    <p:sldId id="308" r:id="rId11"/>
    <p:sldId id="309" r:id="rId12"/>
    <p:sldId id="310" r:id="rId13"/>
    <p:sldId id="311" r:id="rId14"/>
    <p:sldId id="320" r:id="rId15"/>
    <p:sldId id="321" r:id="rId16"/>
    <p:sldId id="322" r:id="rId17"/>
    <p:sldId id="312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94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94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大家好，我是第别，今天由我汇报我们团队的项目《日志猎人》。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先用一句话概括这个项目：我们不是在做一个单纯的查日志工具，而是希望把日志从事后排障材料，逐步变成主动发现问题、支撑系统持续治理的抓手。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这次答辩我会用 15 分钟左右，重点讲清三件事：为什么要做、现在做到了什么、后续准备把它往什么方向继续推进。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先介绍一下团队情况。
我本人，也就是姚云，主要负责整个项目的统筹、方案设计、能力实现、联调验证以及本次答辩材料整理。
徐晓飞、李荣军、郭兴尚、黄钢几位老师，更多从业务指导、方案评审、场景梳理、落地推进和应用优化等方面给了持续支持。
另外，运维部也提供了关键协同支持，主要包括连接能力和日志文件下载能力，这为项目联调和落地验证提供了必要条件。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这一页只做路线预告，不重复第一页的项目定位。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下来我会按四部分展开：第一部分讲背景与目标，也就是为什么现在需要做这件事；第二部分讲技术思路和能力边界，但重点不是炫技术，而是说明这套能力如何服务持续优化；第三部分讲成果展示与应用价值；第四部分讲总结、未来规划以及我们希望形成的治理闭环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这一页先把项目背景和目标讲稳。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判断有两个：第一，系统运行中的很多问题发现仍偏事后响应，常常是用户反馈、接口报错或者现场排查时才介入；第二，日志虽然很多，但多数时候还停留在可查看层面，没有稳定转化为能持续使用的改进抓手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所以我们做这个项目，不只是为了把日志拉出来看，而是希望建立一套可复用的巡检能力，把问题发现、问题分析、优化建议和后续验证串起来，服务后续的健壮性提升、性能优化和日志质量改进。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这一页不强调炫技，强调思路。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我们把事情拆成四块：先稳定获取日志，再做结构化分析，再输出可复盘的结果，最后把结果继续反哺回系统优化。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这里想表达的是，技术路径本身不是重点，重点是让日志真正被用起来，并且能持续产生改进价值。无论是 K8s 还是传统服务器，最终都要落到同一个目标：让日志不只用于看问题，还用于推动问题改进。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这一页在 P5 的基础上再往前走一步。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P5 已经讲了这件事的主线是持续优化，这一页补的是能力边界和适度的技术亮点。第一，系统已经支持自然语言发起巡检需求，降低使用门槛；第二，在传统服务器场景下，能力可以扩展到 GC 日志分析，边界可以从业务异常延展到 JVM 运行状态诊断。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所以这一页不是单纯展示技术路径，而是说明这套能力在持续优化之外，正在逐步具备更完整的智能分析潜力。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这一页重点讲我理解的验证闭环。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我们希望后续闭环不只是发现问题、提建议、再验证，而是更进一步做到：发现问题之后，能够基于报告结果给出可执行的修复方向，甚至由 AI 辅助生成修复方案或整改建议，然后再回到日志和结果层面做验证。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如果这个闭环跑通，日志巡检就不只是分析工具，而会逐渐成为连接发现、分析、修复和验证的一套工作机制。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页主要收三点：第一，已经形成了一套可落地的日志巡检能力；第二，项目的价值不只在于当前排障，而在于把工作方式从被动排查推向持续优化；第三，后续会继续补齐建议落地后的验证闭环，让项目更完整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这一页展示的是报告首页。重点不是界面，而是它能让使用者快速建立对本次巡检结果的整体判断：时间范围是什么、日志量大概多少、数据质量怎么样、哪些问题优先级更高。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这也是后续做异常分析和优化判断的入口。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这一页我建议重点讲两张图。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第一张是详细异常分析，它的价值在于不仅告诉我们异常类型，还给出调用方、线程、代表 trace 和完整链路线索，能帮助我们继续追到问题发生在哪一段。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第二张是慢接口 Trace 详情，它把时间间隔分析和代表 trace 放在一起，更容易识别性能瓶颈、调用阻塞和潜在优化点。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这两张图合在一起，能更好说明报告结果已经可以直接成为后续定位和优化的输入。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未来规划重点有三块：一是继续增强健壮性、性能和日志质量分析能力；二是把日志反哺建议真正和整改动作连起来，建立验证闭环；三是在更多环境里复制落地，并拓展包括 GC 日志在内的更多分析场景。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我的汇报就到这里。
感谢各位老师的聆听，下面进入提问环节。大家如果对项目背景、技术方案、落地方式，或者后续规划有兴趣，我都可以继续展开。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notesSlide" Target="../notesSlides/notesSlide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image" Target="../media/image4.png"/><Relationship Id="rId2" Type="http://schemas.openxmlformats.org/officeDocument/2006/relationships/tags" Target="../tags/tag13.xml"/><Relationship Id="rId16" Type="http://schemas.openxmlformats.org/officeDocument/2006/relationships/image" Target="../media/image3.jpe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5" Type="http://schemas.openxmlformats.org/officeDocument/2006/relationships/tags" Target="../tags/tag16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notesSlide" Target="../notesSlides/notesSlide7.xml"/><Relationship Id="rId26" Type="http://schemas.openxmlformats.org/officeDocument/2006/relationships/image" Target="../media/image18.svg"/><Relationship Id="rId3" Type="http://schemas.openxmlformats.org/officeDocument/2006/relationships/tags" Target="../tags/tag27.xml"/><Relationship Id="rId21" Type="http://schemas.openxmlformats.org/officeDocument/2006/relationships/image" Target="../media/image13.png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slideLayout" Target="../slideLayouts/slideLayout12.xml"/><Relationship Id="rId25" Type="http://schemas.openxmlformats.org/officeDocument/2006/relationships/image" Target="../media/image17.png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image" Target="../media/image4.png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image" Target="../media/image16.svg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image" Target="../media/image15.png"/><Relationship Id="rId28" Type="http://schemas.openxmlformats.org/officeDocument/2006/relationships/image" Target="../media/image20.svg"/><Relationship Id="rId10" Type="http://schemas.openxmlformats.org/officeDocument/2006/relationships/tags" Target="../tags/tag34.xml"/><Relationship Id="rId19" Type="http://schemas.openxmlformats.org/officeDocument/2006/relationships/image" Target="../media/image3.jpeg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image" Target="../media/image14.svg"/><Relationship Id="rId27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image" Target="../media/image3.jpe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45.xml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44.xml"/><Relationship Id="rId9" Type="http://schemas.openxmlformats.org/officeDocument/2006/relationships/tags" Target="../tags/tag4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" y="609600"/>
            <a:ext cx="13335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49300" y="2159000"/>
            <a:ext cx="9512300" cy="191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</a:t>
            </a:r>
            <a:r>
              <a:rPr lang="zh-CN" altLang="en-US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智能运维</a:t>
            </a:r>
            <a:r>
              <a:rPr lang="en-US" altLang="zh-CN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
AI</a:t>
            </a:r>
            <a:r>
              <a:rPr lang="zh-CN" altLang="en-US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技术大赛汇报演示</a:t>
            </a:r>
            <a:endParaRPr lang="en-US" sz="2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00100" y="4559300"/>
            <a:ext cx="54356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队伍名称：日志猎人
汇报人：第别
日期：</a:t>
            </a:r>
            <a:r>
              <a:rPr lang="en-US" altLang="zh-CN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</a:t>
            </a: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</a:t>
            </a:r>
            <a:r>
              <a:rPr lang="en-US" altLang="zh-CN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32715" y="143510"/>
            <a:ext cx="4000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2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团队介绍</a:t>
            </a:r>
          </a:p>
        </p:txBody>
      </p:sp>
      <p:sp>
        <p:nvSpPr>
          <p:cNvPr id="22" name="AutoShape 21"/>
          <p:cNvSpPr/>
          <p:nvPr/>
        </p:nvSpPr>
        <p:spPr>
          <a:xfrm>
            <a:off x="202565" y="838200"/>
            <a:ext cx="11582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核心成员
姚云（队长）：负责项目统筹、方向把控、核心方案设计、能力实现、联调验证与答辩材料整理
徐晓飞：负责业务指导、方案评审与关键路径支持
李荣军：负责业务把关、场景梳理与推进支持
郭兴尚：负责业务协同、落地建议与推进支持
黄钢：负责业务协同、应用优化与推进支持
协同支持
运维部：提供连接能力，以及日志文件下载能力支持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4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393700"/>
            <a:ext cx="78486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8800" b="1" i="0" u="none" strike="noStrike">
                <a:solidFill>
                  <a:srgbClr val="FEFFFF">
                    <a:alpha val="8235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汇报议程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206500"/>
            <a:ext cx="109220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汇报议程 </a:t>
            </a: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AGENDA 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0414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9939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36576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46101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2611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64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72136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88646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FE5D83">
                  <a:alpha val="47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98171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1003300" y="2425700"/>
            <a:ext cx="2590800" cy="4991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
为什么要做“日志猎人”，它要解决的核心问题是什么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632200" y="2425700"/>
            <a:ext cx="2463800" cy="467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
这套日志巡检与分析能力是怎么搭起来的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0"/>
            </p:custDataLst>
          </p:nvPr>
        </p:nvSpPr>
        <p:spPr>
          <a:xfrm>
            <a:off x="6248400" y="2425700"/>
            <a:ext cx="2489200" cy="359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成果展示与应用价值
现在已经做成了什么，能为实际工作带来什么价值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1"/>
            </p:custDataLst>
          </p:nvPr>
        </p:nvSpPr>
        <p:spPr>
          <a:xfrm>
            <a:off x="8890000" y="2425700"/>
            <a:ext cx="2374900" cy="391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
这一阶段的收获是什么，后续如何走向治理闭环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16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17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38100"/>
            <a:ext cx="4000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altLang="zh-CN" sz="3200" b="0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项目背景与目标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91610" y="254000"/>
            <a:ext cx="996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zh-CN" altLang="en-US" sz="20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从事后响应，走向更主动的日志巡检</a:t>
            </a:r>
            <a:endParaRPr lang="en-US" sz="1100"/>
          </a:p>
        </p:txBody>
      </p:sp>
      <p:sp>
        <p:nvSpPr>
          <p:cNvPr id="7" name="Freeform 7"/>
          <p:cNvSpPr/>
          <p:nvPr>
            <p:custDataLst>
              <p:tags ns2:id="rId1"/>
            </p:custDataLst>
          </p:nvPr>
        </p:nvSpPr>
        <p:spPr>
          <a:xfrm>
            <a:off x="283210" y="3454400"/>
            <a:ext cx="4752340" cy="1264285"/>
          </a:xfrm>
          <a:custGeom>
            <a:avLst/>
            <a:gdLst/>
            <a:ahLst/>
            <a:cxnLst/>
            <a:rect l="l" t="t" r="r" b="b"/>
            <a:pathLst>
              <a:path w="4752340" h="1264285">
                <a:moveTo>
                  <a:pt x="0" y="0"/>
                </a:moveTo>
                <a:lnTo>
                  <a:pt x="4551338" y="0"/>
                </a:lnTo>
                <a:cubicBezTo>
                  <a:pt x="4608031" y="213158"/>
                  <a:pt x="4695647" y="426190"/>
                  <a:pt x="4752340" y="639348"/>
                </a:cubicBezTo>
                <a:cubicBezTo>
                  <a:pt x="4695647" y="847703"/>
                  <a:pt x="4608031" y="1055931"/>
                  <a:pt x="4551338" y="1264285"/>
                </a:cubicBezTo>
                <a:lnTo>
                  <a:pt x="0" y="1264285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1000">
                <a:srgbClr val="02297F">
                  <a:alpha val="0"/>
                </a:srgbClr>
              </a:gs>
              <a:gs pos="100000">
                <a:srgbClr val="0654FC">
                  <a:alpha val="45000"/>
                </a:srgbClr>
              </a:gs>
            </a:gsLst>
            <a:lin ang="0"/>
          </a:gradFill>
          <a:ln w="12700" cap="flat" cmpd="sng">
            <a:gradFill rotWithShape="0">
              <a:gsLst>
                <a:gs pos="0">
                  <a:srgbClr val="0654FC">
                    <a:alpha val="0"/>
                  </a:srgbClr>
                </a:gs>
                <a:gs pos="59000">
                  <a:srgbClr val="0654FC">
                    <a:alpha val="100000"/>
                  </a:srgbClr>
                </a:gs>
                <a:gs pos="98000">
                  <a:srgbClr val="0654FC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ns2:id="rId2"/>
            </p:custDataLst>
          </p:nvPr>
        </p:nvSpPr>
        <p:spPr>
          <a:xfrm>
            <a:off x="979805" y="1873885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0654FC">
                  <a:alpha val="36000"/>
                </a:srgbClr>
              </a:gs>
              <a:gs pos="100000">
                <a:srgbClr val="0654F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>
            <p:custDataLst>
              <p:tags ns2:id="rId3"/>
            </p:custDataLst>
          </p:nvPr>
        </p:nvSpPr>
        <p:spPr>
          <a:xfrm>
            <a:off x="979805" y="1950085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痛点背景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ns2:id="rId4"/>
            </p:custDataLst>
          </p:nvPr>
        </p:nvSpPr>
        <p:spPr>
          <a:xfrm>
            <a:off x="1056005" y="2267585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6A98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系统运行中的很多问题发现仍偏事后响应，往往要到用户反馈、接口报错或现场排查时才被动介入。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ns2:id="rId5"/>
            </p:custDataLst>
          </p:nvPr>
        </p:nvSpPr>
        <p:spPr>
          <a:xfrm>
            <a:off x="5589270" y="187325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FF833B">
                  <a:alpha val="43000"/>
                </a:srgbClr>
              </a:gs>
              <a:gs pos="100000">
                <a:srgbClr val="FF833B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ns2:id="rId6"/>
            </p:custDataLst>
          </p:nvPr>
        </p:nvSpPr>
        <p:spPr>
          <a:xfrm>
            <a:off x="5589270" y="193675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项目判断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ns2:id="rId7"/>
            </p:custDataLst>
          </p:nvPr>
        </p:nvSpPr>
        <p:spPr>
          <a:xfrm>
            <a:off x="5665470" y="225425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FFE6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日志虽然很多，但多数时候还停留在“可查看”层面，没有稳定转化为异常定位、性能优化和系统改进的抓手。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ns2:id="rId8"/>
            </p:custDataLst>
          </p:nvPr>
        </p:nvSpPr>
        <p:spPr>
          <a:xfrm>
            <a:off x="2527300" y="518160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0654FC">
                  <a:alpha val="36000"/>
                </a:srgbClr>
              </a:gs>
              <a:gs pos="100000">
                <a:srgbClr val="0654F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>
            <p:custDataLst>
              <p:tags ns2:id="rId9"/>
            </p:custDataLst>
          </p:nvPr>
        </p:nvSpPr>
        <p:spPr>
          <a:xfrm>
            <a:off x="2527300" y="525780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ns2:id="rId10"/>
            </p:custDataLst>
          </p:nvPr>
        </p:nvSpPr>
        <p:spPr>
          <a:xfrm>
            <a:off x="2603500" y="55753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6A98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建立一套可复用的日志巡检能力，把问题发现、问题分析、优化建议和后续验证串成闭环。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ns2:id="rId11"/>
            </p:custDataLst>
          </p:nvPr>
        </p:nvSpPr>
        <p:spPr>
          <a:xfrm>
            <a:off x="7653020" y="518160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FF833B">
                  <a:alpha val="43000"/>
                </a:srgbClr>
              </a:gs>
              <a:gs pos="100000">
                <a:srgbClr val="FF833B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>
            <p:custDataLst>
              <p:tags ns2:id="rId12"/>
            </p:custDataLst>
          </p:nvPr>
        </p:nvSpPr>
        <p:spPr>
          <a:xfrm>
            <a:off x="7653020" y="525780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价值导向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ns2:id="rId13"/>
            </p:custDataLst>
          </p:nvPr>
        </p:nvSpPr>
        <p:spPr>
          <a:xfrm>
            <a:off x="7729220" y="55753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FFE6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既支撑当前排障，也服务后续健壮性提升、性能优化、日志质量改进和经验沉淀。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 rot="5400000">
            <a:off x="7194550" y="520700"/>
            <a:ext cx="2042160" cy="7206615"/>
          </a:xfrm>
          <a:custGeom>
            <a:avLst/>
            <a:gdLst/>
            <a:ahLst/>
            <a:cxnLst/>
            <a:rect l="l" t="t" r="r" b="b"/>
            <a:pathLst>
              <a:path w="2042160" h="7206615">
                <a:moveTo>
                  <a:pt x="0" y="1486306"/>
                </a:moveTo>
                <a:lnTo>
                  <a:pt x="1021080" y="0"/>
                </a:lnTo>
                <a:lnTo>
                  <a:pt x="2042160" y="1486306"/>
                </a:lnTo>
                <a:lnTo>
                  <a:pt x="1610357" y="1486306"/>
                </a:lnTo>
                <a:lnTo>
                  <a:pt x="1610357" y="7206615"/>
                </a:lnTo>
                <a:lnTo>
                  <a:pt x="978306" y="6770607"/>
                </a:lnTo>
                <a:lnTo>
                  <a:pt x="346254" y="7206615"/>
                </a:lnTo>
                <a:lnTo>
                  <a:pt x="346254" y="1486306"/>
                </a:lnTo>
                <a:close/>
              </a:path>
            </a:pathLst>
          </a:custGeom>
          <a:gradFill rotWithShape="0">
            <a:gsLst>
              <a:gs pos="0">
                <a:srgbClr val="FF833B">
                  <a:alpha val="69000"/>
                </a:srgbClr>
              </a:gs>
              <a:gs pos="98000">
                <a:srgbClr val="EC5700">
                  <a:alpha val="14000"/>
                </a:srgbClr>
              </a:gs>
            </a:gsLst>
            <a:lin ang="5400000"/>
          </a:gradFill>
          <a:ln w="12700" cap="flat" cmpd="sng">
            <a:gradFill rotWithShape="0">
              <a:gsLst>
                <a:gs pos="0">
                  <a:srgbClr val="EC5700">
                    <a:alpha val="0"/>
                  </a:srgbClr>
                </a:gs>
                <a:gs pos="98000">
                  <a:srgbClr val="FF833B">
                    <a:alpha val="100000"/>
                  </a:srgbClr>
                </a:gs>
              </a:gsLst>
              <a:lin ang="1620000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292100" y="838200"/>
            <a:ext cx="11582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这个项目关注的不是单次排查效率，而是把日志从被动排查材料，逐步变成支撑持续优化和验证闭环的工程能力。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openxmlformats.org/officeDocument/2006/relationships" xmlns:ns3="http://schemas.microsoft.com/office/drawing/2010/main" xmlns:ns4="http://schemas.microsoft.com/office/drawing/2016/SVG/main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083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技术思路与实现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698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先把日志用起来，再把日志用得更好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4986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76300" y="20066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77900" y="20955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ns2:embed="rId5">
            <a:extLst>
              <a:ext uri="{28A0092B-C50C-407E-A947-70E740481C1C}">
                <ns3:useLocalDpi val="0"/>
              </a:ext>
              <a:ext uri="{96DAC541-7B7A-43D3-8B79-37D633B846F1}">
                <ns4:svgBlip ns2:embed="rId6"/>
              </a:ext>
            </a:extLst>
          </a:blip>
          <a:stretch>
            <a:fillRect/>
          </a:stretch>
        </p:blipFill>
        <p:spPr>
          <a:xfrm>
            <a:off x="1130300" y="22479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816100" y="17780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稳定获取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90700" y="21844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兼容 K8s 和传统服务器两类环境，先保证不同现场都能稳定拿到可分析的日志。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159500" y="14986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00800" y="20066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89700" y="20955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ns2:embed="rId7">
            <a:extLst>
              <a:ext uri="{28A0092B-C50C-407E-A947-70E740481C1C}">
                <ns3:useLocalDpi val="0"/>
              </a:ext>
              <a:ext uri="{96DAC541-7B7A-43D3-8B79-37D633B846F1}">
                <ns4:svgBlip ns2:embed="rId8"/>
              </a:ext>
            </a:extLst>
          </a:blip>
          <a:stretch>
            <a:fillRect/>
          </a:stretch>
        </p:blipFill>
        <p:spPr>
          <a:xfrm>
            <a:off x="6642100" y="22479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27900" y="17780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结构化分析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27900" y="22098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围绕异常、慢接口、代表 trace 和日志质量问题做分析，让日志从“原始文本”变成“问题画像”。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60400" y="38608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89000" y="43688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90600" y="44577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ns2:embed="rId9">
            <a:extLst>
              <a:ext uri="{28A0092B-C50C-407E-A947-70E740481C1C}">
                <ns3:useLocalDpi val="0"/>
              </a:ext>
              <a:ext uri="{96DAC541-7B7A-43D3-8B79-37D633B846F1}">
                <ns4:svgBlip ns2:embed="rId10"/>
              </a:ext>
            </a:extLst>
          </a:blip>
          <a:stretch>
            <a:fillRect/>
          </a:stretch>
        </p:blipFill>
        <p:spPr>
          <a:xfrm>
            <a:off x="1143000" y="46101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828800" y="41275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结果输出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828800" y="45593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将分析结果沉淀为 HTML 报告，让问题分布、定位线索和反哺建议更便于查看、复盘和沟通。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172200" y="38608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13500" y="43688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502400" y="44577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ns2:embed="rId11">
            <a:extLst>
              <a:ext uri="{28A0092B-C50C-407E-A947-70E740481C1C}">
                <ns3:useLocalDpi val="0"/>
              </a:ext>
              <a:ext uri="{96DAC541-7B7A-43D3-8B79-37D633B846F1}">
                <ns4:svgBlip ns2:embed="rId12"/>
              </a:ext>
            </a:extLst>
          </a:blip>
          <a:stretch>
            <a:fillRect/>
          </a:stretch>
        </p:blipFill>
        <p:spPr>
          <a:xfrm>
            <a:off x="6654800" y="46101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340600" y="41402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持续优化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340600" y="46990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项目的重点不只是展示一条技术路径，而是把巡检结果反向用于健壮性、性能和日志规范的持续改进。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6172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技术思路与实现 - 能力深化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9700" y="889000"/>
            <a:ext cx="116713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2000" b="0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在持续优化之外，逐步补齐更完整的智能分析能力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943100"/>
            <a:ext cx="3378200" cy="571500"/>
          </a:xfrm>
          <a:prstGeom prst="round2SameRect">
            <a:avLst>
              <a:gd name="adj1" fmla="val 16667"/>
              <a:gd name="adj2" fmla="val 0"/>
            </a:avLst>
          </a:prstGeom>
          <a:gradFill rotWithShape="0">
            <a:gsLst>
              <a:gs pos="0">
                <a:srgbClr val="5351F5">
                  <a:alpha val="100000"/>
                </a:srgbClr>
              </a:gs>
              <a:gs pos="100000">
                <a:srgbClr val="0654FC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0654FC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 rot="10800000">
            <a:off x="660400" y="2501900"/>
            <a:ext cx="3365500" cy="4267200"/>
          </a:xfrm>
          <a:prstGeom prst="round2SameRect">
            <a:avLst>
              <a:gd name="adj1" fmla="val 1775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77900" y="2095500"/>
            <a:ext cx="27813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持续优化主线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1200" y="2565400"/>
            <a:ext cx="33020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围绕健壮性、性能提升、日志质量分析增强和日志反哺建议，持续把巡检结果转回系统优化。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699000" y="1943100"/>
            <a:ext cx="3162300" cy="571500"/>
          </a:xfrm>
          <a:prstGeom prst="round2SameRect">
            <a:avLst>
              <a:gd name="adj1" fmla="val 16667"/>
              <a:gd name="adj2" fmla="val 0"/>
            </a:avLst>
          </a:prstGeom>
          <a:gradFill rotWithShape="0">
            <a:gsLst>
              <a:gs pos="0">
                <a:srgbClr val="875DE6">
                  <a:alpha val="100000"/>
                </a:srgbClr>
              </a:gs>
              <a:gs pos="100000">
                <a:srgbClr val="5351F5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875DE6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 rot="10800000">
            <a:off x="4699000" y="2489200"/>
            <a:ext cx="3162300" cy="4267200"/>
          </a:xfrm>
          <a:prstGeom prst="round2SameRect">
            <a:avLst>
              <a:gd name="adj1" fmla="val 1775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978400" y="2095500"/>
            <a:ext cx="26289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能力补强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86300" y="2654300"/>
            <a:ext cx="30734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支持自然语言发起巡检需求，并可在传统服务器场景扩展 GC 日志分析，能力边界可从业务异常延展到 JVM 运行状态诊断。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82000" y="1917700"/>
            <a:ext cx="3289300" cy="558800"/>
          </a:xfrm>
          <a:prstGeom prst="round2SameRect">
            <a:avLst>
              <a:gd name="adj1" fmla="val 16484"/>
              <a:gd name="adj2" fmla="val 0"/>
            </a:avLst>
          </a:prstGeom>
          <a:gradFill rotWithShape="0">
            <a:gsLst>
              <a:gs pos="0">
                <a:srgbClr val="5351F5">
                  <a:alpha val="100000"/>
                </a:srgbClr>
              </a:gs>
              <a:gs pos="100000">
                <a:srgbClr val="0654FC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0654FC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 rot="10800000">
            <a:off x="8382000" y="2476500"/>
            <a:ext cx="3276600" cy="4267200"/>
          </a:xfrm>
          <a:prstGeom prst="round2SameRect">
            <a:avLst>
              <a:gd name="adj1" fmla="val 1774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521700" y="2082800"/>
            <a:ext cx="29845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适度技术亮点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521700" y="2578100"/>
            <a:ext cx="28575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通过代表 trace、完整链路和结构化聚合，既保证结果能看懂，也为后续智能分析和自动处理预留空间。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openxmlformats.org/officeDocument/2006/relationships" xmlns:ns3="http://schemas.microsoft.com/office/drawing/2010/main" xmlns:ns4="http://schemas.microsoft.com/office/drawing/2016/SVG/main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19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20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验证闭环与应用价值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>
            <p:custDataLst>
              <p:tags ns2:id="rId1"/>
            </p:custDataLst>
          </p:nvPr>
        </p:nvSpPr>
        <p:spPr>
          <a:xfrm>
            <a:off x="381000" y="12700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ns2:id="rId2"/>
            </p:custDataLst>
          </p:nvPr>
        </p:nvPicPr>
        <p:blipFill>
          <a:blip ns2:embed="rId21">
            <a:extLst>
              <a:ext uri="{28A0092B-C50C-407E-A947-70E740481C1C}">
                <ns3:useLocalDpi val="0"/>
              </a:ext>
              <a:ext uri="{96DAC541-7B7A-43D3-8B79-37D633B846F1}">
                <ns4:svgBlip ns2:embed="rId22"/>
              </a:ext>
            </a:extLst>
          </a:blip>
          <a:stretch>
            <a:fillRect/>
          </a:stretch>
        </p:blipFill>
        <p:spPr>
          <a:xfrm>
            <a:off x="571500" y="1460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ns2:id="rId3"/>
            </p:custDataLst>
          </p:nvPr>
        </p:nvSpPr>
        <p:spPr>
          <a:xfrm>
            <a:off x="1079500" y="142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阶段成果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ns2:id="rId4"/>
            </p:custDataLst>
          </p:nvPr>
        </p:nvSpPr>
        <p:spPr>
          <a:xfrm>
            <a:off x="571500" y="1905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已形成日志获取、结构化分析、HTML 报告和典型案例沉淀等阶段能力，具备真实场景使用基础。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ns2:id="rId5"/>
            </p:custDataLst>
          </p:nvPr>
        </p:nvSpPr>
        <p:spPr>
          <a:xfrm>
            <a:off x="6350000" y="12700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ns2:id="rId6"/>
            </p:custDataLst>
          </p:nvPr>
        </p:nvPicPr>
        <p:blipFill>
          <a:blip ns2:embed="rId23">
            <a:extLst>
              <a:ext uri="{28A0092B-C50C-407E-A947-70E740481C1C}">
                <ns3:useLocalDpi val="0"/>
              </a:ext>
              <a:ext uri="{96DAC541-7B7A-43D3-8B79-37D633B846F1}">
                <ns4:svgBlip ns2:embed="rId24"/>
              </a:ext>
            </a:extLst>
          </a:blip>
          <a:stretch>
            <a:fillRect/>
          </a:stretch>
        </p:blipFill>
        <p:spPr>
          <a:xfrm>
            <a:off x="6540500" y="1460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ns2:id="rId7"/>
            </p:custDataLst>
          </p:nvPr>
        </p:nvSpPr>
        <p:spPr>
          <a:xfrm>
            <a:off x="7048500" y="142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验证闭环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ns2:id="rId8"/>
            </p:custDataLst>
          </p:nvPr>
        </p:nvSpPr>
        <p:spPr>
          <a:xfrm>
            <a:off x="6540500" y="1905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后续希望从“发现问题 -&gt; 提出建议 -&gt; AI 辅助修复 -&gt; 再次验证”逐步建立闭环，让巡检结果真正回到系统本身。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ns2:id="rId9"/>
            </p:custDataLst>
          </p:nvPr>
        </p:nvSpPr>
        <p:spPr>
          <a:xfrm>
            <a:off x="381000" y="37465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ns2:id="rId10"/>
            </p:custDataLst>
          </p:nvPr>
        </p:nvPicPr>
        <p:blipFill>
          <a:blip ns2:embed="rId25">
            <a:extLst>
              <a:ext uri="{28A0092B-C50C-407E-A947-70E740481C1C}">
                <ns3:useLocalDpi val="0"/>
              </a:ext>
              <a:ext uri="{96DAC541-7B7A-43D3-8B79-37D633B846F1}">
                <ns4:svgBlip ns2:embed="rId26"/>
              </a:ext>
            </a:extLst>
          </a:blip>
          <a:stretch>
            <a:fillRect/>
          </a:stretch>
        </p:blipFill>
        <p:spPr>
          <a:xfrm>
            <a:off x="571500" y="3937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ns2:id="rId11"/>
            </p:custDataLst>
          </p:nvPr>
        </p:nvSpPr>
        <p:spPr>
          <a:xfrm>
            <a:off x="1079500" y="3898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应用价值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ns2:id="rId12"/>
            </p:custDataLst>
          </p:nvPr>
        </p:nvSpPr>
        <p:spPr>
          <a:xfrm>
            <a:off x="571500" y="4381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既能服务日常巡检、异常复盘和性能排查，也能支撑汇报展示、经验沉淀和后续推广复用。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ns2:id="rId13"/>
            </p:custDataLst>
          </p:nvPr>
        </p:nvSpPr>
        <p:spPr>
          <a:xfrm>
            <a:off x="6350000" y="37465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ns2:id="rId14"/>
            </p:custDataLst>
          </p:nvPr>
        </p:nvPicPr>
        <p:blipFill>
          <a:blip ns2:embed="rId27">
            <a:extLst>
              <a:ext uri="{28A0092B-C50C-407E-A947-70E740481C1C}">
                <ns3:useLocalDpi val="0"/>
              </a:ext>
              <a:ext uri="{96DAC541-7B7A-43D3-8B79-37D633B846F1}">
                <ns4:svgBlip ns2:embed="rId28"/>
              </a:ext>
            </a:extLst>
          </a:blip>
          <a:stretch>
            <a:fillRect/>
          </a:stretch>
        </p:blipFill>
        <p:spPr>
          <a:xfrm>
            <a:off x="6540500" y="3937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ns2:id="rId15"/>
            </p:custDataLst>
          </p:nvPr>
        </p:nvSpPr>
        <p:spPr>
          <a:xfrm>
            <a:off x="7048500" y="3898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发展前景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ns2:id="rId16"/>
            </p:custDataLst>
          </p:nvPr>
        </p:nvSpPr>
        <p:spPr>
          <a:xfrm>
            <a:off x="6540500" y="4381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后续可继续推广到更多服务、更多医院环境和更多治理场景，逐步形成统一的日志巡检与治理能力底座。</a:t>
            </a:r>
            <a:endParaRPr lang="en-US" sz="1100"/>
          </a:p>
        </p:txBody>
      </p:sp>
      <p:sp>
        <p:nvSpPr>
          <p:cNvPr id="23" name="AutoShape 6"/>
          <p:cNvSpPr/>
          <p:nvPr/>
        </p:nvSpPr>
        <p:spPr>
          <a:xfrm>
            <a:off x="405130" y="698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从发现问题到 AI 辅助修复与验证，逐步形成闭环。</a:t>
            </a:r>
            <a:endParaRPr lang="en-US" sz="1800">
              <a:solidFill>
                <a:srgbClr val="FFFF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12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41300"/>
            <a:ext cx="106045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8800" b="1" i="0" u="none" strike="noStrike">
                <a:solidFill>
                  <a:srgbClr val="FEFFFF">
                    <a:alpha val="8235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368300"/>
            <a:ext cx="10795000" cy="175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总结与展望</a:t>
            </a:r>
            <a:endParaRPr lang="en-US" sz="2400" b="0" i="0" u="none" strike="noStrike">
              <a:solidFill>
                <a:srgbClr val="FE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  <a:defRPr/>
            </a:pP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围绕阶段成果、持续优化价值和后续验证闭环做总结</a:t>
            </a:r>
            <a:endParaRPr lang="en-US" sz="2400" b="0" i="0" u="none" strike="noStrike">
              <a:solidFill>
                <a:srgbClr val="FE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ns2:id="rId1"/>
            </p:custDataLst>
          </p:nvPr>
        </p:nvSpPr>
        <p:spPr>
          <a:xfrm>
            <a:off x="6909483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64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ns2:id="rId2"/>
            </p:custDataLst>
          </p:nvPr>
        </p:nvSpPr>
        <p:spPr>
          <a:xfrm>
            <a:off x="7861983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ns2:id="rId3"/>
            </p:custDataLst>
          </p:nvPr>
        </p:nvSpPr>
        <p:spPr>
          <a:xfrm>
            <a:off x="3969323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ns2:id="rId4"/>
            </p:custDataLst>
          </p:nvPr>
        </p:nvSpPr>
        <p:spPr>
          <a:xfrm>
            <a:off x="4921823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ns2:id="rId5"/>
            </p:custDataLst>
          </p:nvPr>
        </p:nvSpPr>
        <p:spPr>
          <a:xfrm>
            <a:off x="3918523" y="2425700"/>
            <a:ext cx="2298700" cy="2705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成果收获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形成可落地的日志巡检能力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沉淀了问题分析与报告表达方法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ns2:id="rId6"/>
            </p:custDataLst>
          </p:nvPr>
        </p:nvSpPr>
        <p:spPr>
          <a:xfrm>
            <a:off x="10541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>
            <p:custDataLst>
              <p:tags ns2:id="rId7"/>
            </p:custDataLst>
          </p:nvPr>
        </p:nvSpPr>
        <p:spPr>
          <a:xfrm>
            <a:off x="20066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ns2:id="rId8"/>
            </p:custDataLst>
          </p:nvPr>
        </p:nvSpPr>
        <p:spPr>
          <a:xfrm>
            <a:off x="1028700" y="2425700"/>
            <a:ext cx="2311400" cy="2019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阶段总结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从被动排查走向更主动的巡检思路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从单次处理走向持续优化意识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ns2:id="rId9"/>
            </p:custDataLst>
          </p:nvPr>
        </p:nvSpPr>
        <p:spPr>
          <a:xfrm>
            <a:off x="6896783" y="2425700"/>
            <a:ext cx="2489200" cy="194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增强健壮性、性能和日志质量分析能力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继续补齐建议落地后的验证闭环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115300" y="0"/>
            <a:ext cx="40767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l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ns2="http://schemas.openxmlformats.org/officeDocument/2006/relationships" xmlns:ns3="http://schemas.microsoft.com/office/drawing/2014/main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 01</a:t>
            </a:r>
            <a:endParaRPr lang="en-US" sz="26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报告首页先建立整体问题画像，通过时间范围、日志质量和影响级别分布，让使用者快速判断问题规模、数据质量和处理优先级。</a:t>
            </a:r>
          </a:p>
        </p:txBody>
      </p:sp>
      <p:pic>
        <p:nvPicPr>
          <p:cNvPr id="8" name="图片 7">
            <a:extLst>
              <a:ext uri="{FF2B5EF4-FFF2-40B4-BE49-F238E27FC236}">
                <ns3:creationId id="{459BEC07-5589-FA87-4DC7-1DD60601B548}"/>
              </a:ext>
            </a:extLst>
          </p:cNvPr>
          <p:cNvPicPr>
            <a:picLocks/>
          </p:cNvPicPr>
          <p:nvPr/>
        </p:nvPicPr>
        <p:blipFill>
          <a:blip ns2:embed="rId5"/>
          <a:stretch>
            <a:fillRect/>
          </a:stretch>
        </p:blipFill>
        <p:spPr>
          <a:xfrm>
            <a:off x="1143000" y="1905000"/>
            <a:ext cx="9652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ns2="http://schemas.openxmlformats.org/officeDocument/2006/relationships" xmlns:ns3="http://schemas.microsoft.com/office/drawing/2014/main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6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 02</a:t>
            </a:r>
            <a:endParaRPr lang="en-US" sz="26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这一页重点展示两类可落到行动层面的结果：详细异常分析帮助追到异常链路，慢接口 Trace 详情帮助识别性能瓶颈与优化方向。</a:t>
            </a:r>
          </a:p>
        </p:txBody>
      </p:sp>
      <p:pic>
        <p:nvPicPr>
          <p:cNvPr id="8" name="图片 7">
            <a:extLst>
              <a:ext uri="{FF2B5EF4-FFF2-40B4-BE49-F238E27FC236}">
                <ns3:creationId id="{2DAC7280-4E9A-034E-0266-AA811465ED7B}"/>
              </a:ext>
            </a:extLst>
          </p:cNvPr>
          <p:cNvPicPr>
            <a:picLocks/>
          </p:cNvPicPr>
          <p:nvPr/>
        </p:nvPicPr>
        <p:blipFill>
          <a:blip ns2:embed="rId5"/>
          <a:stretch>
            <a:fillRect/>
          </a:stretch>
        </p:blipFill>
        <p:spPr>
          <a:xfrm>
            <a:off x="762000" y="2159000"/>
            <a:ext cx="4826000" cy="3429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ns3:creationId id="{CFF56297-CCCF-52AF-32D0-4C1E835FE7D1}"/>
              </a:ext>
            </a:extLst>
          </p:cNvPr>
          <p:cNvPicPr>
            <a:picLocks/>
          </p:cNvPicPr>
          <p:nvPr/>
        </p:nvPicPr>
        <p:blipFill>
          <a:blip ns2:embed="rId6"/>
          <a:stretch>
            <a:fillRect/>
          </a:stretch>
        </p:blipFill>
        <p:spPr>
          <a:xfrm>
            <a:off x="6350000" y="2159000"/>
            <a:ext cx="4826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6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</a:t>
            </a: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围绕健壮性、性能提升和日志质量分析增强继续深化能力。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将日志反哺建议与问题整改结合起来，逐步建立更清晰的验证闭环。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在更多医院、更多环境和更多日志类型中复制落地，并继续拓展 GC 日志等场景。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" y="609600"/>
            <a:ext cx="13335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71500" y="4025900"/>
            <a:ext cx="1104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71500" y="2400300"/>
            <a:ext cx="1104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72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 / </a:t>
            </a:r>
            <a:r>
              <a:rPr lang="zh-CN" altLang="en-US" sz="72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2586</Words>
  <Application>Microsoft Office PowerPoint</Application>
  <PresentationFormat>宽屏</PresentationFormat>
  <Paragraphs>104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5_默认主题</vt:lpstr>
      <vt:lpstr>6_默认主题</vt:lpstr>
      <vt:lpstr>7_默认主题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pc</cp:lastModifiedBy>
  <cp:revision>9</cp:revision>
  <dcterms:created xsi:type="dcterms:W3CDTF">2026-03-17T08:53:00Z</dcterms:created>
  <dcterms:modified xsi:type="dcterms:W3CDTF">2026-03-20T12:47:23Z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139F70FDC2A34D38AEE1C6529F4DDE46_13</vt:lpwstr>
  </property>
</Properties>
</file>